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heme/theme2.xml" ContentType="application/vnd.openxmlformats-officedocument.theme+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notesSlides/notesSlide3.xml" ContentType="application/vnd.openxmlformats-officedocument.presentationml.notesSlide+xml"/>
  <Override PartName="/ppt/tags/tag8.xml" ContentType="application/vnd.openxmlformats-officedocument.presentationml.tags+xml"/>
  <Override PartName="/ppt/notesSlides/notesSlide4.xml" ContentType="application/vnd.openxmlformats-officedocument.presentationml.notesSlide+xml"/>
  <Override PartName="/ppt/tags/tag9.xml" ContentType="application/vnd.openxmlformats-officedocument.presentationml.tags+xml"/>
  <Override PartName="/ppt/notesSlides/notesSlide5.xml" ContentType="application/vnd.openxmlformats-officedocument.presentationml.notesSlide+xml"/>
  <Override PartName="/ppt/tags/tag10.xml" ContentType="application/vnd.openxmlformats-officedocument.presentationml.tags+xml"/>
  <Override PartName="/ppt/notesSlides/notesSlide6.xml" ContentType="application/vnd.openxmlformats-officedocument.presentationml.notesSlide+xml"/>
  <Override PartName="/ppt/tags/tag11.xml" ContentType="application/vnd.openxmlformats-officedocument.presentationml.tags+xml"/>
  <Override PartName="/ppt/notesSlides/notesSlide7.xml" ContentType="application/vnd.openxmlformats-officedocument.presentationml.notesSlide+xml"/>
  <Override PartName="/ppt/tags/tag12.xml" ContentType="application/vnd.openxmlformats-officedocument.presentationml.tags+xml"/>
  <Override PartName="/ppt/notesSlides/notesSlide8.xml" ContentType="application/vnd.openxmlformats-officedocument.presentationml.notesSlide+xml"/>
  <Override PartName="/ppt/tags/tag13.xml" ContentType="application/vnd.openxmlformats-officedocument.presentationml.tags+xml"/>
  <Override PartName="/ppt/notesSlides/notesSlide9.xml" ContentType="application/vnd.openxmlformats-officedocument.presentationml.notesSlide+xml"/>
  <Override PartName="/ppt/tags/tag14.xml" ContentType="application/vnd.openxmlformats-officedocument.presentationml.tags+xml"/>
  <Override PartName="/ppt/notesSlides/notesSlide10.xml" ContentType="application/vnd.openxmlformats-officedocument.presentationml.notesSlide+xml"/>
  <Override PartName="/ppt/tags/tag15.xml" ContentType="application/vnd.openxmlformats-officedocument.presentationml.tags+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7"/>
  </p:notesMasterIdLst>
  <p:sldIdLst>
    <p:sldId id="268" r:id="rId2"/>
    <p:sldId id="257" r:id="rId3"/>
    <p:sldId id="258" r:id="rId4"/>
    <p:sldId id="259" r:id="rId5"/>
    <p:sldId id="270" r:id="rId6"/>
    <p:sldId id="269" r:id="rId7"/>
    <p:sldId id="260" r:id="rId8"/>
    <p:sldId id="271" r:id="rId9"/>
    <p:sldId id="272" r:id="rId10"/>
    <p:sldId id="261" r:id="rId11"/>
    <p:sldId id="262" r:id="rId12"/>
    <p:sldId id="263" r:id="rId13"/>
    <p:sldId id="264" r:id="rId14"/>
    <p:sldId id="265" r:id="rId15"/>
    <p:sldId id="266" r:id="rId16"/>
  </p:sldIdLst>
  <p:sldSz cx="9144000" cy="5143500" type="screen16x9"/>
  <p:notesSz cx="5143500" cy="9144000"/>
  <p:custDataLst>
    <p:tags r:id="rId18"/>
  </p:custData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12" userDrawn="1">
          <p15:clr>
            <a:srgbClr val="A4A3A4"/>
          </p15:clr>
        </p15:guide>
        <p15:guide id="2" orient="horz" pos="852" userDrawn="1">
          <p15:clr>
            <a:srgbClr val="A4A3A4"/>
          </p15:clr>
        </p15:guide>
        <p15:guide id="3" pos="14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5C0"/>
    <a:srgbClr val="FDF3ED"/>
    <a:srgbClr val="CEE3F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4CBDC38-0F0C-EF0A-5169-FC033B4B9FA1}" v="4" dt="2026-02-19T06:35:51.132"/>
    <p1510:client id="{DDC0B4EE-2D5D-447B-AE11-6BA75CAE74F0}" v="57" dt="2026-02-19T11:04:26.3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4" d="100"/>
          <a:sy n="94" d="100"/>
        </p:scale>
        <p:origin x="696" y="102"/>
      </p:cViewPr>
      <p:guideLst>
        <p:guide orient="horz" pos="612"/>
        <p:guide orient="horz" pos="852"/>
        <p:guide pos="144"/>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gs" Target="tags/tag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506544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B537A-B4DE-D1CE-3512-BCBDE4AC70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8C2033-F357-E6BE-5BF1-877BC1AD1B3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A567B0F-4F1D-ECFE-050E-B551ABF85EAD}"/>
              </a:ext>
            </a:extLst>
          </p:cNvPr>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26398896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3.xml"/></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ustDataLst>
      <p:tags r:id="rId1"/>
    </p:custData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26520380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Group 8">
            <a:extLst>
              <a:ext uri="{FF2B5EF4-FFF2-40B4-BE49-F238E27FC236}">
                <a16:creationId xmlns:a16="http://schemas.microsoft.com/office/drawing/2014/main" id="{A68FA2BF-9B6A-948D-43A3-04C207F5B33C}"/>
              </a:ext>
            </a:extLst>
          </p:cNvPr>
          <p:cNvGrpSpPr/>
          <p:nvPr userDrawn="1"/>
        </p:nvGrpSpPr>
        <p:grpSpPr>
          <a:xfrm flipH="1">
            <a:off x="0" y="5036127"/>
            <a:ext cx="9144000" cy="107373"/>
            <a:chOff x="0" y="0"/>
            <a:chExt cx="4402382" cy="66464"/>
          </a:xfrm>
        </p:grpSpPr>
        <p:sp>
          <p:nvSpPr>
            <p:cNvPr id="3" name="Freeform 9">
              <a:extLst>
                <a:ext uri="{FF2B5EF4-FFF2-40B4-BE49-F238E27FC236}">
                  <a16:creationId xmlns:a16="http://schemas.microsoft.com/office/drawing/2014/main" id="{8B83B97F-BA22-827B-E1BD-8DD9E1D3E0F6}"/>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4" name="TextBox 10">
              <a:extLst>
                <a:ext uri="{FF2B5EF4-FFF2-40B4-BE49-F238E27FC236}">
                  <a16:creationId xmlns:a16="http://schemas.microsoft.com/office/drawing/2014/main" id="{FC94FAC8-E161-FF7D-84BF-C498EADA502D}"/>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grpSp>
        <p:nvGrpSpPr>
          <p:cNvPr id="5" name="Group 8">
            <a:extLst>
              <a:ext uri="{FF2B5EF4-FFF2-40B4-BE49-F238E27FC236}">
                <a16:creationId xmlns:a16="http://schemas.microsoft.com/office/drawing/2014/main" id="{1988876B-43B4-642F-AB10-8B137A34386D}"/>
              </a:ext>
            </a:extLst>
          </p:cNvPr>
          <p:cNvGrpSpPr/>
          <p:nvPr userDrawn="1"/>
        </p:nvGrpSpPr>
        <p:grpSpPr>
          <a:xfrm>
            <a:off x="0" y="0"/>
            <a:ext cx="9144000" cy="424206"/>
            <a:chOff x="0" y="0"/>
            <a:chExt cx="4402382" cy="66464"/>
          </a:xfrm>
        </p:grpSpPr>
        <p:sp>
          <p:nvSpPr>
            <p:cNvPr id="6" name="Freeform 9">
              <a:extLst>
                <a:ext uri="{FF2B5EF4-FFF2-40B4-BE49-F238E27FC236}">
                  <a16:creationId xmlns:a16="http://schemas.microsoft.com/office/drawing/2014/main" id="{613EFC18-F90F-C121-3F09-53AB8141D658}"/>
                </a:ext>
              </a:extLst>
            </p:cNvPr>
            <p:cNvSpPr/>
            <p:nvPr/>
          </p:nvSpPr>
          <p:spPr>
            <a:xfrm>
              <a:off x="0" y="0"/>
              <a:ext cx="4402382" cy="66464"/>
            </a:xfrm>
            <a:custGeom>
              <a:avLst/>
              <a:gdLst/>
              <a:ahLst/>
              <a:cxnLst/>
              <a:rect l="l" t="t" r="r" b="b"/>
              <a:pathLst>
                <a:path w="4402382" h="66464">
                  <a:moveTo>
                    <a:pt x="0" y="0"/>
                  </a:moveTo>
                  <a:lnTo>
                    <a:pt x="4402382" y="0"/>
                  </a:lnTo>
                  <a:lnTo>
                    <a:pt x="44023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a:p>
          </p:txBody>
        </p:sp>
        <p:sp>
          <p:nvSpPr>
            <p:cNvPr id="7" name="TextBox 10">
              <a:extLst>
                <a:ext uri="{FF2B5EF4-FFF2-40B4-BE49-F238E27FC236}">
                  <a16:creationId xmlns:a16="http://schemas.microsoft.com/office/drawing/2014/main" id="{D81422F7-8BE4-EC53-5307-9812E24315C1}"/>
                </a:ext>
              </a:extLst>
            </p:cNvPr>
            <p:cNvSpPr txBox="1"/>
            <p:nvPr/>
          </p:nvSpPr>
          <p:spPr>
            <a:xfrm>
              <a:off x="0" y="-38100"/>
              <a:ext cx="4402382" cy="104564"/>
            </a:xfrm>
            <a:prstGeom prst="rect">
              <a:avLst/>
            </a:prstGeom>
          </p:spPr>
          <p:txBody>
            <a:bodyPr lIns="50800" tIns="50800" rIns="50800" bIns="50800" rtlCol="0" anchor="ctr"/>
            <a:lstStyle/>
            <a:p>
              <a:pPr algn="ctr">
                <a:lnSpc>
                  <a:spcPts val="2659"/>
                </a:lnSpc>
              </a:pPr>
              <a:endParaRPr/>
            </a:p>
          </p:txBody>
        </p:sp>
      </p:grpSp>
      <p:pic>
        <p:nvPicPr>
          <p:cNvPr id="8" name="Picture 7" descr="A black and white logo&#10;&#10;AI-generated content may be incorrect.">
            <a:extLst>
              <a:ext uri="{FF2B5EF4-FFF2-40B4-BE49-F238E27FC236}">
                <a16:creationId xmlns:a16="http://schemas.microsoft.com/office/drawing/2014/main" id="{31AC86FC-94F1-13A5-98FD-3215960D2A05}"/>
              </a:ext>
            </a:extLst>
          </p:cNvPr>
          <p:cNvPicPr>
            <a:picLocks noChangeAspect="1"/>
          </p:cNvPicPr>
          <p:nvPr userDrawn="1"/>
        </p:nvPicPr>
        <p:blipFill>
          <a:blip r:embed="rId5"/>
          <a:stretch>
            <a:fillRect/>
          </a:stretch>
        </p:blipFill>
        <p:spPr>
          <a:xfrm>
            <a:off x="7820696" y="55166"/>
            <a:ext cx="965086" cy="313873"/>
          </a:xfrm>
          <a:prstGeom prst="rect">
            <a:avLst/>
          </a:prstGeom>
        </p:spPr>
      </p:pic>
    </p:spTree>
    <p:custDataLst>
      <p:tags r:id="rId4"/>
    </p:custDataLst>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notesSlide" Target="../notesSlides/notesSlide1.xml"/><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ags" Target="../tags/tag5.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sv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xml"/><Relationship Id="rId1" Type="http://schemas.openxmlformats.org/officeDocument/2006/relationships/tags" Target="../tags/tag6.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tags" Target="../tags/tag7.xml"/><Relationship Id="rId5" Type="http://schemas.openxmlformats.org/officeDocument/2006/relationships/image" Target="../media/image13.sv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tags" Target="../tags/tag8.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tags" Target="../tags/tag9.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xml"/><Relationship Id="rId1" Type="http://schemas.openxmlformats.org/officeDocument/2006/relationships/tags" Target="../tags/tag10.xml"/></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xml"/><Relationship Id="rId1" Type="http://schemas.openxmlformats.org/officeDocument/2006/relationships/tags" Target="../tags/tag1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xml"/><Relationship Id="rId1" Type="http://schemas.openxmlformats.org/officeDocument/2006/relationships/tags" Target="../tags/tag12.xml"/><Relationship Id="rId4" Type="http://schemas.openxmlformats.org/officeDocument/2006/relationships/hyperlink" Target="https://drive.google.com/drive/folders/1cLfXVnzroVGITwH7DL3bzR9n97L4IDyP" TargetMode="Externa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1.xml"/><Relationship Id="rId1" Type="http://schemas.openxmlformats.org/officeDocument/2006/relationships/tags" Target="../tags/tag13.xml"/><Relationship Id="rId4" Type="http://schemas.openxmlformats.org/officeDocument/2006/relationships/image" Target="../media/image20.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tags" Target="../tags/tag14.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xml"/><Relationship Id="rId1" Type="http://schemas.openxmlformats.org/officeDocument/2006/relationships/tags" Target="../tags/tag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E219A4-F5CF-3B84-A831-006143830DFC}"/>
            </a:ext>
          </a:extLst>
        </p:cNvPr>
        <p:cNvGrpSpPr/>
        <p:nvPr/>
      </p:nvGrpSpPr>
      <p:grpSpPr>
        <a:xfrm>
          <a:off x="0" y="0"/>
          <a:ext cx="0" cy="0"/>
          <a:chOff x="0" y="0"/>
          <a:chExt cx="0" cy="0"/>
        </a:xfrm>
      </p:grpSpPr>
      <p:sp>
        <p:nvSpPr>
          <p:cNvPr id="75" name="Rectangle: Rounded Corners 74">
            <a:extLst>
              <a:ext uri="{FF2B5EF4-FFF2-40B4-BE49-F238E27FC236}">
                <a16:creationId xmlns:a16="http://schemas.microsoft.com/office/drawing/2014/main" id="{5BBAA9FE-14A6-3635-BDE0-21E75B60255D}"/>
              </a:ext>
            </a:extLst>
          </p:cNvPr>
          <p:cNvSpPr/>
          <p:nvPr/>
        </p:nvSpPr>
        <p:spPr>
          <a:xfrm>
            <a:off x="275038" y="630986"/>
            <a:ext cx="3603333" cy="485021"/>
          </a:xfrm>
          <a:prstGeom prst="roundRect">
            <a:avLst/>
          </a:prstGeom>
          <a:solidFill>
            <a:schemeClr val="bg1"/>
          </a:solidFill>
          <a:ln>
            <a:solidFill>
              <a:srgbClr val="1D63B5"/>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 name="Group 2">
            <a:extLst>
              <a:ext uri="{FF2B5EF4-FFF2-40B4-BE49-F238E27FC236}">
                <a16:creationId xmlns:a16="http://schemas.microsoft.com/office/drawing/2014/main" id="{DC713F69-E6DD-B345-33D3-499B008F7A17}"/>
              </a:ext>
            </a:extLst>
          </p:cNvPr>
          <p:cNvGrpSpPr/>
          <p:nvPr/>
        </p:nvGrpSpPr>
        <p:grpSpPr>
          <a:xfrm>
            <a:off x="0" y="0"/>
            <a:ext cx="4153368" cy="126178"/>
            <a:chOff x="0" y="0"/>
            <a:chExt cx="2187782" cy="66464"/>
          </a:xfrm>
        </p:grpSpPr>
        <p:sp>
          <p:nvSpPr>
            <p:cNvPr id="3" name="Freeform 3">
              <a:extLst>
                <a:ext uri="{FF2B5EF4-FFF2-40B4-BE49-F238E27FC236}">
                  <a16:creationId xmlns:a16="http://schemas.microsoft.com/office/drawing/2014/main" id="{16F12EA0-AE27-85D3-96E6-BED52A471BC9}"/>
                </a:ext>
              </a:extLst>
            </p:cNvPr>
            <p:cNvSpPr/>
            <p:nvPr/>
          </p:nvSpPr>
          <p:spPr>
            <a:xfrm>
              <a:off x="0" y="0"/>
              <a:ext cx="2187782" cy="66464"/>
            </a:xfrm>
            <a:custGeom>
              <a:avLst/>
              <a:gdLst/>
              <a:ahLst/>
              <a:cxnLst/>
              <a:rect l="l" t="t" r="r" b="b"/>
              <a:pathLst>
                <a:path w="2187782" h="66464">
                  <a:moveTo>
                    <a:pt x="0" y="0"/>
                  </a:moveTo>
                  <a:lnTo>
                    <a:pt x="2187782" y="0"/>
                  </a:lnTo>
                  <a:lnTo>
                    <a:pt x="2187782"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4" name="TextBox 4">
              <a:extLst>
                <a:ext uri="{FF2B5EF4-FFF2-40B4-BE49-F238E27FC236}">
                  <a16:creationId xmlns:a16="http://schemas.microsoft.com/office/drawing/2014/main" id="{EEDED881-7208-D373-6128-A08573FEEA11}"/>
                </a:ext>
              </a:extLst>
            </p:cNvPr>
            <p:cNvSpPr txBox="1"/>
            <p:nvPr/>
          </p:nvSpPr>
          <p:spPr>
            <a:xfrm>
              <a:off x="0" y="-38100"/>
              <a:ext cx="2187782" cy="104564"/>
            </a:xfrm>
            <a:prstGeom prst="rect">
              <a:avLst/>
            </a:prstGeom>
          </p:spPr>
          <p:txBody>
            <a:bodyPr lIns="25400" tIns="25400" rIns="25400" bIns="25400" rtlCol="0" anchor="ctr"/>
            <a:lstStyle/>
            <a:p>
              <a:pPr algn="ctr">
                <a:lnSpc>
                  <a:spcPts val="1330"/>
                </a:lnSpc>
              </a:pPr>
              <a:endParaRPr sz="700"/>
            </a:p>
          </p:txBody>
        </p:sp>
      </p:grpSp>
      <p:grpSp>
        <p:nvGrpSpPr>
          <p:cNvPr id="5" name="Group 5">
            <a:extLst>
              <a:ext uri="{FF2B5EF4-FFF2-40B4-BE49-F238E27FC236}">
                <a16:creationId xmlns:a16="http://schemas.microsoft.com/office/drawing/2014/main" id="{071C7EC6-7D4C-F061-CDE0-6A50914ECB9E}"/>
              </a:ext>
            </a:extLst>
          </p:cNvPr>
          <p:cNvGrpSpPr/>
          <p:nvPr/>
        </p:nvGrpSpPr>
        <p:grpSpPr>
          <a:xfrm>
            <a:off x="74553" y="4994474"/>
            <a:ext cx="7571294" cy="126178"/>
            <a:chOff x="0" y="0"/>
            <a:chExt cx="3988171" cy="66464"/>
          </a:xfrm>
        </p:grpSpPr>
        <p:sp>
          <p:nvSpPr>
            <p:cNvPr id="6" name="Freeform 6">
              <a:extLst>
                <a:ext uri="{FF2B5EF4-FFF2-40B4-BE49-F238E27FC236}">
                  <a16:creationId xmlns:a16="http://schemas.microsoft.com/office/drawing/2014/main" id="{B4AD79D7-46FD-6B0C-7DE4-FF78018F4A88}"/>
                </a:ext>
              </a:extLst>
            </p:cNvPr>
            <p:cNvSpPr/>
            <p:nvPr/>
          </p:nvSpPr>
          <p:spPr>
            <a:xfrm>
              <a:off x="0" y="0"/>
              <a:ext cx="3988171" cy="66464"/>
            </a:xfrm>
            <a:custGeom>
              <a:avLst/>
              <a:gdLst/>
              <a:ahLst/>
              <a:cxnLst/>
              <a:rect l="l" t="t" r="r" b="b"/>
              <a:pathLst>
                <a:path w="3988171" h="66464">
                  <a:moveTo>
                    <a:pt x="0" y="0"/>
                  </a:moveTo>
                  <a:lnTo>
                    <a:pt x="3988171" y="0"/>
                  </a:lnTo>
                  <a:lnTo>
                    <a:pt x="3988171" y="66464"/>
                  </a:lnTo>
                  <a:lnTo>
                    <a:pt x="0" y="66464"/>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7" name="TextBox 7">
              <a:extLst>
                <a:ext uri="{FF2B5EF4-FFF2-40B4-BE49-F238E27FC236}">
                  <a16:creationId xmlns:a16="http://schemas.microsoft.com/office/drawing/2014/main" id="{C396E051-FCE8-96D0-093A-9DAA0B6CA32C}"/>
                </a:ext>
              </a:extLst>
            </p:cNvPr>
            <p:cNvSpPr txBox="1"/>
            <p:nvPr/>
          </p:nvSpPr>
          <p:spPr>
            <a:xfrm>
              <a:off x="0" y="-38100"/>
              <a:ext cx="3988171" cy="104564"/>
            </a:xfrm>
            <a:prstGeom prst="rect">
              <a:avLst/>
            </a:prstGeom>
          </p:spPr>
          <p:txBody>
            <a:bodyPr lIns="25400" tIns="25400" rIns="25400" bIns="25400" rtlCol="0" anchor="ctr"/>
            <a:lstStyle/>
            <a:p>
              <a:pPr algn="ctr">
                <a:lnSpc>
                  <a:spcPts val="1330"/>
                </a:lnSpc>
              </a:pPr>
              <a:endParaRPr sz="700"/>
            </a:p>
          </p:txBody>
        </p:sp>
      </p:grpSp>
      <p:grpSp>
        <p:nvGrpSpPr>
          <p:cNvPr id="8" name="Group 8">
            <a:extLst>
              <a:ext uri="{FF2B5EF4-FFF2-40B4-BE49-F238E27FC236}">
                <a16:creationId xmlns:a16="http://schemas.microsoft.com/office/drawing/2014/main" id="{614E0FB1-7343-AA0B-7107-6EF9941BD391}"/>
              </a:ext>
            </a:extLst>
          </p:cNvPr>
          <p:cNvGrpSpPr/>
          <p:nvPr/>
        </p:nvGrpSpPr>
        <p:grpSpPr>
          <a:xfrm rot="2700000">
            <a:off x="3661769" y="-528997"/>
            <a:ext cx="4602320" cy="2123257"/>
            <a:chOff x="0" y="0"/>
            <a:chExt cx="2424267" cy="1118423"/>
          </a:xfrm>
        </p:grpSpPr>
        <p:sp>
          <p:nvSpPr>
            <p:cNvPr id="9" name="Freeform 9">
              <a:extLst>
                <a:ext uri="{FF2B5EF4-FFF2-40B4-BE49-F238E27FC236}">
                  <a16:creationId xmlns:a16="http://schemas.microsoft.com/office/drawing/2014/main" id="{8AFFC971-D518-DC63-82CA-066EEEE8BD9D}"/>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0" name="TextBox 10">
              <a:extLst>
                <a:ext uri="{FF2B5EF4-FFF2-40B4-BE49-F238E27FC236}">
                  <a16:creationId xmlns:a16="http://schemas.microsoft.com/office/drawing/2014/main" id="{EF1F892B-32CB-D20F-CD5E-29D9DD282E0B}"/>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11" name="Group 11">
            <a:extLst>
              <a:ext uri="{FF2B5EF4-FFF2-40B4-BE49-F238E27FC236}">
                <a16:creationId xmlns:a16="http://schemas.microsoft.com/office/drawing/2014/main" id="{0903312A-41E4-0C98-DB5C-2FD31C761F00}"/>
              </a:ext>
            </a:extLst>
          </p:cNvPr>
          <p:cNvGrpSpPr/>
          <p:nvPr/>
        </p:nvGrpSpPr>
        <p:grpSpPr>
          <a:xfrm rot="2700000">
            <a:off x="5632358" y="303921"/>
            <a:ext cx="3724082" cy="1064394"/>
            <a:chOff x="0" y="0"/>
            <a:chExt cx="1961656" cy="560668"/>
          </a:xfrm>
        </p:grpSpPr>
        <p:sp>
          <p:nvSpPr>
            <p:cNvPr id="12" name="Freeform 12">
              <a:extLst>
                <a:ext uri="{FF2B5EF4-FFF2-40B4-BE49-F238E27FC236}">
                  <a16:creationId xmlns:a16="http://schemas.microsoft.com/office/drawing/2014/main" id="{A8440D19-D63B-AF33-3EAE-F2B37D5CF256}"/>
                </a:ext>
              </a:extLst>
            </p:cNvPr>
            <p:cNvSpPr/>
            <p:nvPr/>
          </p:nvSpPr>
          <p:spPr>
            <a:xfrm>
              <a:off x="0" y="0"/>
              <a:ext cx="1961656" cy="560668"/>
            </a:xfrm>
            <a:custGeom>
              <a:avLst/>
              <a:gdLst/>
              <a:ahLst/>
              <a:cxnLst/>
              <a:rect l="l" t="t" r="r" b="b"/>
              <a:pathLst>
                <a:path w="1961656" h="560668">
                  <a:moveTo>
                    <a:pt x="0" y="0"/>
                  </a:moveTo>
                  <a:lnTo>
                    <a:pt x="1961656" y="0"/>
                  </a:lnTo>
                  <a:lnTo>
                    <a:pt x="1961656" y="560668"/>
                  </a:lnTo>
                  <a:lnTo>
                    <a:pt x="0" y="560668"/>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3" name="TextBox 13">
              <a:extLst>
                <a:ext uri="{FF2B5EF4-FFF2-40B4-BE49-F238E27FC236}">
                  <a16:creationId xmlns:a16="http://schemas.microsoft.com/office/drawing/2014/main" id="{70297523-D0C9-81EB-FA45-802E3E7D096A}"/>
                </a:ext>
              </a:extLst>
            </p:cNvPr>
            <p:cNvSpPr txBox="1"/>
            <p:nvPr/>
          </p:nvSpPr>
          <p:spPr>
            <a:xfrm>
              <a:off x="0" y="-38100"/>
              <a:ext cx="1961656" cy="598768"/>
            </a:xfrm>
            <a:prstGeom prst="rect">
              <a:avLst/>
            </a:prstGeom>
          </p:spPr>
          <p:txBody>
            <a:bodyPr lIns="25400" tIns="25400" rIns="25400" bIns="25400" rtlCol="0" anchor="ctr"/>
            <a:lstStyle/>
            <a:p>
              <a:pPr algn="ctr">
                <a:lnSpc>
                  <a:spcPts val="1330"/>
                </a:lnSpc>
              </a:pPr>
              <a:endParaRPr sz="700"/>
            </a:p>
          </p:txBody>
        </p:sp>
      </p:grpSp>
      <p:grpSp>
        <p:nvGrpSpPr>
          <p:cNvPr id="14" name="Group 14">
            <a:extLst>
              <a:ext uri="{FF2B5EF4-FFF2-40B4-BE49-F238E27FC236}">
                <a16:creationId xmlns:a16="http://schemas.microsoft.com/office/drawing/2014/main" id="{3AF039C7-166F-DC3C-FD40-F2CACE3926F2}"/>
              </a:ext>
            </a:extLst>
          </p:cNvPr>
          <p:cNvGrpSpPr/>
          <p:nvPr/>
        </p:nvGrpSpPr>
        <p:grpSpPr>
          <a:xfrm rot="2700000">
            <a:off x="7528217" y="-892816"/>
            <a:ext cx="2873959" cy="1967021"/>
            <a:chOff x="0" y="0"/>
            <a:chExt cx="1513855" cy="1036126"/>
          </a:xfrm>
        </p:grpSpPr>
        <p:sp>
          <p:nvSpPr>
            <p:cNvPr id="15" name="Freeform 15">
              <a:extLst>
                <a:ext uri="{FF2B5EF4-FFF2-40B4-BE49-F238E27FC236}">
                  <a16:creationId xmlns:a16="http://schemas.microsoft.com/office/drawing/2014/main" id="{166C2FB9-D184-461A-308A-1F6AFD5F7BBF}"/>
                </a:ext>
              </a:extLst>
            </p:cNvPr>
            <p:cNvSpPr/>
            <p:nvPr/>
          </p:nvSpPr>
          <p:spPr>
            <a:xfrm>
              <a:off x="0" y="0"/>
              <a:ext cx="1513855" cy="1036126"/>
            </a:xfrm>
            <a:custGeom>
              <a:avLst/>
              <a:gdLst/>
              <a:ahLst/>
              <a:cxnLst/>
              <a:rect l="l" t="t" r="r" b="b"/>
              <a:pathLst>
                <a:path w="1513855" h="1036126">
                  <a:moveTo>
                    <a:pt x="0" y="0"/>
                  </a:moveTo>
                  <a:lnTo>
                    <a:pt x="1513855" y="0"/>
                  </a:lnTo>
                  <a:lnTo>
                    <a:pt x="1513855" y="1036126"/>
                  </a:lnTo>
                  <a:lnTo>
                    <a:pt x="0" y="1036126"/>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6" name="TextBox 16">
              <a:extLst>
                <a:ext uri="{FF2B5EF4-FFF2-40B4-BE49-F238E27FC236}">
                  <a16:creationId xmlns:a16="http://schemas.microsoft.com/office/drawing/2014/main" id="{D78B5C6B-C409-CCBB-2B06-FBD31CAC99E4}"/>
                </a:ext>
              </a:extLst>
            </p:cNvPr>
            <p:cNvSpPr txBox="1"/>
            <p:nvPr/>
          </p:nvSpPr>
          <p:spPr>
            <a:xfrm>
              <a:off x="0" y="-38100"/>
              <a:ext cx="1513855" cy="1074226"/>
            </a:xfrm>
            <a:prstGeom prst="rect">
              <a:avLst/>
            </a:prstGeom>
          </p:spPr>
          <p:txBody>
            <a:bodyPr lIns="25400" tIns="25400" rIns="25400" bIns="25400" rtlCol="0" anchor="ctr"/>
            <a:lstStyle/>
            <a:p>
              <a:pPr algn="ctr">
                <a:lnSpc>
                  <a:spcPts val="1330"/>
                </a:lnSpc>
              </a:pPr>
              <a:endParaRPr sz="700"/>
            </a:p>
          </p:txBody>
        </p:sp>
      </p:grpSp>
      <p:grpSp>
        <p:nvGrpSpPr>
          <p:cNvPr id="17" name="Group 17">
            <a:extLst>
              <a:ext uri="{FF2B5EF4-FFF2-40B4-BE49-F238E27FC236}">
                <a16:creationId xmlns:a16="http://schemas.microsoft.com/office/drawing/2014/main" id="{BB6CD3B7-9C29-31B7-074F-1C8E56CB1626}"/>
              </a:ext>
            </a:extLst>
          </p:cNvPr>
          <p:cNvGrpSpPr/>
          <p:nvPr/>
        </p:nvGrpSpPr>
        <p:grpSpPr>
          <a:xfrm rot="2700000">
            <a:off x="6756840" y="4003698"/>
            <a:ext cx="4602320" cy="2123257"/>
            <a:chOff x="0" y="0"/>
            <a:chExt cx="2424267" cy="1118423"/>
          </a:xfrm>
        </p:grpSpPr>
        <p:sp>
          <p:nvSpPr>
            <p:cNvPr id="18" name="Freeform 18">
              <a:extLst>
                <a:ext uri="{FF2B5EF4-FFF2-40B4-BE49-F238E27FC236}">
                  <a16:creationId xmlns:a16="http://schemas.microsoft.com/office/drawing/2014/main" id="{059C69CD-FBFA-E4B4-AA86-445D5367D190}"/>
                </a:ext>
              </a:extLst>
            </p:cNvPr>
            <p:cNvSpPr/>
            <p:nvPr/>
          </p:nvSpPr>
          <p:spPr>
            <a:xfrm>
              <a:off x="0" y="0"/>
              <a:ext cx="2424267" cy="1118423"/>
            </a:xfrm>
            <a:custGeom>
              <a:avLst/>
              <a:gdLst/>
              <a:ahLst/>
              <a:cxnLst/>
              <a:rect l="l" t="t" r="r" b="b"/>
              <a:pathLst>
                <a:path w="2424267" h="1118423">
                  <a:moveTo>
                    <a:pt x="0" y="0"/>
                  </a:moveTo>
                  <a:lnTo>
                    <a:pt x="2424267" y="0"/>
                  </a:lnTo>
                  <a:lnTo>
                    <a:pt x="2424267" y="1118423"/>
                  </a:lnTo>
                  <a:lnTo>
                    <a:pt x="0" y="1118423"/>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19" name="TextBox 19">
              <a:extLst>
                <a:ext uri="{FF2B5EF4-FFF2-40B4-BE49-F238E27FC236}">
                  <a16:creationId xmlns:a16="http://schemas.microsoft.com/office/drawing/2014/main" id="{3FFFD043-6DDC-803C-1EE7-E745D2CD7192}"/>
                </a:ext>
              </a:extLst>
            </p:cNvPr>
            <p:cNvSpPr txBox="1"/>
            <p:nvPr/>
          </p:nvSpPr>
          <p:spPr>
            <a:xfrm>
              <a:off x="0" y="-38100"/>
              <a:ext cx="2424267" cy="1156523"/>
            </a:xfrm>
            <a:prstGeom prst="rect">
              <a:avLst/>
            </a:prstGeom>
          </p:spPr>
          <p:txBody>
            <a:bodyPr lIns="25400" tIns="25400" rIns="25400" bIns="25400" rtlCol="0" anchor="ctr"/>
            <a:lstStyle/>
            <a:p>
              <a:pPr algn="ctr">
                <a:lnSpc>
                  <a:spcPts val="1330"/>
                </a:lnSpc>
              </a:pPr>
              <a:endParaRPr sz="700"/>
            </a:p>
          </p:txBody>
        </p:sp>
      </p:grpSp>
      <p:grpSp>
        <p:nvGrpSpPr>
          <p:cNvPr id="20" name="Group 20">
            <a:extLst>
              <a:ext uri="{FF2B5EF4-FFF2-40B4-BE49-F238E27FC236}">
                <a16:creationId xmlns:a16="http://schemas.microsoft.com/office/drawing/2014/main" id="{40B8BCE7-F5DB-C74D-120E-15FE119805F6}"/>
              </a:ext>
            </a:extLst>
          </p:cNvPr>
          <p:cNvGrpSpPr/>
          <p:nvPr/>
        </p:nvGrpSpPr>
        <p:grpSpPr>
          <a:xfrm rot="2700000">
            <a:off x="7842195" y="3672519"/>
            <a:ext cx="2166949" cy="1126189"/>
            <a:chOff x="0" y="0"/>
            <a:chExt cx="1141438" cy="593219"/>
          </a:xfrm>
        </p:grpSpPr>
        <p:sp>
          <p:nvSpPr>
            <p:cNvPr id="21" name="Freeform 21">
              <a:extLst>
                <a:ext uri="{FF2B5EF4-FFF2-40B4-BE49-F238E27FC236}">
                  <a16:creationId xmlns:a16="http://schemas.microsoft.com/office/drawing/2014/main" id="{7CCA289A-B33A-364F-D970-B4B0741374DB}"/>
                </a:ext>
              </a:extLst>
            </p:cNvPr>
            <p:cNvSpPr/>
            <p:nvPr/>
          </p:nvSpPr>
          <p:spPr>
            <a:xfrm>
              <a:off x="0" y="0"/>
              <a:ext cx="1141438" cy="593219"/>
            </a:xfrm>
            <a:custGeom>
              <a:avLst/>
              <a:gdLst/>
              <a:ahLst/>
              <a:cxnLst/>
              <a:rect l="l" t="t" r="r" b="b"/>
              <a:pathLst>
                <a:path w="1141438" h="593219">
                  <a:moveTo>
                    <a:pt x="0" y="0"/>
                  </a:moveTo>
                  <a:lnTo>
                    <a:pt x="1141438" y="0"/>
                  </a:lnTo>
                  <a:lnTo>
                    <a:pt x="1141438" y="593219"/>
                  </a:lnTo>
                  <a:lnTo>
                    <a:pt x="0" y="593219"/>
                  </a:lnTo>
                  <a:close/>
                </a:path>
              </a:pathLst>
            </a:custGeom>
            <a:gradFill rotWithShape="1">
              <a:gsLst>
                <a:gs pos="0">
                  <a:srgbClr val="042882">
                    <a:alpha val="100000"/>
                  </a:srgbClr>
                </a:gs>
                <a:gs pos="100000">
                  <a:srgbClr val="2A83D0">
                    <a:alpha val="100000"/>
                  </a:srgbClr>
                </a:gs>
              </a:gsLst>
              <a:lin ang="0"/>
            </a:gradFill>
          </p:spPr>
          <p:txBody>
            <a:bodyPr/>
            <a:lstStyle/>
            <a:p>
              <a:endParaRPr lang="en-IN" sz="700"/>
            </a:p>
          </p:txBody>
        </p:sp>
        <p:sp>
          <p:nvSpPr>
            <p:cNvPr id="22" name="TextBox 22">
              <a:extLst>
                <a:ext uri="{FF2B5EF4-FFF2-40B4-BE49-F238E27FC236}">
                  <a16:creationId xmlns:a16="http://schemas.microsoft.com/office/drawing/2014/main" id="{6D1B43F8-87A5-2EDD-F149-BE82A2984EB5}"/>
                </a:ext>
              </a:extLst>
            </p:cNvPr>
            <p:cNvSpPr txBox="1"/>
            <p:nvPr/>
          </p:nvSpPr>
          <p:spPr>
            <a:xfrm>
              <a:off x="0" y="-38100"/>
              <a:ext cx="1141438" cy="631319"/>
            </a:xfrm>
            <a:prstGeom prst="rect">
              <a:avLst/>
            </a:prstGeom>
          </p:spPr>
          <p:txBody>
            <a:bodyPr lIns="25400" tIns="25400" rIns="25400" bIns="25400" rtlCol="0" anchor="ctr"/>
            <a:lstStyle/>
            <a:p>
              <a:pPr algn="ctr">
                <a:lnSpc>
                  <a:spcPts val="1330"/>
                </a:lnSpc>
              </a:pPr>
              <a:endParaRPr sz="700"/>
            </a:p>
          </p:txBody>
        </p:sp>
      </p:grpSp>
      <p:grpSp>
        <p:nvGrpSpPr>
          <p:cNvPr id="23" name="Group 23">
            <a:extLst>
              <a:ext uri="{FF2B5EF4-FFF2-40B4-BE49-F238E27FC236}">
                <a16:creationId xmlns:a16="http://schemas.microsoft.com/office/drawing/2014/main" id="{2ABF0622-9241-CD75-6B4F-4578A248FF9B}"/>
              </a:ext>
            </a:extLst>
          </p:cNvPr>
          <p:cNvGrpSpPr/>
          <p:nvPr/>
        </p:nvGrpSpPr>
        <p:grpSpPr>
          <a:xfrm>
            <a:off x="5720497" y="768985"/>
            <a:ext cx="3475712" cy="3475712"/>
            <a:chOff x="0" y="0"/>
            <a:chExt cx="812800" cy="812800"/>
          </a:xfrm>
        </p:grpSpPr>
        <p:sp>
          <p:nvSpPr>
            <p:cNvPr id="24" name="Freeform 24">
              <a:extLst>
                <a:ext uri="{FF2B5EF4-FFF2-40B4-BE49-F238E27FC236}">
                  <a16:creationId xmlns:a16="http://schemas.microsoft.com/office/drawing/2014/main" id="{0A81DF20-399E-AF89-89B0-FC2CA2FD0162}"/>
                </a:ext>
              </a:extLst>
            </p:cNvPr>
            <p:cNvSpPr/>
            <p:nvPr/>
          </p:nvSpPr>
          <p:spPr>
            <a:xfrm>
              <a:off x="0" y="0"/>
              <a:ext cx="812800" cy="812800"/>
            </a:xfrm>
            <a:custGeom>
              <a:avLst/>
              <a:gdLst/>
              <a:ahLst/>
              <a:cxnLst/>
              <a:rect l="l" t="t" r="r" b="b"/>
              <a:pathLst>
                <a:path w="812800" h="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rotWithShape="1">
              <a:gsLst>
                <a:gs pos="0">
                  <a:srgbClr val="042882">
                    <a:alpha val="100000"/>
                  </a:srgbClr>
                </a:gs>
                <a:gs pos="100000">
                  <a:srgbClr val="2A83D0">
                    <a:alpha val="100000"/>
                  </a:srgbClr>
                </a:gs>
              </a:gsLst>
              <a:lin ang="0"/>
            </a:gradFill>
            <a:ln cap="sq">
              <a:noFill/>
              <a:prstDash val="solid"/>
              <a:miter/>
            </a:ln>
          </p:spPr>
          <p:txBody>
            <a:bodyPr/>
            <a:lstStyle/>
            <a:p>
              <a:endParaRPr lang="en-IN" sz="700"/>
            </a:p>
          </p:txBody>
        </p:sp>
        <p:sp>
          <p:nvSpPr>
            <p:cNvPr id="25" name="TextBox 25">
              <a:extLst>
                <a:ext uri="{FF2B5EF4-FFF2-40B4-BE49-F238E27FC236}">
                  <a16:creationId xmlns:a16="http://schemas.microsoft.com/office/drawing/2014/main" id="{40C2189F-9BF3-791F-6AA1-3475C52DFABC}"/>
                </a:ext>
              </a:extLst>
            </p:cNvPr>
            <p:cNvSpPr txBox="1"/>
            <p:nvPr/>
          </p:nvSpPr>
          <p:spPr>
            <a:xfrm>
              <a:off x="63500" y="25400"/>
              <a:ext cx="685800" cy="723900"/>
            </a:xfrm>
            <a:prstGeom prst="rect">
              <a:avLst/>
            </a:prstGeom>
          </p:spPr>
          <p:txBody>
            <a:bodyPr lIns="29445" tIns="29445" rIns="29445" bIns="29445" rtlCol="0" anchor="ctr"/>
            <a:lstStyle/>
            <a:p>
              <a:pPr algn="ctr">
                <a:lnSpc>
                  <a:spcPts val="1330"/>
                </a:lnSpc>
                <a:spcBef>
                  <a:spcPct val="0"/>
                </a:spcBef>
              </a:pPr>
              <a:endParaRPr sz="700"/>
            </a:p>
          </p:txBody>
        </p:sp>
      </p:grpSp>
      <p:sp>
        <p:nvSpPr>
          <p:cNvPr id="34" name="Freeform 34">
            <a:extLst>
              <a:ext uri="{FF2B5EF4-FFF2-40B4-BE49-F238E27FC236}">
                <a16:creationId xmlns:a16="http://schemas.microsoft.com/office/drawing/2014/main" id="{79637531-A44E-C462-F403-761C10B95F61}"/>
              </a:ext>
            </a:extLst>
          </p:cNvPr>
          <p:cNvSpPr/>
          <p:nvPr/>
        </p:nvSpPr>
        <p:spPr>
          <a:xfrm>
            <a:off x="4814816" y="492813"/>
            <a:ext cx="857064" cy="159628"/>
          </a:xfrm>
          <a:custGeom>
            <a:avLst/>
            <a:gdLst/>
            <a:ahLst/>
            <a:cxnLst/>
            <a:rect l="l" t="t" r="r" b="b"/>
            <a:pathLst>
              <a:path w="1714127" h="319256">
                <a:moveTo>
                  <a:pt x="0" y="0"/>
                </a:moveTo>
                <a:lnTo>
                  <a:pt x="1714127" y="0"/>
                </a:lnTo>
                <a:lnTo>
                  <a:pt x="1714127" y="319257"/>
                </a:lnTo>
                <a:lnTo>
                  <a:pt x="0" y="319257"/>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5" name="Freeform 35">
            <a:extLst>
              <a:ext uri="{FF2B5EF4-FFF2-40B4-BE49-F238E27FC236}">
                <a16:creationId xmlns:a16="http://schemas.microsoft.com/office/drawing/2014/main" id="{DCD7CC8C-164D-C41A-6252-42C99A05871B}"/>
              </a:ext>
            </a:extLst>
          </p:cNvPr>
          <p:cNvSpPr/>
          <p:nvPr/>
        </p:nvSpPr>
        <p:spPr>
          <a:xfrm>
            <a:off x="8435937" y="4382878"/>
            <a:ext cx="857064" cy="159628"/>
          </a:xfrm>
          <a:custGeom>
            <a:avLst/>
            <a:gdLst/>
            <a:ahLst/>
            <a:cxnLst/>
            <a:rect l="l" t="t" r="r" b="b"/>
            <a:pathLst>
              <a:path w="1714127" h="319256">
                <a:moveTo>
                  <a:pt x="0" y="0"/>
                </a:moveTo>
                <a:lnTo>
                  <a:pt x="1714127" y="0"/>
                </a:lnTo>
                <a:lnTo>
                  <a:pt x="1714127"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sp>
        <p:nvSpPr>
          <p:cNvPr id="36" name="Freeform 36">
            <a:extLst>
              <a:ext uri="{FF2B5EF4-FFF2-40B4-BE49-F238E27FC236}">
                <a16:creationId xmlns:a16="http://schemas.microsoft.com/office/drawing/2014/main" id="{8672D197-9BF9-8CFA-6DF7-2937B68FFD86}"/>
              </a:ext>
            </a:extLst>
          </p:cNvPr>
          <p:cNvSpPr/>
          <p:nvPr/>
        </p:nvSpPr>
        <p:spPr>
          <a:xfrm>
            <a:off x="8726258" y="4572000"/>
            <a:ext cx="857064" cy="159628"/>
          </a:xfrm>
          <a:custGeom>
            <a:avLst/>
            <a:gdLst/>
            <a:ahLst/>
            <a:cxnLst/>
            <a:rect l="l" t="t" r="r" b="b"/>
            <a:pathLst>
              <a:path w="1714127" h="319256">
                <a:moveTo>
                  <a:pt x="0" y="0"/>
                </a:moveTo>
                <a:lnTo>
                  <a:pt x="1714128" y="0"/>
                </a:lnTo>
                <a:lnTo>
                  <a:pt x="1714128" y="319256"/>
                </a:lnTo>
                <a:lnTo>
                  <a:pt x="0" y="31925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IN" sz="700"/>
          </a:p>
        </p:txBody>
      </p:sp>
      <p:grpSp>
        <p:nvGrpSpPr>
          <p:cNvPr id="47" name="Group 46">
            <a:extLst>
              <a:ext uri="{FF2B5EF4-FFF2-40B4-BE49-F238E27FC236}">
                <a16:creationId xmlns:a16="http://schemas.microsoft.com/office/drawing/2014/main" id="{1E9CDC51-FF0E-F171-6762-BB19A05B4D8E}"/>
              </a:ext>
            </a:extLst>
          </p:cNvPr>
          <p:cNvGrpSpPr/>
          <p:nvPr/>
        </p:nvGrpSpPr>
        <p:grpSpPr>
          <a:xfrm>
            <a:off x="373417" y="2687476"/>
            <a:ext cx="4927732" cy="485021"/>
            <a:chOff x="0" y="2985846"/>
            <a:chExt cx="4276134" cy="664477"/>
          </a:xfrm>
        </p:grpSpPr>
        <p:sp>
          <p:nvSpPr>
            <p:cNvPr id="30" name="TextBox 30">
              <a:extLst>
                <a:ext uri="{FF2B5EF4-FFF2-40B4-BE49-F238E27FC236}">
                  <a16:creationId xmlns:a16="http://schemas.microsoft.com/office/drawing/2014/main" id="{199C1F1F-4C5C-E8C0-1593-D5C9F6952716}"/>
                </a:ext>
              </a:extLst>
            </p:cNvPr>
            <p:cNvSpPr txBox="1"/>
            <p:nvPr/>
          </p:nvSpPr>
          <p:spPr>
            <a:xfrm>
              <a:off x="0" y="2985846"/>
              <a:ext cx="4113485" cy="431082"/>
            </a:xfrm>
            <a:prstGeom prst="rect">
              <a:avLst/>
            </a:prstGeom>
          </p:spPr>
          <p:txBody>
            <a:bodyPr lIns="25400" tIns="25400" rIns="25400" bIns="25400" rtlCol="0" anchor="ctr"/>
            <a:lstStyle/>
            <a:p>
              <a:pPr algn="ctr">
                <a:lnSpc>
                  <a:spcPts val="1330"/>
                </a:lnSpc>
              </a:pPr>
              <a:endParaRPr sz="700"/>
            </a:p>
          </p:txBody>
        </p:sp>
        <p:sp>
          <p:nvSpPr>
            <p:cNvPr id="44" name="TextBox 44">
              <a:extLst>
                <a:ext uri="{FF2B5EF4-FFF2-40B4-BE49-F238E27FC236}">
                  <a16:creationId xmlns:a16="http://schemas.microsoft.com/office/drawing/2014/main" id="{3578161E-D839-4793-89CB-83A287A2849E}"/>
                </a:ext>
              </a:extLst>
            </p:cNvPr>
            <p:cNvSpPr txBox="1"/>
            <p:nvPr/>
          </p:nvSpPr>
          <p:spPr>
            <a:xfrm>
              <a:off x="466725" y="3426736"/>
              <a:ext cx="3809409" cy="223587"/>
            </a:xfrm>
            <a:prstGeom prst="rect">
              <a:avLst/>
            </a:prstGeom>
          </p:spPr>
          <p:txBody>
            <a:bodyPr lIns="0" tIns="0" rIns="0" bIns="0" rtlCol="0" anchor="t">
              <a:spAutoFit/>
            </a:bodyPr>
            <a:lstStyle/>
            <a:p>
              <a:pPr>
                <a:lnSpc>
                  <a:spcPts val="1943"/>
                </a:lnSpc>
              </a:pPr>
              <a:endParaRPr lang="en-US" sz="1200" b="1" spc="583" dirty="0">
                <a:solidFill>
                  <a:srgbClr val="FFFFFF"/>
                </a:solidFill>
                <a:latin typeface="Arial" panose="020B0604020202020204" pitchFamily="34" charset="0"/>
                <a:ea typeface="Aileron Bold"/>
                <a:cs typeface="Arial" panose="020B0604020202020204" pitchFamily="34" charset="0"/>
                <a:sym typeface="Aileron Bold"/>
              </a:endParaRPr>
            </a:p>
          </p:txBody>
        </p:sp>
      </p:grpSp>
      <p:pic>
        <p:nvPicPr>
          <p:cNvPr id="50" name="Picture 49" descr="A blue circle with a person and a envelope in it&#10;&#10;AI-generated content may be incorrect.">
            <a:extLst>
              <a:ext uri="{FF2B5EF4-FFF2-40B4-BE49-F238E27FC236}">
                <a16:creationId xmlns:a16="http://schemas.microsoft.com/office/drawing/2014/main" id="{C926F708-70B7-B0DB-A148-0FA2830D925D}"/>
              </a:ext>
            </a:extLst>
          </p:cNvPr>
          <p:cNvPicPr>
            <a:picLocks noChangeAspect="1"/>
          </p:cNvPicPr>
          <p:nvPr/>
        </p:nvPicPr>
        <p:blipFill>
          <a:blip r:embed="rId6"/>
          <a:srcRect l="26757" t="2453" r="27842" b="53701"/>
          <a:stretch>
            <a:fillRect/>
          </a:stretch>
        </p:blipFill>
        <p:spPr>
          <a:xfrm>
            <a:off x="3416508" y="3782259"/>
            <a:ext cx="395331" cy="381795"/>
          </a:xfrm>
          <a:prstGeom prst="rect">
            <a:avLst/>
          </a:prstGeom>
        </p:spPr>
      </p:pic>
      <p:pic>
        <p:nvPicPr>
          <p:cNvPr id="51" name="Picture 50" descr="A blue circle with a person and a envelope in it&#10;&#10;AI-generated content may be incorrect.">
            <a:extLst>
              <a:ext uri="{FF2B5EF4-FFF2-40B4-BE49-F238E27FC236}">
                <a16:creationId xmlns:a16="http://schemas.microsoft.com/office/drawing/2014/main" id="{EC8FEF14-C75E-1155-0600-B4343B3F57F8}"/>
              </a:ext>
            </a:extLst>
          </p:cNvPr>
          <p:cNvPicPr>
            <a:picLocks noChangeAspect="1"/>
          </p:cNvPicPr>
          <p:nvPr/>
        </p:nvPicPr>
        <p:blipFill>
          <a:blip r:embed="rId6"/>
          <a:srcRect l="26859" t="52379" r="26874" b="2349"/>
          <a:stretch>
            <a:fillRect/>
          </a:stretch>
        </p:blipFill>
        <p:spPr>
          <a:xfrm>
            <a:off x="3448860" y="4329468"/>
            <a:ext cx="398279" cy="389719"/>
          </a:xfrm>
          <a:prstGeom prst="rect">
            <a:avLst/>
          </a:prstGeom>
        </p:spPr>
      </p:pic>
      <p:grpSp>
        <p:nvGrpSpPr>
          <p:cNvPr id="66" name="Group 65">
            <a:extLst>
              <a:ext uri="{FF2B5EF4-FFF2-40B4-BE49-F238E27FC236}">
                <a16:creationId xmlns:a16="http://schemas.microsoft.com/office/drawing/2014/main" id="{658A7A12-122B-4A3C-11D3-C4D8BF732077}"/>
              </a:ext>
            </a:extLst>
          </p:cNvPr>
          <p:cNvGrpSpPr/>
          <p:nvPr/>
        </p:nvGrpSpPr>
        <p:grpSpPr>
          <a:xfrm>
            <a:off x="443226" y="3825853"/>
            <a:ext cx="2509805" cy="455685"/>
            <a:chOff x="2690678" y="3940725"/>
            <a:chExt cx="2272871" cy="349586"/>
          </a:xfrm>
        </p:grpSpPr>
        <p:sp>
          <p:nvSpPr>
            <p:cNvPr id="67" name="TextBox 41">
              <a:extLst>
                <a:ext uri="{FF2B5EF4-FFF2-40B4-BE49-F238E27FC236}">
                  <a16:creationId xmlns:a16="http://schemas.microsoft.com/office/drawing/2014/main" id="{5FE6F280-D970-382B-5260-25E219F86722}"/>
                </a:ext>
              </a:extLst>
            </p:cNvPr>
            <p:cNvSpPr txBox="1"/>
            <p:nvPr/>
          </p:nvSpPr>
          <p:spPr>
            <a:xfrm>
              <a:off x="2817222" y="3940725"/>
              <a:ext cx="1809978" cy="158890"/>
            </a:xfrm>
            <a:prstGeom prst="rect">
              <a:avLst/>
            </a:prstGeom>
          </p:spPr>
          <p:txBody>
            <a:bodyPr lIns="0" tIns="0" rIns="0" bIns="0" rtlCol="0" anchor="t">
              <a:spAutoFit/>
            </a:bodyPr>
            <a:lstStyle/>
            <a:p>
              <a:pPr>
                <a:lnSpc>
                  <a:spcPts val="1296"/>
                </a:lnSpc>
              </a:pPr>
              <a:r>
                <a:rPr lang="en-US" sz="1000" dirty="0">
                  <a:latin typeface="Arial" panose="020B0604020202020204" pitchFamily="34" charset="0"/>
                  <a:ea typeface="Aileron"/>
                  <a:cs typeface="Arial" panose="020B0604020202020204" pitchFamily="34" charset="0"/>
                  <a:sym typeface="Aileron"/>
                </a:rPr>
                <a:t>Mentor Name</a:t>
              </a:r>
            </a:p>
          </p:txBody>
        </p:sp>
        <p:sp>
          <p:nvSpPr>
            <p:cNvPr id="68" name="TextBox 43">
              <a:extLst>
                <a:ext uri="{FF2B5EF4-FFF2-40B4-BE49-F238E27FC236}">
                  <a16:creationId xmlns:a16="http://schemas.microsoft.com/office/drawing/2014/main" id="{A541DFB6-306C-CD3E-24BD-6D7131F87B73}"/>
                </a:ext>
              </a:extLst>
            </p:cNvPr>
            <p:cNvSpPr txBox="1"/>
            <p:nvPr/>
          </p:nvSpPr>
          <p:spPr>
            <a:xfrm>
              <a:off x="2690678" y="4115831"/>
              <a:ext cx="2272871" cy="174480"/>
            </a:xfrm>
            <a:prstGeom prst="rect">
              <a:avLst/>
            </a:prstGeom>
          </p:spPr>
          <p:txBody>
            <a:bodyPr lIns="0" tIns="0" rIns="0" bIns="0" rtlCol="0" anchor="t">
              <a:spAutoFit/>
            </a:bodyPr>
            <a:lstStyle/>
            <a:p>
              <a:pPr>
                <a:lnSpc>
                  <a:spcPts val="2038"/>
                </a:lnSpc>
              </a:pPr>
              <a:r>
                <a:rPr lang="en-US" sz="1200" b="1" dirty="0">
                  <a:solidFill>
                    <a:srgbClr val="0D358D"/>
                  </a:solidFill>
                  <a:latin typeface="Arial" panose="020B0604020202020204" pitchFamily="34" charset="0"/>
                  <a:ea typeface="Aileron Bold"/>
                  <a:cs typeface="Arial" panose="020B0604020202020204" pitchFamily="34" charset="0"/>
                  <a:sym typeface="Aileron Bold"/>
                </a:rPr>
                <a:t>Guide Name: Umamaheshwari</a:t>
              </a:r>
            </a:p>
          </p:txBody>
        </p:sp>
      </p:grpSp>
      <p:pic>
        <p:nvPicPr>
          <p:cNvPr id="71" name="Picture 70">
            <a:extLst>
              <a:ext uri="{FF2B5EF4-FFF2-40B4-BE49-F238E27FC236}">
                <a16:creationId xmlns:a16="http://schemas.microsoft.com/office/drawing/2014/main" id="{4094A52A-31D4-B030-C8BD-9B0ACB0083EC}"/>
              </a:ext>
            </a:extLst>
          </p:cNvPr>
          <p:cNvPicPr>
            <a:picLocks noChangeAspect="1"/>
          </p:cNvPicPr>
          <p:nvPr/>
        </p:nvPicPr>
        <p:blipFill>
          <a:blip r:embed="rId7"/>
          <a:srcRect l="28109" t="6546" r="28551" b="49509"/>
          <a:stretch>
            <a:fillRect/>
          </a:stretch>
        </p:blipFill>
        <p:spPr>
          <a:xfrm>
            <a:off x="185509" y="3720290"/>
            <a:ext cx="375815" cy="381063"/>
          </a:xfrm>
          <a:prstGeom prst="rect">
            <a:avLst/>
          </a:prstGeom>
        </p:spPr>
      </p:pic>
      <p:grpSp>
        <p:nvGrpSpPr>
          <p:cNvPr id="49" name="Group 48">
            <a:extLst>
              <a:ext uri="{FF2B5EF4-FFF2-40B4-BE49-F238E27FC236}">
                <a16:creationId xmlns:a16="http://schemas.microsoft.com/office/drawing/2014/main" id="{18150B14-0B49-9E22-C961-786A40F27A84}"/>
              </a:ext>
            </a:extLst>
          </p:cNvPr>
          <p:cNvGrpSpPr/>
          <p:nvPr/>
        </p:nvGrpSpPr>
        <p:grpSpPr>
          <a:xfrm>
            <a:off x="640733" y="769747"/>
            <a:ext cx="3051630" cy="258616"/>
            <a:chOff x="1068621" y="826472"/>
            <a:chExt cx="2166264" cy="183584"/>
          </a:xfrm>
        </p:grpSpPr>
        <p:pic>
          <p:nvPicPr>
            <p:cNvPr id="55" name="Picture 54" descr="A blue and black logo&#10;&#10;AI-generated content may be incorrect.">
              <a:extLst>
                <a:ext uri="{FF2B5EF4-FFF2-40B4-BE49-F238E27FC236}">
                  <a16:creationId xmlns:a16="http://schemas.microsoft.com/office/drawing/2014/main" id="{9016EA03-A173-06E1-C2CA-FF7DC65A3637}"/>
                </a:ext>
              </a:extLst>
            </p:cNvPr>
            <p:cNvPicPr>
              <a:picLocks noChangeAspect="1"/>
            </p:cNvPicPr>
            <p:nvPr/>
          </p:nvPicPr>
          <p:blipFill>
            <a:blip r:embed="rId8"/>
            <a:stretch>
              <a:fillRect/>
            </a:stretch>
          </p:blipFill>
          <p:spPr>
            <a:xfrm>
              <a:off x="1068621" y="826472"/>
              <a:ext cx="632879" cy="158848"/>
            </a:xfrm>
            <a:prstGeom prst="rect">
              <a:avLst/>
            </a:prstGeom>
          </p:spPr>
        </p:pic>
        <p:pic>
          <p:nvPicPr>
            <p:cNvPr id="57" name="Picture 56" descr="A close up of a logo&#10;&#10;AI-generated content may be incorrect.">
              <a:extLst>
                <a:ext uri="{FF2B5EF4-FFF2-40B4-BE49-F238E27FC236}">
                  <a16:creationId xmlns:a16="http://schemas.microsoft.com/office/drawing/2014/main" id="{B084208C-F6C2-47AC-3616-A62F69B53173}"/>
                </a:ext>
              </a:extLst>
            </p:cNvPr>
            <p:cNvPicPr>
              <a:picLocks noChangeAspect="1"/>
            </p:cNvPicPr>
            <p:nvPr/>
          </p:nvPicPr>
          <p:blipFill>
            <a:blip r:embed="rId9"/>
            <a:stretch>
              <a:fillRect/>
            </a:stretch>
          </p:blipFill>
          <p:spPr>
            <a:xfrm>
              <a:off x="2670437" y="826472"/>
              <a:ext cx="564448" cy="183584"/>
            </a:xfrm>
            <a:prstGeom prst="rect">
              <a:avLst/>
            </a:prstGeom>
          </p:spPr>
        </p:pic>
      </p:grpSp>
      <p:sp>
        <p:nvSpPr>
          <p:cNvPr id="31" name="Shape 7">
            <a:extLst>
              <a:ext uri="{FF2B5EF4-FFF2-40B4-BE49-F238E27FC236}">
                <a16:creationId xmlns:a16="http://schemas.microsoft.com/office/drawing/2014/main" id="{4DEADC42-07CF-F7CC-6F54-42498EAA37B3}"/>
              </a:ext>
            </a:extLst>
          </p:cNvPr>
          <p:cNvSpPr/>
          <p:nvPr/>
        </p:nvSpPr>
        <p:spPr>
          <a:xfrm rot="18195971">
            <a:off x="5802826" y="2309413"/>
            <a:ext cx="2834640" cy="109728"/>
          </a:xfrm>
          <a:prstGeom prst="rect">
            <a:avLst/>
          </a:prstGeom>
          <a:solidFill>
            <a:srgbClr val="4FC3F7"/>
          </a:solidFill>
          <a:ln/>
        </p:spPr>
        <p:txBody>
          <a:bodyPr/>
          <a:lstStyle/>
          <a:p>
            <a:endParaRPr lang="en-IN"/>
          </a:p>
        </p:txBody>
      </p:sp>
      <p:sp>
        <p:nvSpPr>
          <p:cNvPr id="32" name="Shape 8">
            <a:extLst>
              <a:ext uri="{FF2B5EF4-FFF2-40B4-BE49-F238E27FC236}">
                <a16:creationId xmlns:a16="http://schemas.microsoft.com/office/drawing/2014/main" id="{51B3A474-02DA-6A59-3FFF-434FDDC06A2B}"/>
              </a:ext>
            </a:extLst>
          </p:cNvPr>
          <p:cNvSpPr/>
          <p:nvPr/>
        </p:nvSpPr>
        <p:spPr>
          <a:xfrm rot="18195971">
            <a:off x="6146363" y="2413708"/>
            <a:ext cx="2468880" cy="109728"/>
          </a:xfrm>
          <a:prstGeom prst="rect">
            <a:avLst/>
          </a:prstGeom>
          <a:solidFill>
            <a:srgbClr val="4FC3F7"/>
          </a:solidFill>
          <a:ln/>
        </p:spPr>
        <p:txBody>
          <a:bodyPr/>
          <a:lstStyle/>
          <a:p>
            <a:endParaRPr lang="en-IN"/>
          </a:p>
        </p:txBody>
      </p:sp>
      <p:sp>
        <p:nvSpPr>
          <p:cNvPr id="33" name="Shape 9">
            <a:extLst>
              <a:ext uri="{FF2B5EF4-FFF2-40B4-BE49-F238E27FC236}">
                <a16:creationId xmlns:a16="http://schemas.microsoft.com/office/drawing/2014/main" id="{075C146A-525E-EAB1-2438-92AF6E344C2C}"/>
              </a:ext>
            </a:extLst>
          </p:cNvPr>
          <p:cNvSpPr/>
          <p:nvPr/>
        </p:nvSpPr>
        <p:spPr>
          <a:xfrm rot="18195971">
            <a:off x="6482126" y="2528680"/>
            <a:ext cx="2103120" cy="109728"/>
          </a:xfrm>
          <a:prstGeom prst="rect">
            <a:avLst/>
          </a:prstGeom>
          <a:solidFill>
            <a:srgbClr val="4FC3F7"/>
          </a:solidFill>
          <a:ln/>
        </p:spPr>
        <p:txBody>
          <a:bodyPr/>
          <a:lstStyle/>
          <a:p>
            <a:endParaRPr lang="en-IN"/>
          </a:p>
        </p:txBody>
      </p:sp>
      <p:sp>
        <p:nvSpPr>
          <p:cNvPr id="39" name="Shape 9">
            <a:extLst>
              <a:ext uri="{FF2B5EF4-FFF2-40B4-BE49-F238E27FC236}">
                <a16:creationId xmlns:a16="http://schemas.microsoft.com/office/drawing/2014/main" id="{ED47441A-C600-ACAC-5391-EF118874C98C}"/>
              </a:ext>
            </a:extLst>
          </p:cNvPr>
          <p:cNvSpPr/>
          <p:nvPr/>
        </p:nvSpPr>
        <p:spPr>
          <a:xfrm rot="18195971">
            <a:off x="6735713" y="2647223"/>
            <a:ext cx="1872046" cy="116269"/>
          </a:xfrm>
          <a:prstGeom prst="rect">
            <a:avLst/>
          </a:prstGeom>
          <a:solidFill>
            <a:srgbClr val="4FC3F7"/>
          </a:solidFill>
          <a:ln/>
        </p:spPr>
        <p:txBody>
          <a:bodyPr/>
          <a:lstStyle/>
          <a:p>
            <a:endParaRPr lang="en-IN"/>
          </a:p>
        </p:txBody>
      </p:sp>
      <p:pic>
        <p:nvPicPr>
          <p:cNvPr id="46" name="Picture 45">
            <a:extLst>
              <a:ext uri="{FF2B5EF4-FFF2-40B4-BE49-F238E27FC236}">
                <a16:creationId xmlns:a16="http://schemas.microsoft.com/office/drawing/2014/main" id="{21A2EF52-784B-5BFA-EB88-FB9E7588BFF8}"/>
              </a:ext>
            </a:extLst>
          </p:cNvPr>
          <p:cNvPicPr>
            <a:picLocks noChangeAspect="1"/>
          </p:cNvPicPr>
          <p:nvPr/>
        </p:nvPicPr>
        <p:blipFill>
          <a:blip r:embed="rId10"/>
          <a:srcRect b="19729"/>
          <a:stretch>
            <a:fillRect/>
          </a:stretch>
        </p:blipFill>
        <p:spPr>
          <a:xfrm>
            <a:off x="494316" y="1096875"/>
            <a:ext cx="3239310" cy="1554439"/>
          </a:xfrm>
          <a:prstGeom prst="rect">
            <a:avLst/>
          </a:prstGeom>
        </p:spPr>
      </p:pic>
      <p:sp>
        <p:nvSpPr>
          <p:cNvPr id="27" name="TextBox 26">
            <a:extLst>
              <a:ext uri="{FF2B5EF4-FFF2-40B4-BE49-F238E27FC236}">
                <a16:creationId xmlns:a16="http://schemas.microsoft.com/office/drawing/2014/main" id="{B2202300-FC1C-8E3B-CB97-E48EC16A4CF7}"/>
              </a:ext>
            </a:extLst>
          </p:cNvPr>
          <p:cNvSpPr txBox="1"/>
          <p:nvPr/>
        </p:nvSpPr>
        <p:spPr>
          <a:xfrm>
            <a:off x="911379" y="2758455"/>
            <a:ext cx="3116628" cy="369332"/>
          </a:xfrm>
          <a:prstGeom prst="rect">
            <a:avLst/>
          </a:prstGeom>
          <a:noFill/>
        </p:spPr>
        <p:txBody>
          <a:bodyPr wrap="square">
            <a:spAutoFit/>
          </a:bodyPr>
          <a:lstStyle/>
          <a:p>
            <a:pPr algn="ctr"/>
            <a:r>
              <a:rPr lang="en-IN" b="1" dirty="0">
                <a:solidFill>
                  <a:schemeClr val="bg1"/>
                </a:solidFill>
              </a:rPr>
              <a:t>PRESENTATION 2026</a:t>
            </a:r>
          </a:p>
        </p:txBody>
      </p:sp>
      <p:pic>
        <p:nvPicPr>
          <p:cNvPr id="37" name="Picture 36">
            <a:extLst>
              <a:ext uri="{FF2B5EF4-FFF2-40B4-BE49-F238E27FC236}">
                <a16:creationId xmlns:a16="http://schemas.microsoft.com/office/drawing/2014/main" id="{6F3515B0-1652-D426-63D5-22DC8CD53F6A}"/>
              </a:ext>
            </a:extLst>
          </p:cNvPr>
          <p:cNvPicPr>
            <a:picLocks noChangeAspect="1"/>
          </p:cNvPicPr>
          <p:nvPr/>
        </p:nvPicPr>
        <p:blipFill>
          <a:blip r:embed="rId11"/>
          <a:stretch>
            <a:fillRect/>
          </a:stretch>
        </p:blipFill>
        <p:spPr>
          <a:xfrm>
            <a:off x="100214" y="2730536"/>
            <a:ext cx="3988717" cy="374122"/>
          </a:xfrm>
          <a:prstGeom prst="rect">
            <a:avLst/>
          </a:prstGeom>
        </p:spPr>
      </p:pic>
      <p:sp>
        <p:nvSpPr>
          <p:cNvPr id="38" name="TextBox 37">
            <a:extLst>
              <a:ext uri="{FF2B5EF4-FFF2-40B4-BE49-F238E27FC236}">
                <a16:creationId xmlns:a16="http://schemas.microsoft.com/office/drawing/2014/main" id="{27E6BFE0-5718-FECB-586E-5C4E70ADCF04}"/>
              </a:ext>
            </a:extLst>
          </p:cNvPr>
          <p:cNvSpPr txBox="1"/>
          <p:nvPr/>
        </p:nvSpPr>
        <p:spPr>
          <a:xfrm>
            <a:off x="189009" y="2756922"/>
            <a:ext cx="3544617" cy="307777"/>
          </a:xfrm>
          <a:prstGeom prst="rect">
            <a:avLst/>
          </a:prstGeom>
          <a:noFill/>
        </p:spPr>
        <p:txBody>
          <a:bodyPr wrap="square" rtlCol="0">
            <a:spAutoFit/>
          </a:bodyPr>
          <a:lstStyle/>
          <a:p>
            <a:r>
              <a:rPr lang="en-US" sz="1400" b="1" dirty="0">
                <a:solidFill>
                  <a:schemeClr val="bg1"/>
                </a:solidFill>
                <a:latin typeface="Arial" panose="020B0604020202020204" pitchFamily="34" charset="0"/>
                <a:cs typeface="Arial" panose="020B0604020202020204" pitchFamily="34" charset="0"/>
              </a:rPr>
              <a:t>PRESENTATION 2026</a:t>
            </a:r>
            <a:endParaRPr lang="en-IN" sz="1400" b="1" dirty="0">
              <a:solidFill>
                <a:schemeClr val="bg1"/>
              </a:solidFill>
              <a:latin typeface="Arial" panose="020B0604020202020204" pitchFamily="34" charset="0"/>
              <a:cs typeface="Arial" panose="020B0604020202020204" pitchFamily="34" charset="0"/>
            </a:endParaRPr>
          </a:p>
        </p:txBody>
      </p:sp>
      <p:sp>
        <p:nvSpPr>
          <p:cNvPr id="45" name="TextBox 44">
            <a:extLst>
              <a:ext uri="{FF2B5EF4-FFF2-40B4-BE49-F238E27FC236}">
                <a16:creationId xmlns:a16="http://schemas.microsoft.com/office/drawing/2014/main" id="{D12D45ED-43AE-BEC0-3F19-8732378125C2}"/>
              </a:ext>
            </a:extLst>
          </p:cNvPr>
          <p:cNvSpPr txBox="1"/>
          <p:nvPr/>
        </p:nvSpPr>
        <p:spPr>
          <a:xfrm>
            <a:off x="591433" y="3244828"/>
            <a:ext cx="4793981" cy="307777"/>
          </a:xfrm>
          <a:prstGeom prst="rect">
            <a:avLst/>
          </a:prstGeom>
          <a:noFill/>
        </p:spPr>
        <p:txBody>
          <a:bodyPr wrap="square" rtlCol="0">
            <a:spAutoFit/>
          </a:bodyPr>
          <a:lstStyle/>
          <a:p>
            <a:pPr algn="ctr"/>
            <a:r>
              <a:rPr lang="en-US" sz="1400" b="1" dirty="0">
                <a:solidFill>
                  <a:srgbClr val="0070C0"/>
                </a:solidFill>
                <a:latin typeface="Arial" panose="020B0604020202020204" pitchFamily="34" charset="0"/>
                <a:cs typeface="Arial" panose="020B0604020202020204" pitchFamily="34" charset="0"/>
              </a:rPr>
              <a:t>Crystal Pay: Clean Data, Clear Financial Decisions</a:t>
            </a:r>
            <a:endParaRPr lang="en-IN" sz="1400" b="1" dirty="0">
              <a:solidFill>
                <a:srgbClr val="0070C0"/>
              </a:solidFill>
              <a:latin typeface="Arial" panose="020B0604020202020204" pitchFamily="34" charset="0"/>
              <a:cs typeface="Arial" panose="020B0604020202020204" pitchFamily="34" charset="0"/>
            </a:endParaRPr>
          </a:p>
        </p:txBody>
      </p:sp>
      <p:pic>
        <p:nvPicPr>
          <p:cNvPr id="48" name="Picture 47">
            <a:extLst>
              <a:ext uri="{FF2B5EF4-FFF2-40B4-BE49-F238E27FC236}">
                <a16:creationId xmlns:a16="http://schemas.microsoft.com/office/drawing/2014/main" id="{8FEF31C6-29C1-437C-EE52-AD321FF3BEEF}"/>
              </a:ext>
            </a:extLst>
          </p:cNvPr>
          <p:cNvPicPr>
            <a:picLocks noChangeAspect="1"/>
          </p:cNvPicPr>
          <p:nvPr/>
        </p:nvPicPr>
        <p:blipFill>
          <a:blip r:embed="rId12"/>
          <a:stretch>
            <a:fillRect/>
          </a:stretch>
        </p:blipFill>
        <p:spPr>
          <a:xfrm>
            <a:off x="3892809" y="4274701"/>
            <a:ext cx="1889924" cy="268247"/>
          </a:xfrm>
          <a:prstGeom prst="rect">
            <a:avLst/>
          </a:prstGeom>
        </p:spPr>
      </p:pic>
      <p:sp>
        <p:nvSpPr>
          <p:cNvPr id="53" name="TextBox 52">
            <a:extLst>
              <a:ext uri="{FF2B5EF4-FFF2-40B4-BE49-F238E27FC236}">
                <a16:creationId xmlns:a16="http://schemas.microsoft.com/office/drawing/2014/main" id="{9B07A018-2851-E85D-D60A-5240B219CD52}"/>
              </a:ext>
            </a:extLst>
          </p:cNvPr>
          <p:cNvSpPr txBox="1"/>
          <p:nvPr/>
        </p:nvSpPr>
        <p:spPr>
          <a:xfrm>
            <a:off x="3876399" y="4498632"/>
            <a:ext cx="2228401" cy="276999"/>
          </a:xfrm>
          <a:prstGeom prst="rect">
            <a:avLst/>
          </a:prstGeom>
          <a:noFill/>
        </p:spPr>
        <p:txBody>
          <a:bodyPr wrap="square">
            <a:spAutoFit/>
          </a:bodyPr>
          <a:lstStyle/>
          <a:p>
            <a:r>
              <a:rPr lang="en-IN" sz="1200" b="1" dirty="0">
                <a:solidFill>
                  <a:srgbClr val="002060"/>
                </a:solidFill>
                <a:latin typeface="Arial" panose="020B0604020202020204" pitchFamily="34" charset="0"/>
                <a:cs typeface="Arial" panose="020B0604020202020204" pitchFamily="34" charset="0"/>
              </a:rPr>
              <a:t>srijoni.gupta@gmail.com</a:t>
            </a:r>
          </a:p>
        </p:txBody>
      </p:sp>
      <p:sp>
        <p:nvSpPr>
          <p:cNvPr id="56" name="TextBox 55">
            <a:extLst>
              <a:ext uri="{FF2B5EF4-FFF2-40B4-BE49-F238E27FC236}">
                <a16:creationId xmlns:a16="http://schemas.microsoft.com/office/drawing/2014/main" id="{9733390C-48E4-085F-3520-10E646B9F5E4}"/>
              </a:ext>
            </a:extLst>
          </p:cNvPr>
          <p:cNvSpPr txBox="1"/>
          <p:nvPr/>
        </p:nvSpPr>
        <p:spPr>
          <a:xfrm>
            <a:off x="4002459" y="3689445"/>
            <a:ext cx="1076085" cy="246221"/>
          </a:xfrm>
          <a:prstGeom prst="rect">
            <a:avLst/>
          </a:prstGeom>
          <a:noFill/>
        </p:spPr>
        <p:txBody>
          <a:bodyPr wrap="square">
            <a:spAutoFit/>
          </a:bodyPr>
          <a:lstStyle/>
          <a:p>
            <a:r>
              <a:rPr lang="en-IN" sz="1000" dirty="0">
                <a:latin typeface="Arial" panose="020B0604020202020204" pitchFamily="34" charset="0"/>
                <a:cs typeface="Arial" panose="020B0604020202020204" pitchFamily="34" charset="0"/>
              </a:rPr>
              <a:t>Student Name</a:t>
            </a:r>
          </a:p>
        </p:txBody>
      </p:sp>
      <p:sp>
        <p:nvSpPr>
          <p:cNvPr id="59" name="TextBox 58">
            <a:extLst>
              <a:ext uri="{FF2B5EF4-FFF2-40B4-BE49-F238E27FC236}">
                <a16:creationId xmlns:a16="http://schemas.microsoft.com/office/drawing/2014/main" id="{65187F72-1724-A993-E206-97FE19D018DD}"/>
              </a:ext>
            </a:extLst>
          </p:cNvPr>
          <p:cNvSpPr txBox="1"/>
          <p:nvPr/>
        </p:nvSpPr>
        <p:spPr>
          <a:xfrm>
            <a:off x="3864889" y="3903518"/>
            <a:ext cx="1563677" cy="276999"/>
          </a:xfrm>
          <a:prstGeom prst="rect">
            <a:avLst/>
          </a:prstGeom>
          <a:noFill/>
        </p:spPr>
        <p:txBody>
          <a:bodyPr wrap="square">
            <a:spAutoFit/>
          </a:bodyPr>
          <a:lstStyle/>
          <a:p>
            <a:r>
              <a:rPr lang="en-IN" sz="1200" b="1" dirty="0">
                <a:solidFill>
                  <a:srgbClr val="002060"/>
                </a:solidFill>
                <a:latin typeface="Arial" panose="020B0604020202020204" pitchFamily="34" charset="0"/>
                <a:cs typeface="Arial" panose="020B0604020202020204" pitchFamily="34" charset="0"/>
              </a:rPr>
              <a:t>Srijoni Gupta</a:t>
            </a:r>
          </a:p>
        </p:txBody>
      </p:sp>
    </p:spTree>
    <p:custDataLst>
      <p:tags r:id="rId1"/>
    </p:custDataLst>
    <p:extLst>
      <p:ext uri="{BB962C8B-B14F-4D97-AF65-F5344CB8AC3E}">
        <p14:creationId xmlns:p14="http://schemas.microsoft.com/office/powerpoint/2010/main" val="1212236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10217"/>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Outline</a:t>
            </a:r>
            <a:endParaRPr lang="en-US" sz="2000" dirty="0">
              <a:latin typeface="Lato" panose="020F0502020204030203" pitchFamily="34" charset="0"/>
              <a:cs typeface="Arial" panose="020B0604020202020204" pitchFamily="34" charset="0"/>
            </a:endParaRPr>
          </a:p>
        </p:txBody>
      </p:sp>
      <p:sp>
        <p:nvSpPr>
          <p:cNvPr id="24" name="TextBox 23">
            <a:extLst>
              <a:ext uri="{FF2B5EF4-FFF2-40B4-BE49-F238E27FC236}">
                <a16:creationId xmlns:a16="http://schemas.microsoft.com/office/drawing/2014/main" id="{90865657-EE51-429D-40B6-B64C80E4AB47}"/>
              </a:ext>
            </a:extLst>
          </p:cNvPr>
          <p:cNvSpPr txBox="1"/>
          <p:nvPr/>
        </p:nvSpPr>
        <p:spPr>
          <a:xfrm>
            <a:off x="125239" y="1080603"/>
            <a:ext cx="4446761" cy="3026470"/>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dirty="0">
                <a:solidFill>
                  <a:schemeClr val="tx1"/>
                </a:solidFill>
                <a:effectLst/>
                <a:latin typeface="Lato" panose="020F0502020204030203" pitchFamily="34" charset="0"/>
                <a:ea typeface="Times New Roman" panose="02020603050405020304" pitchFamily="18" charset="0"/>
                <a:cs typeface="Arial" panose="020B0604020202020204" pitchFamily="34" charset="0"/>
              </a:rPr>
              <a:t>Abstract of the Project</a:t>
            </a:r>
            <a:endParaRPr lang="en-IN" sz="1800" dirty="0">
              <a:solidFill>
                <a:schemeClr val="tx1"/>
              </a:solidFill>
              <a:latin typeface="Lato" panose="020F0502020204030203" pitchFamily="34" charset="0"/>
              <a:ea typeface="Times New Roman" panose="02020603050405020304" pitchFamily="18" charset="0"/>
              <a:cs typeface="Arial" panose="020B0604020202020204" pitchFamily="34" charset="0"/>
            </a:endParaRP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Problem Statement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Proposed Solution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System Architecture</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Live Demo of the Project</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Embedded Video of Project</a:t>
            </a:r>
          </a:p>
          <a:p>
            <a:pPr marL="228600" indent="-228600">
              <a:spcAft>
                <a:spcPts val="800"/>
              </a:spcAft>
              <a:buFont typeface="Arial" panose="020B0604020202020204" pitchFamily="34" charset="0"/>
              <a:buChar char="•"/>
              <a:tabLst>
                <a:tab pos="4229100" algn="ctr"/>
              </a:tabLst>
            </a:pPr>
            <a:r>
              <a:rPr lang="en-IN" sz="1800" dirty="0">
                <a:latin typeface="Lato" panose="020F0502020204030203" pitchFamily="34" charset="0"/>
                <a:ea typeface="+mn-lt"/>
                <a:cs typeface="Arial" panose="020B0604020202020204" pitchFamily="34" charset="0"/>
              </a:rPr>
              <a:t>Conclusion</a:t>
            </a:r>
          </a:p>
          <a:p>
            <a:pPr marL="228600" indent="-228600">
              <a:spcAft>
                <a:spcPts val="800"/>
              </a:spcAft>
              <a:buFont typeface="Arial" panose="020B0604020202020204" pitchFamily="34" charset="0"/>
              <a:buChar char="•"/>
              <a:tabLst>
                <a:tab pos="4229100" algn="ctr"/>
              </a:tabLst>
            </a:pPr>
            <a:r>
              <a:rPr lang="en-US" sz="1800" dirty="0">
                <a:latin typeface="Lato" panose="020F0502020204030203" pitchFamily="34" charset="0"/>
                <a:ea typeface="+mn-lt"/>
                <a:cs typeface="Arial" panose="020B0604020202020204" pitchFamily="34" charset="0"/>
              </a:rPr>
              <a:t>Future Scope</a:t>
            </a:r>
          </a:p>
        </p:txBody>
      </p:sp>
      <p:pic>
        <p:nvPicPr>
          <p:cNvPr id="25" name="Picture 24" descr="A screen shot of a computer&#10;&#10;AI-generated content may be incorrect.">
            <a:extLst>
              <a:ext uri="{FF2B5EF4-FFF2-40B4-BE49-F238E27FC236}">
                <a16:creationId xmlns:a16="http://schemas.microsoft.com/office/drawing/2014/main" id="{C3A7F110-9D19-8523-45D3-77B1951C8835}"/>
              </a:ext>
            </a:extLst>
          </p:cNvPr>
          <p:cNvPicPr>
            <a:picLocks noChangeAspect="1"/>
          </p:cNvPicPr>
          <p:nvPr/>
        </p:nvPicPr>
        <p:blipFill>
          <a:blip r:embed="rId4">
            <a:duotone>
              <a:schemeClr val="accent1">
                <a:shade val="45000"/>
                <a:satMod val="135000"/>
              </a:schemeClr>
              <a:prstClr val="white"/>
            </a:duotone>
          </a:blip>
          <a:srcRect l="25250" t="7320" r="18976" b="28715"/>
          <a:stretch>
            <a:fillRect/>
          </a:stretch>
        </p:blipFill>
        <p:spPr>
          <a:xfrm>
            <a:off x="5378824" y="1034325"/>
            <a:ext cx="2868706" cy="3290047"/>
          </a:xfrm>
          <a:prstGeom prst="rect">
            <a:avLst/>
          </a:prstGeom>
        </p:spPr>
      </p:pic>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40079" y="6075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Abstract</a:t>
            </a:r>
            <a:endParaRPr lang="en-US" sz="2000" dirty="0">
              <a:latin typeface="Lato" panose="020F0502020204030203" pitchFamily="34" charset="0"/>
              <a:cs typeface="Arial" panose="020B0604020202020204" pitchFamily="34" charset="0"/>
            </a:endParaRPr>
          </a:p>
        </p:txBody>
      </p:sp>
      <p:sp>
        <p:nvSpPr>
          <p:cNvPr id="7" name="TextBox 6">
            <a:extLst>
              <a:ext uri="{FF2B5EF4-FFF2-40B4-BE49-F238E27FC236}">
                <a16:creationId xmlns:a16="http://schemas.microsoft.com/office/drawing/2014/main" id="{38849028-F25C-7DA0-DE56-0DC142EECABD}"/>
              </a:ext>
            </a:extLst>
          </p:cNvPr>
          <p:cNvSpPr txBox="1"/>
          <p:nvPr/>
        </p:nvSpPr>
        <p:spPr>
          <a:xfrm>
            <a:off x="125240" y="1082801"/>
            <a:ext cx="5002346" cy="2616101"/>
          </a:xfrm>
          <a:prstGeom prst="rect">
            <a:avLst/>
          </a:prstGeom>
          <a:noFill/>
        </p:spPr>
        <p:txBody>
          <a:bodyPr wrap="square">
            <a:spAutoFit/>
          </a:bodyPr>
          <a:lstStyle/>
          <a:p>
            <a:pPr marL="228600" indent="-228600">
              <a:spcAft>
                <a:spcPts val="800"/>
              </a:spcAft>
              <a:buFont typeface="Arial" panose="020B0604020202020204" pitchFamily="34" charset="0"/>
              <a:buChar char="•"/>
              <a:tabLst>
                <a:tab pos="4229100" algn="ctr"/>
              </a:tabLst>
            </a:pPr>
            <a:r>
              <a:rPr lang="en-US" sz="1800" b="1" dirty="0">
                <a:latin typeface="Lato" panose="020F0502020204030203" pitchFamily="34" charset="0"/>
                <a:ea typeface="+mn-lt"/>
                <a:cs typeface="Arial" panose="020B0604020202020204" pitchFamily="34" charset="0"/>
              </a:rPr>
              <a:t>Objective: </a:t>
            </a:r>
            <a:r>
              <a:rPr lang="en-US" sz="1800" dirty="0">
                <a:latin typeface="Lato" panose="020F0502020204030203" pitchFamily="34" charset="0"/>
                <a:ea typeface="+mn-lt"/>
                <a:cs typeface="Arial" panose="020B0604020202020204" pitchFamily="34" charset="0"/>
              </a:rPr>
              <a:t>Improve payroll accuracy, transparency, and compliance.</a:t>
            </a:r>
          </a:p>
          <a:p>
            <a:pPr marL="228600" indent="-228600">
              <a:spcAft>
                <a:spcPts val="800"/>
              </a:spcAft>
              <a:buFont typeface="Arial" panose="020B0604020202020204" pitchFamily="34" charset="0"/>
              <a:buChar char="•"/>
              <a:tabLst>
                <a:tab pos="4229100" algn="ctr"/>
              </a:tabLst>
            </a:pPr>
            <a:r>
              <a:rPr lang="en-US" sz="1800" b="1" dirty="0">
                <a:latin typeface="Lato" panose="020F0502020204030203" pitchFamily="34" charset="0"/>
                <a:ea typeface="+mn-lt"/>
                <a:cs typeface="Arial" panose="020B0604020202020204" pitchFamily="34" charset="0"/>
              </a:rPr>
              <a:t>Tools: </a:t>
            </a:r>
            <a:r>
              <a:rPr lang="en-US" sz="1800" dirty="0">
                <a:latin typeface="Lato" panose="020F0502020204030203" pitchFamily="34" charset="0"/>
                <a:ea typeface="+mn-lt"/>
                <a:cs typeface="Arial" panose="020B0604020202020204" pitchFamily="34" charset="0"/>
              </a:rPr>
              <a:t>Microsoft Excel, AI Chatbot in Copilot </a:t>
            </a:r>
            <a:r>
              <a:rPr lang="en-US" sz="1800">
                <a:latin typeface="Lato" panose="020F0502020204030203" pitchFamily="34" charset="0"/>
                <a:ea typeface="+mn-lt"/>
                <a:cs typeface="Arial" panose="020B0604020202020204" pitchFamily="34" charset="0"/>
              </a:rPr>
              <a:t>Studio </a:t>
            </a:r>
            <a:r>
              <a:rPr lang="en-US">
                <a:latin typeface="Lato" panose="020F0502020204030203" pitchFamily="34" charset="0"/>
                <a:ea typeface="+mn-lt"/>
                <a:cs typeface="Arial" panose="020B0604020202020204" pitchFamily="34" charset="0"/>
              </a:rPr>
              <a:t>and </a:t>
            </a:r>
            <a:r>
              <a:rPr lang="en-US" sz="1800">
                <a:latin typeface="Lato" panose="020F0502020204030203" pitchFamily="34" charset="0"/>
                <a:ea typeface="+mn-lt"/>
                <a:cs typeface="Arial" panose="020B0604020202020204" pitchFamily="34" charset="0"/>
              </a:rPr>
              <a:t>Power </a:t>
            </a:r>
            <a:r>
              <a:rPr lang="en-US" sz="1800" dirty="0">
                <a:latin typeface="Lato" panose="020F0502020204030203" pitchFamily="34" charset="0"/>
                <a:ea typeface="+mn-lt"/>
                <a:cs typeface="Arial" panose="020B0604020202020204" pitchFamily="34" charset="0"/>
              </a:rPr>
              <a:t>BI.</a:t>
            </a:r>
          </a:p>
          <a:p>
            <a:pPr marL="228600" indent="-228600">
              <a:spcAft>
                <a:spcPts val="800"/>
              </a:spcAft>
              <a:buFont typeface="Arial" panose="020B0604020202020204" pitchFamily="34" charset="0"/>
              <a:buChar char="•"/>
              <a:tabLst>
                <a:tab pos="4229100" algn="ctr"/>
              </a:tabLst>
            </a:pPr>
            <a:r>
              <a:rPr lang="en-US" sz="1800" b="1" dirty="0">
                <a:latin typeface="Lato" panose="020F0502020204030203" pitchFamily="34" charset="0"/>
                <a:ea typeface="+mn-lt"/>
                <a:cs typeface="Arial" panose="020B0604020202020204" pitchFamily="34" charset="0"/>
              </a:rPr>
              <a:t>Method: </a:t>
            </a:r>
            <a:r>
              <a:rPr lang="en-US" sz="1800" dirty="0">
                <a:latin typeface="Lato" panose="020F0502020204030203" pitchFamily="34" charset="0"/>
                <a:ea typeface="+mn-lt"/>
                <a:cs typeface="Arial" panose="020B0604020202020204" pitchFamily="34" charset="0"/>
              </a:rPr>
              <a:t>Data cleaning, KPI analysis, dashboards.</a:t>
            </a:r>
          </a:p>
          <a:p>
            <a:pPr marL="228600" indent="-228600">
              <a:spcAft>
                <a:spcPts val="800"/>
              </a:spcAft>
              <a:buFont typeface="Arial" panose="020B0604020202020204" pitchFamily="34" charset="0"/>
              <a:buChar char="•"/>
              <a:tabLst>
                <a:tab pos="4229100" algn="ctr"/>
              </a:tabLst>
            </a:pPr>
            <a:r>
              <a:rPr lang="en-US" sz="1800" b="1" dirty="0">
                <a:latin typeface="Lato" panose="020F0502020204030203" pitchFamily="34" charset="0"/>
                <a:ea typeface="+mn-lt"/>
                <a:cs typeface="Arial" panose="020B0604020202020204" pitchFamily="34" charset="0"/>
              </a:rPr>
              <a:t>Outcome: </a:t>
            </a:r>
            <a:r>
              <a:rPr lang="en-US" sz="1800" dirty="0">
                <a:latin typeface="Lato" panose="020F0502020204030203" pitchFamily="34" charset="0"/>
                <a:ea typeface="+mn-lt"/>
                <a:cs typeface="Arial" panose="020B0604020202020204" pitchFamily="34" charset="0"/>
              </a:rPr>
              <a:t>Validated payroll dataset, KPI framework, stakeholder-ready dashboards.</a:t>
            </a:r>
          </a:p>
        </p:txBody>
      </p:sp>
      <p:sp>
        <p:nvSpPr>
          <p:cNvPr id="2" name="Freeform 28">
            <a:extLst>
              <a:ext uri="{FF2B5EF4-FFF2-40B4-BE49-F238E27FC236}">
                <a16:creationId xmlns:a16="http://schemas.microsoft.com/office/drawing/2014/main" id="{AA7F05EE-340D-A58A-BAD0-FB0660B2D339}"/>
              </a:ext>
            </a:extLst>
          </p:cNvPr>
          <p:cNvSpPr/>
          <p:nvPr/>
        </p:nvSpPr>
        <p:spPr>
          <a:xfrm>
            <a:off x="5814470" y="1082801"/>
            <a:ext cx="3070450" cy="2997875"/>
          </a:xfrm>
          <a:custGeom>
            <a:avLst/>
            <a:gdLst/>
            <a:ahLst/>
            <a:cxnLst/>
            <a:rect l="l" t="t" r="r" b="b"/>
            <a:pathLst>
              <a:path w="4114800" h="4017541">
                <a:moveTo>
                  <a:pt x="0" y="0"/>
                </a:moveTo>
                <a:lnTo>
                  <a:pt x="4114800" y="0"/>
                </a:lnTo>
                <a:lnTo>
                  <a:pt x="4114800" y="4017541"/>
                </a:lnTo>
                <a:lnTo>
                  <a:pt x="0" y="401754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27B2E24-A610-1C01-FCDD-9B6B67A72E49}"/>
              </a:ext>
            </a:extLst>
          </p:cNvPr>
          <p:cNvPicPr>
            <a:picLocks noChangeAspect="1"/>
          </p:cNvPicPr>
          <p:nvPr/>
        </p:nvPicPr>
        <p:blipFill>
          <a:blip r:embed="rId4"/>
          <a:stretch>
            <a:fillRect/>
          </a:stretch>
        </p:blipFill>
        <p:spPr>
          <a:xfrm>
            <a:off x="5538951" y="1050198"/>
            <a:ext cx="3484425" cy="3484425"/>
          </a:xfrm>
          <a:prstGeom prst="rect">
            <a:avLst/>
          </a:prstGeom>
        </p:spPr>
      </p:pic>
      <p:sp>
        <p:nvSpPr>
          <p:cNvPr id="4" name="Text 2"/>
          <p:cNvSpPr/>
          <p:nvPr/>
        </p:nvSpPr>
        <p:spPr>
          <a:xfrm>
            <a:off x="120623" y="611286"/>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Problem Statement</a:t>
            </a:r>
            <a:endParaRPr lang="en-US" sz="2000" dirty="0">
              <a:latin typeface="Lato" panose="020F0502020204030203" pitchFamily="34" charset="0"/>
              <a:cs typeface="Arial" panose="020B0604020202020204" pitchFamily="34" charset="0"/>
            </a:endParaRPr>
          </a:p>
        </p:txBody>
      </p:sp>
      <p:sp>
        <p:nvSpPr>
          <p:cNvPr id="5" name="TextBox 4">
            <a:extLst>
              <a:ext uri="{FF2B5EF4-FFF2-40B4-BE49-F238E27FC236}">
                <a16:creationId xmlns:a16="http://schemas.microsoft.com/office/drawing/2014/main" id="{8E93A78F-F646-F67D-C35E-B21C1E9DC159}"/>
              </a:ext>
            </a:extLst>
          </p:cNvPr>
          <p:cNvSpPr txBox="1"/>
          <p:nvPr/>
        </p:nvSpPr>
        <p:spPr>
          <a:xfrm>
            <a:off x="120623" y="1166648"/>
            <a:ext cx="5227718" cy="3323987"/>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Transaction Forecasting Accuracy Optimization: </a:t>
            </a:r>
            <a:r>
              <a:rPr lang="en-US" sz="1400" dirty="0">
                <a:latin typeface="Arial" panose="020B0604020202020204" pitchFamily="34" charset="0"/>
                <a:cs typeface="Arial" panose="020B0604020202020204" pitchFamily="34" charset="0"/>
              </a:rPr>
              <a:t>Crystal Pay users often face challenges in planning their finances due to inaccurate or unclear predictions of their future spending patterns. This leads to inefficient budgeting and unexpected cash shortfalls.</a:t>
            </a:r>
          </a:p>
          <a:p>
            <a:pPr marL="285750" indent="-285750">
              <a:buFont typeface="Arial" panose="020B0604020202020204" pitchFamily="34" charset="0"/>
              <a:buChar char="•"/>
            </a:pPr>
            <a:endParaRPr lang="en-US"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Customer Segmentation for Smarter Financial Insights: </a:t>
            </a:r>
            <a:r>
              <a:rPr lang="en-US" sz="1400" dirty="0">
                <a:latin typeface="Arial" panose="020B0604020202020204" pitchFamily="34" charset="0"/>
                <a:cs typeface="Arial" panose="020B0604020202020204" pitchFamily="34" charset="0"/>
              </a:rPr>
              <a:t>Without a clear understanding of user behavior, Crystal Pay is unable to deliver personalized financial recommendations, resulting in generic insights that may not benefit all users.</a:t>
            </a:r>
          </a:p>
          <a:p>
            <a:pPr marL="285750" indent="-285750">
              <a:buFont typeface="Arial" panose="020B0604020202020204" pitchFamily="34" charset="0"/>
              <a:buChar char="•"/>
            </a:pPr>
            <a:endParaRPr lang="en-US" sz="1400" b="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Demand Prediction &amp; Wallet Balance Optimization: </a:t>
            </a:r>
            <a:r>
              <a:rPr lang="en-US" sz="1400" dirty="0">
                <a:latin typeface="Arial" panose="020B0604020202020204" pitchFamily="34" charset="0"/>
                <a:cs typeface="Arial" panose="020B0604020202020204" pitchFamily="34" charset="0"/>
              </a:rPr>
              <a:t>Users often run low on wallet balance due to unanticipated spending, while others maintain unnecessarily high balances, resulting in poor financial planning.</a:t>
            </a:r>
          </a:p>
        </p:txBody>
      </p:sp>
    </p:spTree>
    <p:custDataLst>
      <p:tags r:id="rId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64C0405-64E1-9D57-DFAC-F707D6EA176F}"/>
              </a:ext>
            </a:extLst>
          </p:cNvPr>
          <p:cNvPicPr>
            <a:picLocks noChangeAspect="1"/>
          </p:cNvPicPr>
          <p:nvPr/>
        </p:nvPicPr>
        <p:blipFill>
          <a:blip r:embed="rId2"/>
          <a:stretch>
            <a:fillRect/>
          </a:stretch>
        </p:blipFill>
        <p:spPr>
          <a:xfrm>
            <a:off x="5452627" y="809248"/>
            <a:ext cx="3525003" cy="3525003"/>
          </a:xfrm>
          <a:prstGeom prst="rect">
            <a:avLst/>
          </a:prstGeom>
        </p:spPr>
      </p:pic>
      <p:sp>
        <p:nvSpPr>
          <p:cNvPr id="4" name="TextBox 3">
            <a:extLst>
              <a:ext uri="{FF2B5EF4-FFF2-40B4-BE49-F238E27FC236}">
                <a16:creationId xmlns:a16="http://schemas.microsoft.com/office/drawing/2014/main" id="{D6A00E46-F4A2-7B77-A4F3-026C3905F1FE}"/>
              </a:ext>
            </a:extLst>
          </p:cNvPr>
          <p:cNvSpPr txBox="1"/>
          <p:nvPr/>
        </p:nvSpPr>
        <p:spPr>
          <a:xfrm>
            <a:off x="274320" y="660400"/>
            <a:ext cx="4511040" cy="400110"/>
          </a:xfrm>
          <a:prstGeom prst="rect">
            <a:avLst/>
          </a:prstGeom>
          <a:noFill/>
        </p:spPr>
        <p:txBody>
          <a:bodyPr wrap="square" rtlCol="0">
            <a:spAutoFit/>
          </a:bodyPr>
          <a:lstStyle/>
          <a:p>
            <a:r>
              <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Problem Statement</a:t>
            </a:r>
          </a:p>
        </p:txBody>
      </p:sp>
      <p:sp>
        <p:nvSpPr>
          <p:cNvPr id="7" name="TextBox 6">
            <a:extLst>
              <a:ext uri="{FF2B5EF4-FFF2-40B4-BE49-F238E27FC236}">
                <a16:creationId xmlns:a16="http://schemas.microsoft.com/office/drawing/2014/main" id="{7C760469-C213-7CF7-51B6-D1B2C92C6A80}"/>
              </a:ext>
            </a:extLst>
          </p:cNvPr>
          <p:cNvSpPr txBox="1"/>
          <p:nvPr/>
        </p:nvSpPr>
        <p:spPr>
          <a:xfrm>
            <a:off x="308610" y="1312671"/>
            <a:ext cx="4944627" cy="2677656"/>
          </a:xfrm>
          <a:prstGeom prst="rect">
            <a:avLst/>
          </a:prstGeom>
          <a:noFill/>
        </p:spPr>
        <p:txBody>
          <a:bodyPr wrap="square" rtlCol="0">
            <a:spAutoFit/>
          </a:bodyPr>
          <a:lstStyle/>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Financial Performance &amp; User Activity Analytics</a:t>
            </a:r>
          </a:p>
          <a:p>
            <a:pPr marL="285750" indent="-285750">
              <a:buFont typeface="Arial" panose="020B0604020202020204" pitchFamily="34" charset="0"/>
              <a:buChar char="•"/>
            </a:pPr>
            <a:r>
              <a:rPr lang="en-US" sz="1400" dirty="0">
                <a:latin typeface="Arial" panose="020B0604020202020204" pitchFamily="34" charset="0"/>
                <a:ea typeface="Lato" panose="020F0502020204030203" pitchFamily="34" charset="0"/>
                <a:cs typeface="Arial" panose="020B0604020202020204" pitchFamily="34" charset="0"/>
              </a:rPr>
              <a:t>Crystal Pay currently lacks a data-driven understanding of user trends, regional transaction patterns, and overall financial activity, which limits strategic decision-making.</a:t>
            </a:r>
          </a:p>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Pricing &amp; Fee Strategy Optimization</a:t>
            </a:r>
          </a:p>
          <a:p>
            <a:pPr marL="285750" indent="-285750">
              <a:buFont typeface="Arial" panose="020B0604020202020204" pitchFamily="34" charset="0"/>
              <a:buChar char="•"/>
            </a:pPr>
            <a:r>
              <a:rPr lang="en-US" sz="1400" dirty="0">
                <a:latin typeface="Arial" panose="020B0604020202020204" pitchFamily="34" charset="0"/>
                <a:ea typeface="Lato" panose="020F0502020204030203" pitchFamily="34" charset="0"/>
                <a:cs typeface="Arial" panose="020B0604020202020204" pitchFamily="34" charset="0"/>
              </a:rPr>
              <a:t>Inefficient fee structures and pricing strategies (e.g., service fees, cashback rules) can negatively impact user adoption and revenue generation.</a:t>
            </a:r>
          </a:p>
          <a:p>
            <a:pPr marL="285750" indent="-285750">
              <a:buFont typeface="Arial" panose="020B0604020202020204" pitchFamily="34" charset="0"/>
              <a:buChar char="•"/>
            </a:pPr>
            <a:r>
              <a:rPr lang="en-US" sz="1400" b="1" dirty="0">
                <a:latin typeface="Arial" panose="020B0604020202020204" pitchFamily="34" charset="0"/>
                <a:ea typeface="Lato" panose="020F0502020204030203" pitchFamily="34" charset="0"/>
                <a:cs typeface="Arial" panose="020B0604020202020204" pitchFamily="34" charset="0"/>
              </a:rPr>
              <a:t>User Churn Prediction &amp; Retention Modeling</a:t>
            </a:r>
          </a:p>
          <a:p>
            <a:pPr marL="285750" indent="-285750">
              <a:buFont typeface="Arial" panose="020B0604020202020204" pitchFamily="34" charset="0"/>
              <a:buChar char="•"/>
            </a:pPr>
            <a:r>
              <a:rPr lang="en-US" sz="1400" dirty="0">
                <a:latin typeface="Arial" panose="020B0604020202020204" pitchFamily="34" charset="0"/>
                <a:ea typeface="Lato" panose="020F0502020204030203" pitchFamily="34" charset="0"/>
                <a:cs typeface="Arial" panose="020B0604020202020204" pitchFamily="34" charset="0"/>
              </a:rPr>
              <a:t>Some Crystal Pay users stop using the platform without prior warning, affecting user base growth and long-term business stability</a:t>
            </a:r>
            <a:endParaRPr lang="en-IN" sz="1400" dirty="0">
              <a:latin typeface="Arial" panose="020B0604020202020204" pitchFamily="34" charset="0"/>
              <a:ea typeface="Lato" panose="020F0502020204030203" pitchFamily="34" charset="0"/>
              <a:cs typeface="Arial" panose="020B0604020202020204" pitchFamily="34" charset="0"/>
            </a:endParaRPr>
          </a:p>
        </p:txBody>
      </p:sp>
    </p:spTree>
    <p:extLst>
      <p:ext uri="{BB962C8B-B14F-4D97-AF65-F5344CB8AC3E}">
        <p14:creationId xmlns:p14="http://schemas.microsoft.com/office/powerpoint/2010/main" val="15293319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2D577BF-6817-F539-27F5-EBF5F67317BC}"/>
              </a:ext>
            </a:extLst>
          </p:cNvPr>
          <p:cNvPicPr>
            <a:picLocks noChangeAspect="1"/>
          </p:cNvPicPr>
          <p:nvPr/>
        </p:nvPicPr>
        <p:blipFill>
          <a:blip r:embed="rId2"/>
          <a:stretch>
            <a:fillRect/>
          </a:stretch>
        </p:blipFill>
        <p:spPr>
          <a:xfrm>
            <a:off x="5310387" y="1312671"/>
            <a:ext cx="3525003" cy="3525003"/>
          </a:xfrm>
          <a:prstGeom prst="rect">
            <a:avLst/>
          </a:prstGeom>
        </p:spPr>
      </p:pic>
      <p:sp>
        <p:nvSpPr>
          <p:cNvPr id="5" name="TextBox 4">
            <a:extLst>
              <a:ext uri="{FF2B5EF4-FFF2-40B4-BE49-F238E27FC236}">
                <a16:creationId xmlns:a16="http://schemas.microsoft.com/office/drawing/2014/main" id="{98CFC3BB-879C-67F7-28E4-73E6BF4865FF}"/>
              </a:ext>
            </a:extLst>
          </p:cNvPr>
          <p:cNvSpPr txBox="1"/>
          <p:nvPr/>
        </p:nvSpPr>
        <p:spPr>
          <a:xfrm>
            <a:off x="568960" y="731520"/>
            <a:ext cx="4592320" cy="400110"/>
          </a:xfrm>
          <a:prstGeom prst="rect">
            <a:avLst/>
          </a:prstGeom>
          <a:noFill/>
        </p:spPr>
        <p:txBody>
          <a:bodyPr wrap="square" rtlCol="0">
            <a:spAutoFit/>
          </a:bodyPr>
          <a:lstStyle/>
          <a:p>
            <a:r>
              <a:rPr lang="en-US"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Problem Statement</a:t>
            </a:r>
            <a:endPar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endParaRPr>
          </a:p>
        </p:txBody>
      </p:sp>
      <p:sp>
        <p:nvSpPr>
          <p:cNvPr id="7" name="TextBox 6">
            <a:extLst>
              <a:ext uri="{FF2B5EF4-FFF2-40B4-BE49-F238E27FC236}">
                <a16:creationId xmlns:a16="http://schemas.microsoft.com/office/drawing/2014/main" id="{4C882181-3059-F2E1-5950-2D8E06314F45}"/>
              </a:ext>
            </a:extLst>
          </p:cNvPr>
          <p:cNvSpPr txBox="1"/>
          <p:nvPr/>
        </p:nvSpPr>
        <p:spPr>
          <a:xfrm>
            <a:off x="345440" y="1312671"/>
            <a:ext cx="4490720" cy="2554545"/>
          </a:xfrm>
          <a:prstGeom prst="rect">
            <a:avLst/>
          </a:prstGeom>
          <a:noFill/>
        </p:spPr>
        <p:txBody>
          <a:bodyPr wrap="square" rtlCol="0">
            <a:spAutoFit/>
          </a:bodyPr>
          <a:lstStyle/>
          <a:p>
            <a:pPr marL="285750" indent="-285750">
              <a:buFont typeface="Arial" panose="020B0604020202020204" pitchFamily="34" charset="0"/>
              <a:buChar char="•"/>
            </a:pPr>
            <a:r>
              <a:rPr lang="en-US" sz="1600" b="1" dirty="0">
                <a:ea typeface="Lato" panose="020F0502020204030203" pitchFamily="34" charset="0"/>
                <a:cs typeface="Lato" panose="020F0502020204030203" pitchFamily="34" charset="0"/>
              </a:rPr>
              <a:t>Campaign &amp; Cashback ROI Analysis: </a:t>
            </a:r>
            <a:r>
              <a:rPr lang="en-US" sz="1600" dirty="0">
                <a:ea typeface="Lato" panose="020F0502020204030203" pitchFamily="34" charset="0"/>
                <a:cs typeface="Lato" panose="020F0502020204030203" pitchFamily="34" charset="0"/>
              </a:rPr>
              <a:t>Crystal Pay runs various promotional campaigns, but there is limited clarity on which campaigns successfully increase transactions or user engagement.</a:t>
            </a:r>
          </a:p>
          <a:p>
            <a:pPr marL="285750" indent="-285750">
              <a:buFont typeface="Arial" panose="020B0604020202020204" pitchFamily="34" charset="0"/>
              <a:buChar char="•"/>
            </a:pPr>
            <a:r>
              <a:rPr lang="en-US" sz="1600" b="1" dirty="0">
                <a:ea typeface="Lato" panose="020F0502020204030203" pitchFamily="34" charset="0"/>
                <a:cs typeface="Lato" panose="020F0502020204030203" pitchFamily="34" charset="0"/>
              </a:rPr>
              <a:t>Product Profitability &amp; Feature Optimization: </a:t>
            </a:r>
            <a:r>
              <a:rPr lang="en-US" sz="1600" dirty="0">
                <a:ea typeface="Lato" panose="020F0502020204030203" pitchFamily="34" charset="0"/>
                <a:cs typeface="Lato" panose="020F0502020204030203" pitchFamily="34" charset="0"/>
              </a:rPr>
              <a:t>Not all Crystal Pay features (e.g., bill payments, wallet transfers, recharges) contribute equally to usage or revenue, yet all allocate system resources.</a:t>
            </a:r>
          </a:p>
        </p:txBody>
      </p:sp>
    </p:spTree>
    <p:extLst>
      <p:ext uri="{BB962C8B-B14F-4D97-AF65-F5344CB8AC3E}">
        <p14:creationId xmlns:p14="http://schemas.microsoft.com/office/powerpoint/2010/main" val="15691717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1F49F94-4102-44CC-056B-FA1BB4DA8DA6}"/>
              </a:ext>
            </a:extLst>
          </p:cNvPr>
          <p:cNvPicPr>
            <a:picLocks noChangeAspect="1"/>
          </p:cNvPicPr>
          <p:nvPr/>
        </p:nvPicPr>
        <p:blipFill>
          <a:blip r:embed="rId4"/>
          <a:stretch>
            <a:fillRect/>
          </a:stretch>
        </p:blipFill>
        <p:spPr>
          <a:xfrm>
            <a:off x="5599216" y="1046013"/>
            <a:ext cx="3179024" cy="2724877"/>
          </a:xfrm>
          <a:prstGeom prst="rect">
            <a:avLst/>
          </a:prstGeom>
        </p:spPr>
      </p:pic>
      <p:sp>
        <p:nvSpPr>
          <p:cNvPr id="4" name="Text 2"/>
          <p:cNvSpPr/>
          <p:nvPr/>
        </p:nvSpPr>
        <p:spPr>
          <a:xfrm>
            <a:off x="125486" y="61693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Proposed Solution</a:t>
            </a:r>
            <a:endParaRPr lang="en-US" sz="2000" dirty="0">
              <a:latin typeface="Lato" panose="020F0502020204030203" pitchFamily="34" charset="0"/>
              <a:cs typeface="Arial" panose="020B0604020202020204" pitchFamily="34" charset="0"/>
            </a:endParaRPr>
          </a:p>
        </p:txBody>
      </p:sp>
      <p:sp>
        <p:nvSpPr>
          <p:cNvPr id="16" name="Text 14"/>
          <p:cNvSpPr/>
          <p:nvPr/>
        </p:nvSpPr>
        <p:spPr>
          <a:xfrm>
            <a:off x="4846320" y="1280160"/>
            <a:ext cx="3931920" cy="1828800"/>
          </a:xfrm>
          <a:prstGeom prst="rect">
            <a:avLst/>
          </a:prstGeom>
          <a:noFill/>
          <a:ln/>
        </p:spPr>
        <p:txBody>
          <a:bodyPr wrap="square" rtlCol="0" anchor="ctr"/>
          <a:lstStyle/>
          <a:p>
            <a:pPr marL="0" indent="0" algn="ctr">
              <a:buNone/>
            </a:pPr>
            <a:endParaRPr lang="en-US" sz="8000" dirty="0"/>
          </a:p>
        </p:txBody>
      </p:sp>
      <p:sp>
        <p:nvSpPr>
          <p:cNvPr id="5" name="Text 12"/>
          <p:cNvSpPr/>
          <p:nvPr/>
        </p:nvSpPr>
        <p:spPr>
          <a:xfrm>
            <a:off x="125486" y="1046013"/>
            <a:ext cx="4416154"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6" name="TextBox 5">
            <a:extLst>
              <a:ext uri="{FF2B5EF4-FFF2-40B4-BE49-F238E27FC236}">
                <a16:creationId xmlns:a16="http://schemas.microsoft.com/office/drawing/2014/main" id="{79455043-A07D-9899-FB37-DE9AA8781825}"/>
              </a:ext>
            </a:extLst>
          </p:cNvPr>
          <p:cNvSpPr txBox="1"/>
          <p:nvPr/>
        </p:nvSpPr>
        <p:spPr>
          <a:xfrm>
            <a:off x="125486" y="1185567"/>
            <a:ext cx="5550100" cy="3139321"/>
          </a:xfrm>
          <a:prstGeom prst="rect">
            <a:avLst/>
          </a:prstGeom>
          <a:noFill/>
        </p:spPr>
        <p:txBody>
          <a:bodyPr wrap="square" rtlCol="0">
            <a:spAutoFit/>
          </a:bodyPr>
          <a:lstStyle/>
          <a:p>
            <a:pPr marL="285750" indent="-285750">
              <a:buFont typeface="Wingdings" panose="05000000000000000000" pitchFamily="2" charset="2"/>
              <a:buChar char="§"/>
            </a:pPr>
            <a:r>
              <a:rPr lang="en-US" dirty="0">
                <a:cs typeface="Arial" panose="020B0604020202020204" pitchFamily="34" charset="0"/>
              </a:rPr>
              <a:t> Develop predictive models that analyze historical transactions to accurately forecast future spending. Compare different forecasting methods to identify the most reliable model for Crystal Pay’s financial planning assistant.</a:t>
            </a:r>
          </a:p>
          <a:p>
            <a:pPr marL="285750" indent="-285750">
              <a:buFont typeface="Wingdings" panose="05000000000000000000" pitchFamily="2" charset="2"/>
              <a:buChar char="§"/>
            </a:pPr>
            <a:r>
              <a:rPr lang="en-US" dirty="0">
                <a:cs typeface="Arial" panose="020B0604020202020204" pitchFamily="34" charset="0"/>
              </a:rPr>
              <a:t>Segment users based on their financial habits—spending frequency, transaction value, preferred categories, and engagement. This enables Crystal Pay to tailor financial advice and offers to specific user groups, improving relevance and user satisfaction.</a:t>
            </a:r>
          </a:p>
          <a:p>
            <a:endParaRPr lang="en-US" dirty="0"/>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A5367C-B756-2C75-6465-40469E6622EB}"/>
              </a:ext>
            </a:extLst>
          </p:cNvPr>
          <p:cNvSpPr txBox="1"/>
          <p:nvPr/>
        </p:nvSpPr>
        <p:spPr>
          <a:xfrm>
            <a:off x="223520" y="762000"/>
            <a:ext cx="3759200" cy="400110"/>
          </a:xfrm>
          <a:prstGeom prst="rect">
            <a:avLst/>
          </a:prstGeom>
          <a:noFill/>
        </p:spPr>
        <p:txBody>
          <a:bodyPr wrap="square" rtlCol="0">
            <a:spAutoFit/>
          </a:bodyPr>
          <a:lstStyle/>
          <a:p>
            <a:r>
              <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Proposed Solution</a:t>
            </a:r>
          </a:p>
        </p:txBody>
      </p:sp>
      <p:pic>
        <p:nvPicPr>
          <p:cNvPr id="3" name="Picture 2">
            <a:extLst>
              <a:ext uri="{FF2B5EF4-FFF2-40B4-BE49-F238E27FC236}">
                <a16:creationId xmlns:a16="http://schemas.microsoft.com/office/drawing/2014/main" id="{6A7AD40D-0111-E835-7F6C-42B60C95E61E}"/>
              </a:ext>
            </a:extLst>
          </p:cNvPr>
          <p:cNvPicPr>
            <a:picLocks noChangeAspect="1"/>
          </p:cNvPicPr>
          <p:nvPr/>
        </p:nvPicPr>
        <p:blipFill>
          <a:blip r:embed="rId2"/>
          <a:stretch>
            <a:fillRect/>
          </a:stretch>
        </p:blipFill>
        <p:spPr>
          <a:xfrm>
            <a:off x="5831840" y="1304314"/>
            <a:ext cx="3010545" cy="2582944"/>
          </a:xfrm>
          <a:prstGeom prst="rect">
            <a:avLst/>
          </a:prstGeom>
        </p:spPr>
      </p:pic>
      <p:sp>
        <p:nvSpPr>
          <p:cNvPr id="4" name="TextBox 3">
            <a:extLst>
              <a:ext uri="{FF2B5EF4-FFF2-40B4-BE49-F238E27FC236}">
                <a16:creationId xmlns:a16="http://schemas.microsoft.com/office/drawing/2014/main" id="{B2908AA8-3CF9-762D-773E-62CF0BBD34DB}"/>
              </a:ext>
            </a:extLst>
          </p:cNvPr>
          <p:cNvSpPr txBox="1"/>
          <p:nvPr/>
        </p:nvSpPr>
        <p:spPr>
          <a:xfrm>
            <a:off x="301615" y="1304314"/>
            <a:ext cx="5073025" cy="3447098"/>
          </a:xfrm>
          <a:prstGeom prst="rect">
            <a:avLst/>
          </a:prstGeom>
          <a:noFill/>
        </p:spPr>
        <p:txBody>
          <a:bodyPr wrap="square" rtlCol="0">
            <a:spAutoFit/>
          </a:bodyPr>
          <a:lstStyle/>
          <a:p>
            <a:pPr marL="285750" indent="-285750">
              <a:buFont typeface="Arial" panose="020B0604020202020204" pitchFamily="34" charset="0"/>
              <a:buChar char="•"/>
            </a:pPr>
            <a:r>
              <a:rPr lang="en-US" sz="1600" dirty="0"/>
              <a:t>Predict user’s upcoming spending needs based on past patterns and recommend an optimal wallet balance. This helps users maintain a healthy balance and manage funds more effectively.</a:t>
            </a:r>
          </a:p>
          <a:p>
            <a:pPr marL="285750" indent="-285750">
              <a:buFont typeface="Arial" panose="020B0604020202020204" pitchFamily="34" charset="0"/>
              <a:buChar char="•"/>
            </a:pPr>
            <a:r>
              <a:rPr lang="en-US" sz="1600" dirty="0"/>
              <a:t>Analyze key activity metrics such as transaction volume, category distribution, usage frequency, and regional performance. These insights support better operational planning and product improvements.</a:t>
            </a:r>
          </a:p>
          <a:p>
            <a:pPr marL="285750" indent="-285750">
              <a:buFont typeface="Arial" panose="020B0604020202020204" pitchFamily="34" charset="0"/>
              <a:buChar char="•"/>
            </a:pPr>
            <a:r>
              <a:rPr lang="en-US" sz="1600" dirty="0"/>
              <a:t>Evaluate how changes in pricing or fees influence user behavior and revenue. Identify the most effective pricing strategy that balances user engagement with financial sustainability.</a:t>
            </a:r>
          </a:p>
          <a:p>
            <a:endParaRPr lang="en-IN" dirty="0"/>
          </a:p>
        </p:txBody>
      </p:sp>
    </p:spTree>
    <p:extLst>
      <p:ext uri="{BB962C8B-B14F-4D97-AF65-F5344CB8AC3E}">
        <p14:creationId xmlns:p14="http://schemas.microsoft.com/office/powerpoint/2010/main" val="82135449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30F89C9-AC09-626B-1790-CC9E35132DB2}"/>
              </a:ext>
            </a:extLst>
          </p:cNvPr>
          <p:cNvPicPr>
            <a:picLocks noChangeAspect="1"/>
          </p:cNvPicPr>
          <p:nvPr/>
        </p:nvPicPr>
        <p:blipFill>
          <a:blip r:embed="rId2"/>
          <a:stretch>
            <a:fillRect/>
          </a:stretch>
        </p:blipFill>
        <p:spPr>
          <a:xfrm>
            <a:off x="5831840" y="1304314"/>
            <a:ext cx="3010545" cy="2582944"/>
          </a:xfrm>
          <a:prstGeom prst="rect">
            <a:avLst/>
          </a:prstGeom>
        </p:spPr>
      </p:pic>
      <p:sp>
        <p:nvSpPr>
          <p:cNvPr id="3" name="TextBox 2">
            <a:extLst>
              <a:ext uri="{FF2B5EF4-FFF2-40B4-BE49-F238E27FC236}">
                <a16:creationId xmlns:a16="http://schemas.microsoft.com/office/drawing/2014/main" id="{8868124A-C0F1-D396-1B7F-C32B6276A37E}"/>
              </a:ext>
            </a:extLst>
          </p:cNvPr>
          <p:cNvSpPr txBox="1"/>
          <p:nvPr/>
        </p:nvSpPr>
        <p:spPr>
          <a:xfrm>
            <a:off x="152400" y="741680"/>
            <a:ext cx="4257040" cy="400110"/>
          </a:xfrm>
          <a:prstGeom prst="rect">
            <a:avLst/>
          </a:prstGeom>
          <a:noFill/>
        </p:spPr>
        <p:txBody>
          <a:bodyPr wrap="square" rtlCol="0">
            <a:spAutoFit/>
          </a:bodyPr>
          <a:lstStyle/>
          <a:p>
            <a:r>
              <a:rPr lang="en-IN" sz="2000" b="1" dirty="0">
                <a:solidFill>
                  <a:schemeClr val="accent5">
                    <a:lumMod val="50000"/>
                  </a:schemeClr>
                </a:solidFill>
                <a:latin typeface="Lato" panose="020F0502020204030203" pitchFamily="34" charset="0"/>
                <a:ea typeface="Lato" panose="020F0502020204030203" pitchFamily="34" charset="0"/>
                <a:cs typeface="Lato" panose="020F0502020204030203" pitchFamily="34" charset="0"/>
              </a:rPr>
              <a:t>Proposed Solution</a:t>
            </a:r>
          </a:p>
        </p:txBody>
      </p:sp>
      <p:sp>
        <p:nvSpPr>
          <p:cNvPr id="4" name="TextBox 3">
            <a:extLst>
              <a:ext uri="{FF2B5EF4-FFF2-40B4-BE49-F238E27FC236}">
                <a16:creationId xmlns:a16="http://schemas.microsoft.com/office/drawing/2014/main" id="{D1D9389D-D885-74E8-219D-2CF290A68DFA}"/>
              </a:ext>
            </a:extLst>
          </p:cNvPr>
          <p:cNvSpPr txBox="1"/>
          <p:nvPr/>
        </p:nvSpPr>
        <p:spPr>
          <a:xfrm>
            <a:off x="223521" y="1422401"/>
            <a:ext cx="5120640" cy="3693319"/>
          </a:xfrm>
          <a:prstGeom prst="rect">
            <a:avLst/>
          </a:prstGeom>
          <a:noFill/>
        </p:spPr>
        <p:txBody>
          <a:bodyPr wrap="square" rtlCol="0">
            <a:spAutoFit/>
          </a:bodyPr>
          <a:lstStyle/>
          <a:p>
            <a:pPr marL="285750" indent="-285750">
              <a:buFont typeface="Arial" panose="020B0604020202020204" pitchFamily="34" charset="0"/>
              <a:buChar char="•"/>
            </a:pPr>
            <a:r>
              <a:rPr lang="en-US" dirty="0"/>
              <a:t>Use behavioral data to predict the likelihood of user churn. Develop retention strategies such as targeted notifications, financial tips, or rewards to encourage users to stay active.</a:t>
            </a:r>
          </a:p>
          <a:p>
            <a:pPr marL="285750" indent="-285750">
              <a:buFont typeface="Arial" panose="020B0604020202020204" pitchFamily="34" charset="0"/>
              <a:buChar char="•"/>
            </a:pPr>
            <a:r>
              <a:rPr lang="en-US" dirty="0"/>
              <a:t>Analyze campaign performance by comparing user activity before and after each promotion. Identify high-impact campaigns to optimize future marketing investments.</a:t>
            </a:r>
          </a:p>
          <a:p>
            <a:pPr marL="285750" indent="-285750">
              <a:buFont typeface="Arial" panose="020B0604020202020204" pitchFamily="34" charset="0"/>
              <a:buChar char="•"/>
            </a:pPr>
            <a:r>
              <a:rPr lang="en-US" dirty="0"/>
              <a:t>Evaluate feature performance in terms of cost, revenue, and user adoption. Identify high‑value features to prioritize and low‑performing features that may need improvement or redesign.</a:t>
            </a:r>
          </a:p>
          <a:p>
            <a:endParaRPr lang="en-US" dirty="0"/>
          </a:p>
        </p:txBody>
      </p:sp>
    </p:spTree>
    <p:extLst>
      <p:ext uri="{BB962C8B-B14F-4D97-AF65-F5344CB8AC3E}">
        <p14:creationId xmlns:p14="http://schemas.microsoft.com/office/powerpoint/2010/main" val="35286470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0" y="602920"/>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System Architecture</a:t>
            </a:r>
            <a:endParaRPr lang="en-US" sz="2000" dirty="0">
              <a:latin typeface="Lato" panose="020F0502020204030203" pitchFamily="34" charset="0"/>
              <a:cs typeface="Arial" panose="020B0604020202020204" pitchFamily="34" charset="0"/>
            </a:endParaRPr>
          </a:p>
        </p:txBody>
      </p:sp>
      <p:sp>
        <p:nvSpPr>
          <p:cNvPr id="6" name="Shape 4"/>
          <p:cNvSpPr/>
          <p:nvPr/>
        </p:nvSpPr>
        <p:spPr>
          <a:xfrm>
            <a:off x="235408" y="1243200"/>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7" name="Shape 5"/>
          <p:cNvSpPr/>
          <p:nvPr/>
        </p:nvSpPr>
        <p:spPr>
          <a:xfrm>
            <a:off x="416732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8" name="Text 6"/>
          <p:cNvSpPr/>
          <p:nvPr/>
        </p:nvSpPr>
        <p:spPr>
          <a:xfrm>
            <a:off x="32684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Data Input / Source</a:t>
            </a:r>
            <a:endParaRPr lang="en-US" sz="1600" dirty="0">
              <a:latin typeface="Lato" panose="020F0502020204030203" pitchFamily="34" charset="0"/>
              <a:cs typeface="Arial" panose="020B0604020202020204" pitchFamily="34" charset="0"/>
            </a:endParaRPr>
          </a:p>
        </p:txBody>
      </p:sp>
      <p:sp>
        <p:nvSpPr>
          <p:cNvPr id="9" name="Text 7"/>
          <p:cNvSpPr/>
          <p:nvPr/>
        </p:nvSpPr>
        <p:spPr>
          <a:xfrm>
            <a:off x="326848" y="1700400"/>
            <a:ext cx="4023360" cy="1188720"/>
          </a:xfrm>
          <a:prstGeom prst="rect">
            <a:avLst/>
          </a:prstGeom>
          <a:noFill/>
          <a:ln/>
        </p:spPr>
        <p:txBody>
          <a:bodyPr wrap="square" rtlCol="0" anchor="t"/>
          <a:lstStyle/>
          <a:p>
            <a:pPr marL="0" indent="0">
              <a:buNone/>
            </a:pPr>
            <a:endParaRPr lang="en-US" sz="1600" dirty="0">
              <a:latin typeface="Lato" panose="020F0502020204030203" pitchFamily="34" charset="0"/>
              <a:cs typeface="Arial" panose="020B0604020202020204" pitchFamily="34" charset="0"/>
            </a:endParaRPr>
          </a:p>
        </p:txBody>
      </p:sp>
      <p:sp>
        <p:nvSpPr>
          <p:cNvPr id="10" name="Shape 8"/>
          <p:cNvSpPr/>
          <p:nvPr/>
        </p:nvSpPr>
        <p:spPr>
          <a:xfrm>
            <a:off x="4670248" y="1243200"/>
            <a:ext cx="4114800" cy="384048"/>
          </a:xfrm>
          <a:prstGeom prst="rect">
            <a:avLst/>
          </a:prstGeom>
          <a:solidFill>
            <a:schemeClr val="accent1">
              <a:lumMod val="20000"/>
              <a:lumOff val="80000"/>
            </a:schemeClr>
          </a:solidFill>
          <a:ln/>
        </p:spPr>
        <p:txBody>
          <a:bodyPr/>
          <a:lstStyle/>
          <a:p>
            <a:endParaRPr lang="en-IN" sz="1600">
              <a:latin typeface="Lato" panose="020F0502020204030203" pitchFamily="34" charset="0"/>
              <a:cs typeface="Arial" panose="020B0604020202020204" pitchFamily="34" charset="0"/>
            </a:endParaRPr>
          </a:p>
        </p:txBody>
      </p:sp>
      <p:sp>
        <p:nvSpPr>
          <p:cNvPr id="11" name="Shape 9"/>
          <p:cNvSpPr/>
          <p:nvPr/>
        </p:nvSpPr>
        <p:spPr>
          <a:xfrm>
            <a:off x="8602168" y="1243200"/>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2" name="Text 10"/>
          <p:cNvSpPr/>
          <p:nvPr/>
        </p:nvSpPr>
        <p:spPr>
          <a:xfrm>
            <a:off x="4761688" y="1279776"/>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Processing / Analysis</a:t>
            </a:r>
            <a:endParaRPr lang="en-US" sz="1600" dirty="0">
              <a:latin typeface="Lato" panose="020F0502020204030203" pitchFamily="34" charset="0"/>
              <a:cs typeface="Arial" panose="020B0604020202020204" pitchFamily="34" charset="0"/>
            </a:endParaRPr>
          </a:p>
        </p:txBody>
      </p:sp>
      <p:sp>
        <p:nvSpPr>
          <p:cNvPr id="13" name="Text 11"/>
          <p:cNvSpPr/>
          <p:nvPr/>
        </p:nvSpPr>
        <p:spPr>
          <a:xfrm>
            <a:off x="4761688" y="1700400"/>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Duplicate removal, salary validation, department standardization.</a:t>
            </a:r>
            <a:endParaRPr lang="en-US" sz="1600" dirty="0">
              <a:latin typeface="Lato" panose="020F0502020204030203" pitchFamily="34" charset="0"/>
              <a:cs typeface="Arial" panose="020B0604020202020204" pitchFamily="34" charset="0"/>
            </a:endParaRPr>
          </a:p>
        </p:txBody>
      </p:sp>
      <p:sp>
        <p:nvSpPr>
          <p:cNvPr id="14" name="Shape 12"/>
          <p:cNvSpPr/>
          <p:nvPr/>
        </p:nvSpPr>
        <p:spPr>
          <a:xfrm>
            <a:off x="23540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5" name="Shape 13"/>
          <p:cNvSpPr/>
          <p:nvPr/>
        </p:nvSpPr>
        <p:spPr>
          <a:xfrm>
            <a:off x="416732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16" name="Text 14"/>
          <p:cNvSpPr/>
          <p:nvPr/>
        </p:nvSpPr>
        <p:spPr>
          <a:xfrm>
            <a:off x="32684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AI / Tool Integration</a:t>
            </a:r>
            <a:endParaRPr lang="en-US" sz="1600" dirty="0">
              <a:latin typeface="Lato" panose="020F0502020204030203" pitchFamily="34" charset="0"/>
              <a:cs typeface="Arial" panose="020B0604020202020204" pitchFamily="34" charset="0"/>
            </a:endParaRPr>
          </a:p>
        </p:txBody>
      </p:sp>
      <p:sp>
        <p:nvSpPr>
          <p:cNvPr id="17" name="Text 15"/>
          <p:cNvSpPr/>
          <p:nvPr/>
        </p:nvSpPr>
        <p:spPr>
          <a:xfrm>
            <a:off x="326848" y="3427056"/>
            <a:ext cx="4023360" cy="1188720"/>
          </a:xfrm>
          <a:prstGeom prst="rect">
            <a:avLst/>
          </a:prstGeom>
          <a:noFill/>
          <a:ln/>
        </p:spPr>
        <p:txBody>
          <a:bodyPr wrap="square" rtlCol="0" anchor="t"/>
          <a:lstStyle/>
          <a:p>
            <a:pPr marL="0" indent="0">
              <a:buNone/>
            </a:pPr>
            <a:r>
              <a:rPr lang="en-US" sz="1600" dirty="0">
                <a:solidFill>
                  <a:srgbClr val="1A1A2E"/>
                </a:solidFill>
                <a:latin typeface="Lato" panose="020F0502020204030203" pitchFamily="34" charset="0"/>
                <a:ea typeface="Calibri" pitchFamily="34" charset="-122"/>
                <a:cs typeface="Arial" panose="020B0604020202020204" pitchFamily="34" charset="0"/>
              </a:rPr>
              <a:t>Microsoft Copilot for anomaly detection, reporting, and automation.</a:t>
            </a:r>
          </a:p>
          <a:p>
            <a:pPr marL="0" indent="0">
              <a:buNone/>
            </a:pPr>
            <a:endParaRPr lang="en-US" sz="1600" dirty="0">
              <a:latin typeface="Lato" panose="020F0502020204030203" pitchFamily="34" charset="0"/>
              <a:cs typeface="Arial" panose="020B0604020202020204" pitchFamily="34" charset="0"/>
            </a:endParaRPr>
          </a:p>
        </p:txBody>
      </p:sp>
      <p:sp>
        <p:nvSpPr>
          <p:cNvPr id="18" name="Shape 16"/>
          <p:cNvSpPr/>
          <p:nvPr/>
        </p:nvSpPr>
        <p:spPr>
          <a:xfrm>
            <a:off x="4670248" y="2969856"/>
            <a:ext cx="4114800" cy="384048"/>
          </a:xfrm>
          <a:prstGeom prst="rect">
            <a:avLst/>
          </a:prstGeom>
          <a:solidFill>
            <a:schemeClr val="accent1">
              <a:lumMod val="20000"/>
              <a:lumOff val="80000"/>
            </a:schemeClr>
          </a:solidFill>
          <a:ln/>
        </p:spPr>
        <p:txBody>
          <a:bodyPr/>
          <a:lstStyle/>
          <a:p>
            <a:endParaRPr lang="en-IN">
              <a:latin typeface="Lato" panose="020F0502020204030203" pitchFamily="34" charset="0"/>
            </a:endParaRPr>
          </a:p>
        </p:txBody>
      </p:sp>
      <p:sp>
        <p:nvSpPr>
          <p:cNvPr id="19" name="Shape 17"/>
          <p:cNvSpPr/>
          <p:nvPr/>
        </p:nvSpPr>
        <p:spPr>
          <a:xfrm>
            <a:off x="8602168" y="2969856"/>
            <a:ext cx="320040" cy="384048"/>
          </a:xfrm>
          <a:prstGeom prst="rect">
            <a:avLst/>
          </a:prstGeom>
          <a:solidFill>
            <a:srgbClr val="1B3A8A"/>
          </a:solidFill>
          <a:ln/>
        </p:spPr>
        <p:txBody>
          <a:bodyPr/>
          <a:lstStyle/>
          <a:p>
            <a:endParaRPr lang="en-IN">
              <a:latin typeface="Lato" panose="020F0502020204030203" pitchFamily="34" charset="0"/>
            </a:endParaRPr>
          </a:p>
        </p:txBody>
      </p:sp>
      <p:sp>
        <p:nvSpPr>
          <p:cNvPr id="20" name="Text 18"/>
          <p:cNvSpPr/>
          <p:nvPr/>
        </p:nvSpPr>
        <p:spPr>
          <a:xfrm>
            <a:off x="4761688" y="3006432"/>
            <a:ext cx="3840480" cy="310896"/>
          </a:xfrm>
          <a:prstGeom prst="rect">
            <a:avLst/>
          </a:prstGeom>
          <a:noFill/>
          <a:ln/>
        </p:spPr>
        <p:txBody>
          <a:bodyPr wrap="square" rtlCol="0" anchor="ctr"/>
          <a:lstStyle/>
          <a:p>
            <a:pPr marL="0" indent="0">
              <a:buNone/>
            </a:pPr>
            <a:r>
              <a:rPr lang="en-US" sz="1600" b="1" dirty="0">
                <a:latin typeface="Lato" panose="020F0502020204030203" pitchFamily="34" charset="0"/>
                <a:ea typeface="Calibri" pitchFamily="34" charset="-122"/>
                <a:cs typeface="Arial" panose="020B0604020202020204" pitchFamily="34" charset="0"/>
              </a:rPr>
              <a:t>Output / Dashboard</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4761688" y="3427056"/>
            <a:ext cx="4023360" cy="1188720"/>
          </a:xfrm>
          <a:prstGeom prst="rect">
            <a:avLst/>
          </a:prstGeom>
          <a:noFill/>
          <a:ln/>
        </p:spPr>
        <p:txBody>
          <a:bodyPr wrap="square" rtlCol="0" anchor="t"/>
          <a:lstStyle/>
          <a:p>
            <a:pPr marL="0" indent="0">
              <a:buNone/>
            </a:pPr>
            <a:r>
              <a:rPr lang="en-US" sz="1600">
                <a:solidFill>
                  <a:srgbClr val="1A1A2E"/>
                </a:solidFill>
                <a:latin typeface="Lato" panose="020F0502020204030203" pitchFamily="34" charset="0"/>
                <a:ea typeface="Calibri" pitchFamily="34" charset="-122"/>
                <a:cs typeface="Arial" panose="020B0604020202020204" pitchFamily="34" charset="0"/>
              </a:rPr>
              <a:t>Interactive </a:t>
            </a:r>
            <a:r>
              <a:rPr lang="en-US" sz="1600" dirty="0">
                <a:solidFill>
                  <a:srgbClr val="1A1A2E"/>
                </a:solidFill>
                <a:latin typeface="Lato" panose="020F0502020204030203" pitchFamily="34" charset="0"/>
                <a:ea typeface="Calibri" pitchFamily="34" charset="-122"/>
                <a:cs typeface="Arial" panose="020B0604020202020204" pitchFamily="34" charset="0"/>
              </a:rPr>
              <a:t>dashboards, KPI charts, compliance-ready reports.</a:t>
            </a:r>
            <a:endParaRPr lang="en-US" sz="1600" dirty="0">
              <a:latin typeface="Lato" panose="020F0502020204030203" pitchFamily="34" charset="0"/>
              <a:cs typeface="Arial" panose="020B0604020202020204" pitchFamily="34" charset="0"/>
            </a:endParaRPr>
          </a:p>
        </p:txBody>
      </p:sp>
      <p:sp>
        <p:nvSpPr>
          <p:cNvPr id="5" name="TextBox 4">
            <a:extLst>
              <a:ext uri="{FF2B5EF4-FFF2-40B4-BE49-F238E27FC236}">
                <a16:creationId xmlns:a16="http://schemas.microsoft.com/office/drawing/2014/main" id="{47E4D2CD-64E5-109C-2CA7-F75BCE8ECCAA}"/>
              </a:ext>
            </a:extLst>
          </p:cNvPr>
          <p:cNvSpPr txBox="1"/>
          <p:nvPr/>
        </p:nvSpPr>
        <p:spPr>
          <a:xfrm>
            <a:off x="235408" y="1707984"/>
            <a:ext cx="4114800" cy="369332"/>
          </a:xfrm>
          <a:prstGeom prst="rect">
            <a:avLst/>
          </a:prstGeom>
          <a:noFill/>
        </p:spPr>
        <p:txBody>
          <a:bodyPr wrap="square" rtlCol="0">
            <a:spAutoFit/>
          </a:bodyPr>
          <a:lstStyle/>
          <a:p>
            <a:r>
              <a:rPr lang="en-IN" dirty="0"/>
              <a:t>Payroll dataset (500 records).</a:t>
            </a: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20623" y="607298"/>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Live Demo of Project</a:t>
            </a:r>
            <a:endParaRPr lang="en-US" sz="2000" dirty="0">
              <a:latin typeface="Lato" panose="020F0502020204030203" pitchFamily="34" charset="0"/>
              <a:cs typeface="Arial" panose="020B0604020202020204" pitchFamily="34" charset="0"/>
            </a:endParaRPr>
          </a:p>
        </p:txBody>
      </p:sp>
      <p:sp>
        <p:nvSpPr>
          <p:cNvPr id="6" name="Text 4"/>
          <p:cNvSpPr/>
          <p:nvPr/>
        </p:nvSpPr>
        <p:spPr>
          <a:xfrm>
            <a:off x="125487" y="1105839"/>
            <a:ext cx="8412480" cy="320040"/>
          </a:xfrm>
          <a:prstGeom prst="rect">
            <a:avLst/>
          </a:prstGeom>
          <a:noFill/>
          <a:ln/>
        </p:spPr>
        <p:txBody>
          <a:bodyPr wrap="square" rtlCol="0" anchor="ctr"/>
          <a:lstStyle/>
          <a:p>
            <a:pPr marL="0" indent="0">
              <a:buNone/>
            </a:pPr>
            <a:r>
              <a:rPr lang="en-US" dirty="0">
                <a:latin typeface="Lato" panose="020F0502020204030203" pitchFamily="34" charset="0"/>
                <a:ea typeface="Calibri" pitchFamily="34" charset="-122"/>
                <a:cs typeface="Arial" panose="020B0604020202020204" pitchFamily="34" charset="0"/>
              </a:rPr>
              <a:t>Here's the list of some demo screenshots / features of the project:</a:t>
            </a:r>
            <a:endParaRPr lang="en-US" dirty="0">
              <a:latin typeface="Lato" panose="020F0502020204030203" pitchFamily="34" charset="0"/>
              <a:cs typeface="Arial" panose="020B0604020202020204" pitchFamily="34" charset="0"/>
            </a:endParaRPr>
          </a:p>
        </p:txBody>
      </p:sp>
      <p:sp>
        <p:nvSpPr>
          <p:cNvPr id="7" name="Shape 5"/>
          <p:cNvSpPr/>
          <p:nvPr/>
        </p:nvSpPr>
        <p:spPr>
          <a:xfrm>
            <a:off x="978408" y="1648237"/>
            <a:ext cx="1371600" cy="1371600"/>
          </a:xfrm>
          <a:prstGeom prst="ellipse">
            <a:avLst/>
          </a:prstGeom>
          <a:solidFill>
            <a:srgbClr val="1565C0"/>
          </a:solidFill>
          <a:ln w="38100">
            <a:solidFill>
              <a:srgbClr val="FFFFFF"/>
            </a:solidFill>
            <a:prstDash val="solid"/>
          </a:ln>
        </p:spPr>
        <p:txBody>
          <a:bodyPr/>
          <a:lstStyle/>
          <a:p>
            <a:endParaRPr lang="en-IN" dirty="0">
              <a:latin typeface="Lato" panose="020F0502020204030203" pitchFamily="34" charset="0"/>
            </a:endParaRPr>
          </a:p>
        </p:txBody>
      </p:sp>
      <p:sp>
        <p:nvSpPr>
          <p:cNvPr id="9" name="Shape 7"/>
          <p:cNvSpPr/>
          <p:nvPr/>
        </p:nvSpPr>
        <p:spPr>
          <a:xfrm>
            <a:off x="214884" y="2196876"/>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0" name="Text 8"/>
          <p:cNvSpPr/>
          <p:nvPr/>
        </p:nvSpPr>
        <p:spPr>
          <a:xfrm>
            <a:off x="274320"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1</a:t>
            </a:r>
            <a:endParaRPr lang="en-US" sz="1600" dirty="0">
              <a:latin typeface="Lato" panose="020F0502020204030203" pitchFamily="34" charset="0"/>
              <a:cs typeface="Arial" panose="020B0604020202020204" pitchFamily="34" charset="0"/>
            </a:endParaRPr>
          </a:p>
        </p:txBody>
      </p:sp>
      <p:sp>
        <p:nvSpPr>
          <p:cNvPr id="11" name="Text 9"/>
          <p:cNvSpPr/>
          <p:nvPr/>
        </p:nvSpPr>
        <p:spPr>
          <a:xfrm>
            <a:off x="411480"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2" name="Shape 10"/>
          <p:cNvSpPr/>
          <p:nvPr/>
        </p:nvSpPr>
        <p:spPr>
          <a:xfrm>
            <a:off x="3922776" y="1648237"/>
            <a:ext cx="1371600" cy="1371600"/>
          </a:xfrm>
          <a:prstGeom prst="ellipse">
            <a:avLst/>
          </a:prstGeom>
          <a:solidFill>
            <a:srgbClr val="FFC000"/>
          </a:solidFill>
          <a:ln w="38100">
            <a:solidFill>
              <a:srgbClr val="FFFFFF"/>
            </a:solidFill>
            <a:prstDash val="solid"/>
          </a:ln>
        </p:spPr>
        <p:txBody>
          <a:bodyPr/>
          <a:lstStyle/>
          <a:p>
            <a:endParaRPr lang="en-IN">
              <a:latin typeface="Lato" panose="020F0502020204030203" pitchFamily="34" charset="0"/>
            </a:endParaRPr>
          </a:p>
        </p:txBody>
      </p:sp>
      <p:sp>
        <p:nvSpPr>
          <p:cNvPr id="14" name="Shape 12"/>
          <p:cNvSpPr/>
          <p:nvPr/>
        </p:nvSpPr>
        <p:spPr>
          <a:xfrm>
            <a:off x="3218688" y="2196877"/>
            <a:ext cx="2788920" cy="2651760"/>
          </a:xfrm>
          <a:prstGeom prst="rect">
            <a:avLst/>
          </a:prstGeom>
          <a:solidFill>
            <a:srgbClr val="FDF3ED"/>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15" name="Text 13"/>
          <p:cNvSpPr/>
          <p:nvPr/>
        </p:nvSpPr>
        <p:spPr>
          <a:xfrm>
            <a:off x="3218688"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2</a:t>
            </a:r>
            <a:endParaRPr lang="en-US" sz="1600" dirty="0">
              <a:latin typeface="Lato" panose="020F0502020204030203" pitchFamily="34" charset="0"/>
              <a:cs typeface="Arial" panose="020B0604020202020204" pitchFamily="34" charset="0"/>
            </a:endParaRPr>
          </a:p>
        </p:txBody>
      </p:sp>
      <p:sp>
        <p:nvSpPr>
          <p:cNvPr id="16" name="Text 14"/>
          <p:cNvSpPr/>
          <p:nvPr/>
        </p:nvSpPr>
        <p:spPr>
          <a:xfrm>
            <a:off x="3355848"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sp>
        <p:nvSpPr>
          <p:cNvPr id="17" name="Shape 15"/>
          <p:cNvSpPr/>
          <p:nvPr/>
        </p:nvSpPr>
        <p:spPr>
          <a:xfrm>
            <a:off x="6867144" y="1648237"/>
            <a:ext cx="1371600" cy="1371600"/>
          </a:xfrm>
          <a:prstGeom prst="ellipse">
            <a:avLst/>
          </a:prstGeom>
          <a:solidFill>
            <a:srgbClr val="1565C0"/>
          </a:solidFill>
          <a:ln w="38100">
            <a:solidFill>
              <a:srgbClr val="FFFFFF"/>
            </a:solidFill>
            <a:prstDash val="solid"/>
          </a:ln>
        </p:spPr>
        <p:txBody>
          <a:bodyPr/>
          <a:lstStyle/>
          <a:p>
            <a:endParaRPr lang="en-IN">
              <a:latin typeface="Lato" panose="020F0502020204030203" pitchFamily="34" charset="0"/>
            </a:endParaRPr>
          </a:p>
        </p:txBody>
      </p:sp>
      <p:sp>
        <p:nvSpPr>
          <p:cNvPr id="18" name="Text 16"/>
          <p:cNvSpPr/>
          <p:nvPr/>
        </p:nvSpPr>
        <p:spPr>
          <a:xfrm>
            <a:off x="6867144" y="1648237"/>
            <a:ext cx="1371600" cy="1371600"/>
          </a:xfrm>
          <a:prstGeom prst="rect">
            <a:avLst/>
          </a:prstGeom>
          <a:noFill/>
          <a:ln/>
        </p:spPr>
        <p:txBody>
          <a:bodyPr wrap="square" rtlCol="0" anchor="ctr"/>
          <a:lstStyle/>
          <a:p>
            <a:pPr marL="0" indent="0" algn="ctr">
              <a:buNone/>
            </a:pPr>
            <a:endParaRPr lang="en-US" sz="3600" dirty="0">
              <a:latin typeface="Lato" panose="020F0502020204030203" pitchFamily="34" charset="0"/>
            </a:endParaRPr>
          </a:p>
        </p:txBody>
      </p:sp>
      <p:sp>
        <p:nvSpPr>
          <p:cNvPr id="19" name="Shape 17"/>
          <p:cNvSpPr/>
          <p:nvPr/>
        </p:nvSpPr>
        <p:spPr>
          <a:xfrm>
            <a:off x="6163056" y="2200479"/>
            <a:ext cx="2788920" cy="2651760"/>
          </a:xfrm>
          <a:prstGeom prst="rect">
            <a:avLst/>
          </a:prstGeom>
          <a:solidFill>
            <a:schemeClr val="accent1">
              <a:lumMod val="20000"/>
              <a:lumOff val="80000"/>
            </a:schemeClr>
          </a:solidFill>
          <a:ln/>
          <a:effectLst>
            <a:outerShdw blurRad="101600" dist="38100" dir="8100000" algn="bl" rotWithShape="0">
              <a:srgbClr val="000000">
                <a:alpha val="15000"/>
              </a:srgbClr>
            </a:outerShdw>
          </a:effectLst>
        </p:spPr>
        <p:txBody>
          <a:bodyPr/>
          <a:lstStyle/>
          <a:p>
            <a:endParaRPr lang="en-IN">
              <a:latin typeface="Lato" panose="020F0502020204030203" pitchFamily="34" charset="0"/>
            </a:endParaRPr>
          </a:p>
        </p:txBody>
      </p:sp>
      <p:sp>
        <p:nvSpPr>
          <p:cNvPr id="20" name="Text 18"/>
          <p:cNvSpPr/>
          <p:nvPr/>
        </p:nvSpPr>
        <p:spPr>
          <a:xfrm>
            <a:off x="6163056" y="2413802"/>
            <a:ext cx="2788920" cy="411480"/>
          </a:xfrm>
          <a:prstGeom prst="rect">
            <a:avLst/>
          </a:prstGeom>
          <a:noFill/>
          <a:ln/>
        </p:spPr>
        <p:txBody>
          <a:bodyPr wrap="square" rtlCol="0" anchor="ctr"/>
          <a:lstStyle/>
          <a:p>
            <a:pPr marL="0" indent="0" algn="ctr">
              <a:buNone/>
            </a:pPr>
            <a:r>
              <a:rPr lang="en-US" sz="1600" b="1" dirty="0">
                <a:latin typeface="Lato" panose="020F0502020204030203" pitchFamily="34" charset="0"/>
                <a:ea typeface="Calibri" pitchFamily="34" charset="-122"/>
                <a:cs typeface="Arial" panose="020B0604020202020204" pitchFamily="34" charset="0"/>
              </a:rPr>
              <a:t>Demo 3</a:t>
            </a:r>
            <a:endParaRPr lang="en-US" sz="1600" dirty="0">
              <a:latin typeface="Lato" panose="020F0502020204030203" pitchFamily="34" charset="0"/>
              <a:cs typeface="Arial" panose="020B0604020202020204" pitchFamily="34" charset="0"/>
            </a:endParaRPr>
          </a:p>
        </p:txBody>
      </p:sp>
      <p:sp>
        <p:nvSpPr>
          <p:cNvPr id="21" name="Text 19"/>
          <p:cNvSpPr/>
          <p:nvPr/>
        </p:nvSpPr>
        <p:spPr>
          <a:xfrm>
            <a:off x="6300216" y="2919838"/>
            <a:ext cx="2514600" cy="1371600"/>
          </a:xfrm>
          <a:prstGeom prst="rect">
            <a:avLst/>
          </a:prstGeom>
          <a:noFill/>
          <a:ln/>
        </p:spPr>
        <p:txBody>
          <a:bodyPr wrap="square" rtlCol="0" anchor="ctr"/>
          <a:lstStyle/>
          <a:p>
            <a:pPr marL="0" indent="0" algn="ctr">
              <a:buNone/>
            </a:pPr>
            <a:endParaRPr lang="en-US" sz="1600" dirty="0">
              <a:latin typeface="Lato" panose="020F0502020204030203" pitchFamily="34" charset="0"/>
              <a:cs typeface="Arial" panose="020B0604020202020204" pitchFamily="34" charset="0"/>
            </a:endParaRPr>
          </a:p>
        </p:txBody>
      </p:sp>
      <p:pic>
        <p:nvPicPr>
          <p:cNvPr id="25" name="Picture 24">
            <a:extLst>
              <a:ext uri="{FF2B5EF4-FFF2-40B4-BE49-F238E27FC236}">
                <a16:creationId xmlns:a16="http://schemas.microsoft.com/office/drawing/2014/main" id="{C8D47339-EE61-B124-847B-11F29B52A7E7}"/>
              </a:ext>
            </a:extLst>
          </p:cNvPr>
          <p:cNvPicPr>
            <a:picLocks noChangeAspect="1"/>
          </p:cNvPicPr>
          <p:nvPr/>
        </p:nvPicPr>
        <p:blipFill>
          <a:blip r:embed="rId4"/>
          <a:stretch>
            <a:fillRect/>
          </a:stretch>
        </p:blipFill>
        <p:spPr>
          <a:xfrm>
            <a:off x="214884" y="3203200"/>
            <a:ext cx="2788920" cy="1068319"/>
          </a:xfrm>
          <a:prstGeom prst="rect">
            <a:avLst/>
          </a:prstGeom>
        </p:spPr>
      </p:pic>
      <p:sp>
        <p:nvSpPr>
          <p:cNvPr id="26" name="TextBox 25">
            <a:extLst>
              <a:ext uri="{FF2B5EF4-FFF2-40B4-BE49-F238E27FC236}">
                <a16:creationId xmlns:a16="http://schemas.microsoft.com/office/drawing/2014/main" id="{AF3AF720-D6E0-2B6E-CC17-538C940A8299}"/>
              </a:ext>
            </a:extLst>
          </p:cNvPr>
          <p:cNvSpPr txBox="1"/>
          <p:nvPr/>
        </p:nvSpPr>
        <p:spPr>
          <a:xfrm>
            <a:off x="411480" y="4450080"/>
            <a:ext cx="244348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Top Earners Dashboard</a:t>
            </a:r>
            <a:endParaRPr lang="en-IN" sz="1400" dirty="0">
              <a:latin typeface="Arial" panose="020B0604020202020204" pitchFamily="34" charset="0"/>
              <a:cs typeface="Arial" panose="020B0604020202020204" pitchFamily="34" charset="0"/>
            </a:endParaRPr>
          </a:p>
        </p:txBody>
      </p:sp>
      <p:pic>
        <p:nvPicPr>
          <p:cNvPr id="28" name="Picture 27">
            <a:extLst>
              <a:ext uri="{FF2B5EF4-FFF2-40B4-BE49-F238E27FC236}">
                <a16:creationId xmlns:a16="http://schemas.microsoft.com/office/drawing/2014/main" id="{6087406C-F509-F559-2774-98F6921D6737}"/>
              </a:ext>
            </a:extLst>
          </p:cNvPr>
          <p:cNvPicPr>
            <a:picLocks noChangeAspect="1"/>
          </p:cNvPicPr>
          <p:nvPr/>
        </p:nvPicPr>
        <p:blipFill>
          <a:blip r:embed="rId5"/>
          <a:stretch>
            <a:fillRect/>
          </a:stretch>
        </p:blipFill>
        <p:spPr>
          <a:xfrm>
            <a:off x="3227669" y="2987761"/>
            <a:ext cx="2779939" cy="976903"/>
          </a:xfrm>
          <a:prstGeom prst="rect">
            <a:avLst/>
          </a:prstGeom>
        </p:spPr>
      </p:pic>
      <p:sp>
        <p:nvSpPr>
          <p:cNvPr id="29" name="TextBox 28">
            <a:extLst>
              <a:ext uri="{FF2B5EF4-FFF2-40B4-BE49-F238E27FC236}">
                <a16:creationId xmlns:a16="http://schemas.microsoft.com/office/drawing/2014/main" id="{5E842C06-23DA-E808-3DF0-9F2A941118BB}"/>
              </a:ext>
            </a:extLst>
          </p:cNvPr>
          <p:cNvSpPr txBox="1"/>
          <p:nvPr/>
        </p:nvSpPr>
        <p:spPr>
          <a:xfrm>
            <a:off x="3496310" y="4291438"/>
            <a:ext cx="2174240" cy="307777"/>
          </a:xfrm>
          <a:prstGeom prst="rect">
            <a:avLst/>
          </a:prstGeom>
          <a:noFill/>
        </p:spPr>
        <p:txBody>
          <a:bodyPr wrap="square" rtlCol="0">
            <a:spAutoFit/>
          </a:bodyPr>
          <a:lstStyle/>
          <a:p>
            <a:r>
              <a:rPr lang="en-US" sz="1400" dirty="0">
                <a:latin typeface="Arial" panose="020B0604020202020204" pitchFamily="34" charset="0"/>
                <a:cs typeface="Arial" panose="020B0604020202020204" pitchFamily="34" charset="0"/>
              </a:rPr>
              <a:t>Overtime Insights</a:t>
            </a:r>
            <a:endParaRPr lang="en-IN" sz="1400" dirty="0">
              <a:latin typeface="Arial" panose="020B0604020202020204" pitchFamily="34" charset="0"/>
              <a:cs typeface="Arial" panose="020B0604020202020204" pitchFamily="34" charset="0"/>
            </a:endParaRPr>
          </a:p>
        </p:txBody>
      </p:sp>
      <p:pic>
        <p:nvPicPr>
          <p:cNvPr id="31" name="Picture 30">
            <a:extLst>
              <a:ext uri="{FF2B5EF4-FFF2-40B4-BE49-F238E27FC236}">
                <a16:creationId xmlns:a16="http://schemas.microsoft.com/office/drawing/2014/main" id="{741DACC1-30BA-A47C-3023-DE2458FFEE9E}"/>
              </a:ext>
            </a:extLst>
          </p:cNvPr>
          <p:cNvPicPr>
            <a:picLocks noChangeAspect="1"/>
          </p:cNvPicPr>
          <p:nvPr/>
        </p:nvPicPr>
        <p:blipFill>
          <a:blip r:embed="rId6"/>
          <a:stretch>
            <a:fillRect/>
          </a:stretch>
        </p:blipFill>
        <p:spPr>
          <a:xfrm>
            <a:off x="6186932" y="3038087"/>
            <a:ext cx="2742184" cy="990751"/>
          </a:xfrm>
          <a:prstGeom prst="rect">
            <a:avLst/>
          </a:prstGeom>
        </p:spPr>
      </p:pic>
      <p:sp>
        <p:nvSpPr>
          <p:cNvPr id="32" name="TextBox 31">
            <a:extLst>
              <a:ext uri="{FF2B5EF4-FFF2-40B4-BE49-F238E27FC236}">
                <a16:creationId xmlns:a16="http://schemas.microsoft.com/office/drawing/2014/main" id="{AA7AE9C7-6C85-D9CE-2266-2F9773542D0A}"/>
              </a:ext>
            </a:extLst>
          </p:cNvPr>
          <p:cNvSpPr txBox="1"/>
          <p:nvPr/>
        </p:nvSpPr>
        <p:spPr>
          <a:xfrm>
            <a:off x="6471920" y="4378960"/>
            <a:ext cx="2342896" cy="523220"/>
          </a:xfrm>
          <a:prstGeom prst="rect">
            <a:avLst/>
          </a:prstGeom>
          <a:noFill/>
        </p:spPr>
        <p:txBody>
          <a:bodyPr wrap="square" rtlCol="0">
            <a:spAutoFit/>
          </a:bodyPr>
          <a:lstStyle/>
          <a:p>
            <a:pPr algn="ctr"/>
            <a:r>
              <a:rPr lang="en-US" sz="1400" dirty="0">
                <a:latin typeface="Arial" panose="020B0604020202020204" pitchFamily="34" charset="0"/>
                <a:cs typeface="Arial" panose="020B0604020202020204" pitchFamily="34" charset="0"/>
              </a:rPr>
              <a:t>Salary Component Breakdown</a:t>
            </a:r>
            <a:endParaRPr lang="en-IN" sz="1400" dirty="0">
              <a:latin typeface="Arial" panose="020B0604020202020204" pitchFamily="34" charset="0"/>
              <a:cs typeface="Arial" panose="020B0604020202020204" pitchFamily="34" charset="0"/>
            </a:endParaRPr>
          </a:p>
        </p:txBody>
      </p:sp>
    </p:spTree>
    <p:custDataLst>
      <p:tags r:id="rId1"/>
    </p:custDataLst>
  </p:cSld>
  <p:clrMapOvr>
    <a:masterClrMapping/>
  </p:clrMapOvr>
  <mc:AlternateContent xmlns:mc="http://schemas.openxmlformats.org/markup-compatibility/2006" xmlns:p14="http://schemas.microsoft.com/office/powerpoint/2010/main">
    <mc:Choice Requires="p14">
      <p:transition spd="slow" p14:dur="2000" advTm="56981"/>
    </mc:Choice>
    <mc:Fallback xmlns="">
      <p:transition spd="slow" advTm="56981"/>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320040" y="621792"/>
            <a:ext cx="8229600" cy="438912"/>
          </a:xfrm>
          <a:prstGeom prst="rect">
            <a:avLst/>
          </a:prstGeom>
          <a:noFill/>
          <a:ln/>
        </p:spPr>
        <p:txBody>
          <a:bodyPr wrap="square" rtlCol="0" anchor="ctr"/>
          <a:lstStyle/>
          <a:p>
            <a:pPr marL="0" indent="0">
              <a:buNone/>
            </a:pPr>
            <a:r>
              <a:rPr lang="en-US" sz="2200" b="1" dirty="0">
                <a:solidFill>
                  <a:srgbClr val="1B3A8A"/>
                </a:solidFill>
                <a:latin typeface="Calibri" pitchFamily="34" charset="0"/>
                <a:ea typeface="Calibri" pitchFamily="34" charset="-122"/>
                <a:cs typeface="Calibri" pitchFamily="34" charset="-120"/>
              </a:rPr>
              <a:t>Video of Project Demo</a:t>
            </a:r>
            <a:endParaRPr lang="en-US" sz="2200" dirty="0"/>
          </a:p>
        </p:txBody>
      </p:sp>
      <p:sp>
        <p:nvSpPr>
          <p:cNvPr id="6" name="Shape 4"/>
          <p:cNvSpPr/>
          <p:nvPr/>
        </p:nvSpPr>
        <p:spPr>
          <a:xfrm>
            <a:off x="411480" y="685800"/>
            <a:ext cx="8412480" cy="3977640"/>
          </a:xfrm>
          <a:prstGeom prst="rect">
            <a:avLst/>
          </a:prstGeom>
          <a:solidFill>
            <a:srgbClr val="ECEFF1"/>
          </a:solidFill>
          <a:ln w="25400">
            <a:solidFill>
              <a:srgbClr val="1B3A8A"/>
            </a:solidFill>
            <a:prstDash val="solid"/>
          </a:ln>
        </p:spPr>
        <p:txBody>
          <a:bodyPr/>
          <a:lstStyle/>
          <a:p>
            <a:endParaRPr lang="en-IN"/>
          </a:p>
        </p:txBody>
      </p:sp>
      <p:sp>
        <p:nvSpPr>
          <p:cNvPr id="7" name="Shape 5"/>
          <p:cNvSpPr/>
          <p:nvPr/>
        </p:nvSpPr>
        <p:spPr>
          <a:xfrm>
            <a:off x="365760" y="685800"/>
            <a:ext cx="8412480" cy="384048"/>
          </a:xfrm>
          <a:prstGeom prst="rect">
            <a:avLst/>
          </a:prstGeom>
          <a:solidFill>
            <a:srgbClr val="E0E0E0"/>
          </a:solidFill>
          <a:ln/>
        </p:spPr>
        <p:txBody>
          <a:bodyPr/>
          <a:lstStyle/>
          <a:p>
            <a:endParaRPr lang="en-IN"/>
          </a:p>
        </p:txBody>
      </p:sp>
      <p:sp>
        <p:nvSpPr>
          <p:cNvPr id="8" name="Shape 6"/>
          <p:cNvSpPr/>
          <p:nvPr/>
        </p:nvSpPr>
        <p:spPr>
          <a:xfrm>
            <a:off x="502920" y="777240"/>
            <a:ext cx="164592" cy="164592"/>
          </a:xfrm>
          <a:prstGeom prst="ellipse">
            <a:avLst/>
          </a:prstGeom>
          <a:solidFill>
            <a:srgbClr val="FF5F57"/>
          </a:solidFill>
          <a:ln/>
        </p:spPr>
        <p:txBody>
          <a:bodyPr/>
          <a:lstStyle/>
          <a:p>
            <a:endParaRPr lang="en-IN"/>
          </a:p>
        </p:txBody>
      </p:sp>
      <p:sp>
        <p:nvSpPr>
          <p:cNvPr id="9" name="Shape 7"/>
          <p:cNvSpPr/>
          <p:nvPr/>
        </p:nvSpPr>
        <p:spPr>
          <a:xfrm>
            <a:off x="731520" y="777240"/>
            <a:ext cx="164592" cy="164592"/>
          </a:xfrm>
          <a:prstGeom prst="ellipse">
            <a:avLst/>
          </a:prstGeom>
          <a:solidFill>
            <a:srgbClr val="FEBC2E"/>
          </a:solidFill>
          <a:ln/>
        </p:spPr>
        <p:txBody>
          <a:bodyPr/>
          <a:lstStyle/>
          <a:p>
            <a:endParaRPr lang="en-IN"/>
          </a:p>
        </p:txBody>
      </p:sp>
      <p:sp>
        <p:nvSpPr>
          <p:cNvPr id="10" name="Shape 8"/>
          <p:cNvSpPr/>
          <p:nvPr/>
        </p:nvSpPr>
        <p:spPr>
          <a:xfrm>
            <a:off x="960120" y="777240"/>
            <a:ext cx="164592" cy="164592"/>
          </a:xfrm>
          <a:prstGeom prst="ellipse">
            <a:avLst/>
          </a:prstGeom>
          <a:solidFill>
            <a:srgbClr val="28C840"/>
          </a:solidFill>
          <a:ln/>
        </p:spPr>
        <p:txBody>
          <a:bodyPr/>
          <a:lstStyle/>
          <a:p>
            <a:endParaRPr lang="en-IN"/>
          </a:p>
        </p:txBody>
      </p:sp>
      <p:sp>
        <p:nvSpPr>
          <p:cNvPr id="11" name="Shape 9"/>
          <p:cNvSpPr/>
          <p:nvPr/>
        </p:nvSpPr>
        <p:spPr>
          <a:xfrm>
            <a:off x="1371600" y="777240"/>
            <a:ext cx="5029200" cy="201168"/>
          </a:xfrm>
          <a:prstGeom prst="rect">
            <a:avLst/>
          </a:prstGeom>
          <a:solidFill>
            <a:srgbClr val="FFFFFF"/>
          </a:solidFill>
          <a:ln w="6350">
            <a:solidFill>
              <a:srgbClr val="CCCCCC"/>
            </a:solidFill>
            <a:prstDash val="solid"/>
          </a:ln>
        </p:spPr>
        <p:txBody>
          <a:bodyPr/>
          <a:lstStyle/>
          <a:p>
            <a:r>
              <a:rPr lang="en-IN" sz="1100" dirty="0">
                <a:hlinkClick r:id="rId4"/>
              </a:rPr>
              <a:t>https://drive.google.com/drive/folders/1cLfXVnzroVGITwH7DL3bzR9n97L4IDyP</a:t>
            </a:r>
            <a:endParaRPr lang="en-IN" sz="1100" dirty="0"/>
          </a:p>
        </p:txBody>
      </p:sp>
      <p:sp>
        <p:nvSpPr>
          <p:cNvPr id="12" name="Text 10"/>
          <p:cNvSpPr/>
          <p:nvPr/>
        </p:nvSpPr>
        <p:spPr>
          <a:xfrm>
            <a:off x="1389888" y="768096"/>
            <a:ext cx="4992624" cy="219456"/>
          </a:xfrm>
          <a:prstGeom prst="rect">
            <a:avLst/>
          </a:prstGeom>
          <a:noFill/>
          <a:ln/>
        </p:spPr>
        <p:txBody>
          <a:bodyPr wrap="square" rtlCol="0" anchor="ctr"/>
          <a:lstStyle/>
          <a:p>
            <a:pPr marL="0" indent="0">
              <a:buNone/>
            </a:pPr>
            <a:endParaRPr lang="en-US" sz="900" dirty="0"/>
          </a:p>
        </p:txBody>
      </p:sp>
      <p:sp>
        <p:nvSpPr>
          <p:cNvPr id="13" name="Shape 11"/>
          <p:cNvSpPr/>
          <p:nvPr/>
        </p:nvSpPr>
        <p:spPr>
          <a:xfrm>
            <a:off x="3749040" y="1828800"/>
            <a:ext cx="1645920" cy="1645920"/>
          </a:xfrm>
          <a:prstGeom prst="ellipse">
            <a:avLst/>
          </a:prstGeom>
          <a:solidFill>
            <a:srgbClr val="1B3A8A">
              <a:alpha val="80000"/>
            </a:srgbClr>
          </a:solidFill>
          <a:ln/>
        </p:spPr>
        <p:txBody>
          <a:bodyPr/>
          <a:lstStyle/>
          <a:p>
            <a:endParaRPr lang="en-IN" dirty="0"/>
          </a:p>
        </p:txBody>
      </p:sp>
      <p:sp>
        <p:nvSpPr>
          <p:cNvPr id="14" name="Text 12"/>
          <p:cNvSpPr/>
          <p:nvPr/>
        </p:nvSpPr>
        <p:spPr>
          <a:xfrm>
            <a:off x="3749040" y="1828800"/>
            <a:ext cx="1645920" cy="1645920"/>
          </a:xfrm>
          <a:prstGeom prst="rect">
            <a:avLst/>
          </a:prstGeom>
          <a:noFill/>
          <a:ln/>
        </p:spPr>
        <p:txBody>
          <a:bodyPr wrap="square" rtlCol="0" anchor="ctr"/>
          <a:lstStyle/>
          <a:p>
            <a:pPr marL="0" indent="0" algn="ctr">
              <a:buNone/>
            </a:pPr>
            <a:r>
              <a:rPr lang="en-US" sz="4800" dirty="0">
                <a:solidFill>
                  <a:srgbClr val="FFFFFF"/>
                </a:solidFill>
              </a:rPr>
              <a:t>▶</a:t>
            </a:r>
            <a:endParaRPr lang="en-US" sz="4800" dirty="0"/>
          </a:p>
        </p:txBody>
      </p:sp>
      <p:sp>
        <p:nvSpPr>
          <p:cNvPr id="15" name="Text 13"/>
          <p:cNvSpPr/>
          <p:nvPr/>
        </p:nvSpPr>
        <p:spPr>
          <a:xfrm>
            <a:off x="914400" y="3794760"/>
            <a:ext cx="7315200" cy="594360"/>
          </a:xfrm>
          <a:prstGeom prst="rect">
            <a:avLst/>
          </a:prstGeom>
          <a:noFill/>
          <a:ln/>
        </p:spPr>
        <p:txBody>
          <a:bodyPr wrap="square" rtlCol="0" anchor="ctr"/>
          <a:lstStyle/>
          <a:p>
            <a:pPr marL="0" indent="0" algn="ctr">
              <a:buNone/>
            </a:pPr>
            <a:r>
              <a:rPr lang="en-US" sz="1100" i="1" dirty="0">
                <a:solidFill>
                  <a:srgbClr val="607D8B"/>
                </a:solidFill>
                <a:latin typeface="Calibri" pitchFamily="34" charset="0"/>
                <a:ea typeface="Calibri" pitchFamily="34" charset="-122"/>
                <a:cs typeface="Calibri" pitchFamily="34" charset="-120"/>
              </a:rPr>
              <a:t>[Insert your project demo video.</a:t>
            </a:r>
            <a:endParaRPr lang="en-US" sz="1100" dirty="0"/>
          </a:p>
          <a:p>
            <a:pPr marL="0" indent="0" algn="ctr">
              <a:buNone/>
            </a:pPr>
            <a:r>
              <a:rPr lang="en-US" sz="1100" i="1" dirty="0">
                <a:solidFill>
                  <a:srgbClr val="607D8B"/>
                </a:solidFill>
                <a:latin typeface="Calibri" pitchFamily="34" charset="0"/>
                <a:ea typeface="Calibri" pitchFamily="34" charset="-122"/>
                <a:cs typeface="Calibri" pitchFamily="34" charset="-120"/>
              </a:rPr>
              <a:t>You can embed a video your live project.]</a:t>
            </a:r>
            <a:endParaRPr lang="en-US" sz="1100" dirty="0"/>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4" name="Text 2"/>
          <p:cNvSpPr/>
          <p:nvPr/>
        </p:nvSpPr>
        <p:spPr>
          <a:xfrm>
            <a:off x="130351" y="612064"/>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Conclusion</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5486" y="1084927"/>
            <a:ext cx="4446513"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sp>
        <p:nvSpPr>
          <p:cNvPr id="19" name="Text 17"/>
          <p:cNvSpPr/>
          <p:nvPr/>
        </p:nvSpPr>
        <p:spPr>
          <a:xfrm>
            <a:off x="5303520" y="3474720"/>
            <a:ext cx="3017520" cy="502920"/>
          </a:xfrm>
          <a:prstGeom prst="rect">
            <a:avLst/>
          </a:prstGeom>
          <a:noFill/>
          <a:ln/>
        </p:spPr>
        <p:txBody>
          <a:bodyPr wrap="square" rtlCol="0" anchor="ctr"/>
          <a:lstStyle/>
          <a:p>
            <a:pPr marL="0" indent="0" algn="ctr">
              <a:buNone/>
            </a:pPr>
            <a:r>
              <a:rPr lang="en-US" sz="1600" b="1" kern="0" spc="200" dirty="0">
                <a:solidFill>
                  <a:srgbClr val="FFFFFF"/>
                </a:solidFill>
                <a:latin typeface="Lato" panose="020F0502020204030203" pitchFamily="34" charset="0"/>
                <a:ea typeface="Calibri" pitchFamily="34" charset="-122"/>
                <a:cs typeface="Calibri" pitchFamily="34" charset="-120"/>
              </a:rPr>
              <a:t>CONCLUSION</a:t>
            </a:r>
            <a:endParaRPr lang="en-US" sz="1600" dirty="0">
              <a:latin typeface="Lato" panose="020F0502020204030203" pitchFamily="34" charset="0"/>
            </a:endParaRPr>
          </a:p>
        </p:txBody>
      </p:sp>
      <p:pic>
        <p:nvPicPr>
          <p:cNvPr id="20" name="Picture 19" descr="A blue circle with a pencil and paper with a star on it&#10;&#10;AI-generated content may be incorrect.">
            <a:extLst>
              <a:ext uri="{FF2B5EF4-FFF2-40B4-BE49-F238E27FC236}">
                <a16:creationId xmlns:a16="http://schemas.microsoft.com/office/drawing/2014/main" id="{BAE68F53-65EE-1751-E92D-7025D978B68E}"/>
              </a:ext>
            </a:extLst>
          </p:cNvPr>
          <p:cNvPicPr>
            <a:picLocks noChangeAspect="1"/>
          </p:cNvPicPr>
          <p:nvPr/>
        </p:nvPicPr>
        <p:blipFill>
          <a:blip r:embed="rId4">
            <a:duotone>
              <a:schemeClr val="accent1">
                <a:shade val="45000"/>
                <a:satMod val="135000"/>
              </a:schemeClr>
              <a:prstClr val="white"/>
            </a:duotone>
          </a:blip>
          <a:srcRect l="25397" t="26296" r="26825" b="29752"/>
          <a:stretch>
            <a:fillRect/>
          </a:stretch>
        </p:blipFill>
        <p:spPr>
          <a:xfrm>
            <a:off x="4898406" y="971550"/>
            <a:ext cx="3597456" cy="3309355"/>
          </a:xfrm>
          <a:prstGeom prst="rect">
            <a:avLst/>
          </a:prstGeom>
        </p:spPr>
      </p:pic>
      <p:sp>
        <p:nvSpPr>
          <p:cNvPr id="3" name="TextBox 2">
            <a:extLst>
              <a:ext uri="{FF2B5EF4-FFF2-40B4-BE49-F238E27FC236}">
                <a16:creationId xmlns:a16="http://schemas.microsoft.com/office/drawing/2014/main" id="{343FD942-5C08-1FF4-0EED-8B55B1E2322C}"/>
              </a:ext>
            </a:extLst>
          </p:cNvPr>
          <p:cNvSpPr txBox="1"/>
          <p:nvPr/>
        </p:nvSpPr>
        <p:spPr>
          <a:xfrm>
            <a:off x="223520" y="1410462"/>
            <a:ext cx="4348479" cy="2308324"/>
          </a:xfrm>
          <a:prstGeom prst="rect">
            <a:avLst/>
          </a:prstGeom>
          <a:noFill/>
        </p:spPr>
        <p:txBody>
          <a:bodyPr wrap="square">
            <a:spAutoFit/>
          </a:bodyPr>
          <a:lstStyle/>
          <a:p>
            <a:pPr marL="285750" indent="-285750">
              <a:buFont typeface="Arial" panose="020B0604020202020204" pitchFamily="34" charset="0"/>
              <a:buChar char="•"/>
            </a:pPr>
            <a:r>
              <a:rPr lang="en-IN" dirty="0"/>
              <a:t>Data cleaning improved payroll accuracy and compliance.</a:t>
            </a:r>
          </a:p>
          <a:p>
            <a:pPr marL="285750" indent="-285750">
              <a:buFont typeface="Arial" panose="020B0604020202020204" pitchFamily="34" charset="0"/>
              <a:buChar char="•"/>
            </a:pPr>
            <a:r>
              <a:rPr lang="en-IN" dirty="0"/>
              <a:t>Dashboards provided transparency into workforce costs.</a:t>
            </a:r>
          </a:p>
          <a:p>
            <a:pPr marL="285750" indent="-285750">
              <a:buFont typeface="Arial" panose="020B0604020202020204" pitchFamily="34" charset="0"/>
              <a:buChar char="•"/>
            </a:pPr>
            <a:r>
              <a:rPr lang="en-IN" dirty="0"/>
              <a:t>AI-assisted workflows saved time and ensured reproducibility.</a:t>
            </a:r>
          </a:p>
          <a:p>
            <a:pPr marL="285750" indent="-285750">
              <a:buFont typeface="Arial" panose="020B0604020202020204" pitchFamily="34" charset="0"/>
              <a:buChar char="•"/>
            </a:pPr>
            <a:r>
              <a:rPr lang="en-IN" dirty="0"/>
              <a:t>Objectives achieved: validated dataset, KPI framework, actionable insights.</a:t>
            </a: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4" name="Text 2"/>
          <p:cNvSpPr/>
          <p:nvPr/>
        </p:nvSpPr>
        <p:spPr>
          <a:xfrm>
            <a:off x="123247" y="613561"/>
            <a:ext cx="8229600" cy="438912"/>
          </a:xfrm>
          <a:prstGeom prst="rect">
            <a:avLst/>
          </a:prstGeom>
          <a:noFill/>
          <a:ln/>
        </p:spPr>
        <p:txBody>
          <a:bodyPr wrap="square" rtlCol="0" anchor="ctr"/>
          <a:lstStyle/>
          <a:p>
            <a:pPr marL="0" indent="0">
              <a:buNone/>
            </a:pPr>
            <a:r>
              <a:rPr lang="en-US" sz="2000" b="1" dirty="0">
                <a:solidFill>
                  <a:srgbClr val="1B3A8A"/>
                </a:solidFill>
                <a:latin typeface="Lato" panose="020F0502020204030203" pitchFamily="34" charset="0"/>
                <a:ea typeface="Calibri" pitchFamily="34" charset="-122"/>
                <a:cs typeface="Arial" panose="020B0604020202020204" pitchFamily="34" charset="0"/>
              </a:rPr>
              <a:t>Future Scope</a:t>
            </a:r>
            <a:endParaRPr lang="en-US" sz="2000" dirty="0">
              <a:latin typeface="Lato" panose="020F0502020204030203" pitchFamily="34" charset="0"/>
              <a:cs typeface="Arial" panose="020B0604020202020204" pitchFamily="34" charset="0"/>
            </a:endParaRPr>
          </a:p>
        </p:txBody>
      </p:sp>
      <p:sp>
        <p:nvSpPr>
          <p:cNvPr id="14" name="Text 12"/>
          <p:cNvSpPr/>
          <p:nvPr/>
        </p:nvSpPr>
        <p:spPr>
          <a:xfrm>
            <a:off x="123247" y="1082104"/>
            <a:ext cx="4114800" cy="3474720"/>
          </a:xfrm>
          <a:prstGeom prst="rect">
            <a:avLst/>
          </a:prstGeom>
          <a:noFill/>
          <a:ln/>
        </p:spPr>
        <p:txBody>
          <a:bodyPr wrap="square" rtlCol="0" anchor="t"/>
          <a:lstStyle/>
          <a:p>
            <a:pPr marL="0" indent="0">
              <a:buNone/>
            </a:pPr>
            <a:endParaRPr lang="en-US" dirty="0">
              <a:latin typeface="Lato" panose="020F0502020204030203" pitchFamily="34" charset="0"/>
              <a:cs typeface="Arial" panose="020B0604020202020204" pitchFamily="34" charset="0"/>
            </a:endParaRPr>
          </a:p>
        </p:txBody>
      </p:sp>
      <p:pic>
        <p:nvPicPr>
          <p:cNvPr id="2" name="Picture 1">
            <a:extLst>
              <a:ext uri="{FF2B5EF4-FFF2-40B4-BE49-F238E27FC236}">
                <a16:creationId xmlns:a16="http://schemas.microsoft.com/office/drawing/2014/main" id="{412449DB-BF51-DAAE-EA83-F4C00896763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1635" y="879613"/>
            <a:ext cx="4512365" cy="3384274"/>
          </a:xfrm>
          <a:prstGeom prst="rect">
            <a:avLst/>
          </a:prstGeom>
        </p:spPr>
      </p:pic>
      <p:sp>
        <p:nvSpPr>
          <p:cNvPr id="5" name="TextBox 4">
            <a:extLst>
              <a:ext uri="{FF2B5EF4-FFF2-40B4-BE49-F238E27FC236}">
                <a16:creationId xmlns:a16="http://schemas.microsoft.com/office/drawing/2014/main" id="{98F6B9D9-CB3E-8311-9116-FD9370EE89B0}"/>
              </a:ext>
            </a:extLst>
          </p:cNvPr>
          <p:cNvSpPr txBox="1"/>
          <p:nvPr/>
        </p:nvSpPr>
        <p:spPr>
          <a:xfrm>
            <a:off x="123248" y="1082104"/>
            <a:ext cx="4204912" cy="2308324"/>
          </a:xfrm>
          <a:prstGeom prst="rect">
            <a:avLst/>
          </a:prstGeom>
          <a:noFill/>
        </p:spPr>
        <p:txBody>
          <a:bodyPr wrap="square">
            <a:spAutoFit/>
          </a:bodyPr>
          <a:lstStyle/>
          <a:p>
            <a:pPr marL="285750" indent="-285750">
              <a:buFont typeface="Arial" panose="020B0604020202020204" pitchFamily="34" charset="0"/>
              <a:buChar char="•"/>
            </a:pPr>
            <a:r>
              <a:rPr lang="en-US" dirty="0"/>
              <a:t>Integration with real-time payroll systems.</a:t>
            </a:r>
          </a:p>
          <a:p>
            <a:pPr marL="285750" indent="-285750">
              <a:buFont typeface="Arial" panose="020B0604020202020204" pitchFamily="34" charset="0"/>
              <a:buChar char="•"/>
            </a:pPr>
            <a:r>
              <a:rPr lang="en-US" dirty="0"/>
              <a:t>Expansion into predictive analytics (spending demand, churn prediction).</a:t>
            </a:r>
          </a:p>
          <a:p>
            <a:pPr marL="285750" indent="-285750">
              <a:buFont typeface="Arial" panose="020B0604020202020204" pitchFamily="34" charset="0"/>
              <a:buChar char="•"/>
            </a:pPr>
            <a:r>
              <a:rPr lang="en-US" dirty="0"/>
              <a:t>Enhanced personalization via customer segmentation.</a:t>
            </a:r>
          </a:p>
          <a:p>
            <a:pPr marL="285750" indent="-285750">
              <a:buFont typeface="Arial" panose="020B0604020202020204" pitchFamily="34" charset="0"/>
              <a:buChar char="•"/>
            </a:pPr>
            <a:r>
              <a:rPr lang="en-US" dirty="0"/>
              <a:t>Scalability with Power BI and advanced AI models.</a:t>
            </a:r>
            <a:endParaRPr lang="en-IN" dirty="0"/>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5" name="Text 3"/>
          <p:cNvSpPr/>
          <p:nvPr/>
        </p:nvSpPr>
        <p:spPr>
          <a:xfrm>
            <a:off x="914400" y="3017520"/>
            <a:ext cx="7315200" cy="411480"/>
          </a:xfrm>
          <a:prstGeom prst="rect">
            <a:avLst/>
          </a:prstGeom>
          <a:noFill/>
          <a:ln/>
        </p:spPr>
        <p:txBody>
          <a:bodyPr wrap="square" rtlCol="0" anchor="ctr"/>
          <a:lstStyle/>
          <a:p>
            <a:pPr marL="0" indent="0" algn="ctr">
              <a:buNone/>
            </a:pPr>
            <a:r>
              <a:rPr lang="en-US" sz="1400" kern="0" spc="200" dirty="0">
                <a:latin typeface="Lato" panose="020F0502020204030203" pitchFamily="34" charset="0"/>
                <a:ea typeface="Calibri" pitchFamily="34" charset="-122"/>
                <a:cs typeface="Arial" panose="020B0604020202020204" pitchFamily="34" charset="0"/>
              </a:rPr>
              <a:t>AICW Fellowship  |  Student Project Presentation 2026</a:t>
            </a:r>
            <a:endParaRPr lang="en-US" sz="1400" dirty="0">
              <a:latin typeface="Lato" panose="020F0502020204030203" pitchFamily="34" charset="0"/>
              <a:cs typeface="Arial" panose="020B0604020202020204" pitchFamily="34" charset="0"/>
            </a:endParaRPr>
          </a:p>
        </p:txBody>
      </p:sp>
      <p:sp>
        <p:nvSpPr>
          <p:cNvPr id="6" name="Text 4"/>
          <p:cNvSpPr/>
          <p:nvPr/>
        </p:nvSpPr>
        <p:spPr>
          <a:xfrm>
            <a:off x="914400" y="3566160"/>
            <a:ext cx="7315200" cy="320040"/>
          </a:xfrm>
          <a:prstGeom prst="rect">
            <a:avLst/>
          </a:prstGeom>
          <a:noFill/>
          <a:ln/>
        </p:spPr>
        <p:txBody>
          <a:bodyPr wrap="square" lIns="91440" tIns="45720" rIns="91440" bIns="45720" rtlCol="0" anchor="ctr"/>
          <a:lstStyle/>
          <a:p>
            <a:pPr marL="0" indent="0" algn="ctr">
              <a:buNone/>
            </a:pPr>
            <a:r>
              <a:rPr lang="en-US" sz="1100" dirty="0">
                <a:latin typeface="Lato" panose="020F0502020204030203" pitchFamily="34" charset="0"/>
                <a:ea typeface="Calibri"/>
                <a:cs typeface="Arial" panose="020B0604020202020204" pitchFamily="34" charset="0"/>
              </a:rPr>
              <a:t>  LinkedIn  |   </a:t>
            </a:r>
            <a:r>
              <a:rPr lang="en-US" sz="1100" dirty="0" err="1">
                <a:latin typeface="Lato" panose="020F0502020204030203" pitchFamily="34" charset="0"/>
                <a:ea typeface="Calibri"/>
                <a:cs typeface="Arial" panose="020B0604020202020204" pitchFamily="34" charset="0"/>
              </a:rPr>
              <a:t>Edunet</a:t>
            </a:r>
            <a:r>
              <a:rPr lang="en-US" sz="1100" dirty="0">
                <a:latin typeface="Lato" panose="020F0502020204030203" pitchFamily="34" charset="0"/>
                <a:ea typeface="Calibri"/>
                <a:cs typeface="Arial" panose="020B0604020202020204" pitchFamily="34" charset="0"/>
              </a:rPr>
              <a:t> Foundation</a:t>
            </a:r>
            <a:endParaRPr lang="en-US" sz="1100" dirty="0">
              <a:latin typeface="Lato" panose="020F0502020204030203" pitchFamily="34" charset="0"/>
              <a:cs typeface="Arial" panose="020B0604020202020204" pitchFamily="34" charset="0"/>
            </a:endParaRPr>
          </a:p>
        </p:txBody>
      </p:sp>
      <p:sp>
        <p:nvSpPr>
          <p:cNvPr id="9" name="TextBox 4">
            <a:extLst>
              <a:ext uri="{FF2B5EF4-FFF2-40B4-BE49-F238E27FC236}">
                <a16:creationId xmlns:a16="http://schemas.microsoft.com/office/drawing/2014/main" id="{F7A740B1-0782-B37E-5F62-503024E32BC9}"/>
              </a:ext>
            </a:extLst>
          </p:cNvPr>
          <p:cNvSpPr txBox="1"/>
          <p:nvPr/>
        </p:nvSpPr>
        <p:spPr>
          <a:xfrm>
            <a:off x="2632982" y="1705295"/>
            <a:ext cx="3878036" cy="1175065"/>
          </a:xfrm>
          <a:prstGeom prst="rect">
            <a:avLst/>
          </a:prstGeom>
        </p:spPr>
        <p:txBody>
          <a:bodyPr wrap="square" lIns="0" tIns="0" rIns="0" bIns="0" rtlCol="0" anchor="t">
            <a:spAutoFit/>
          </a:bodyPr>
          <a:lstStyle/>
          <a:p>
            <a:pPr algn="ctr">
              <a:lnSpc>
                <a:spcPts val="10686"/>
              </a:lnSpc>
            </a:pPr>
            <a:r>
              <a:rPr lang="en-US" sz="5000" b="1" dirty="0">
                <a:solidFill>
                  <a:srgbClr val="0D358D"/>
                </a:solidFill>
                <a:latin typeface="Lato" panose="020F0502020204030203" pitchFamily="34" charset="0"/>
                <a:ea typeface="Aileron Ultra-Bold"/>
                <a:cs typeface="Arial" panose="020B0604020202020204" pitchFamily="34" charset="0"/>
                <a:sym typeface="Aileron Ultra-Bold"/>
              </a:rPr>
              <a:t>Thank You</a:t>
            </a:r>
          </a:p>
        </p:txBody>
      </p:sp>
    </p:spTree>
    <p:custDataLst>
      <p:tags r:id="rId1"/>
    </p:custData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DESIGN_ID_OFFICE THEME" val="ROGxgyxs"/>
  <p:tag name="ARTICULATE_PROJECT_OPEN" val="0"/>
  <p:tag name="ARTICULATE_SLIDE_COUNT" val="1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8.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9.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0.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1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632</TotalTime>
  <Words>825</Words>
  <Application>Microsoft Office PowerPoint</Application>
  <PresentationFormat>On-screen Show (16:9)</PresentationFormat>
  <Paragraphs>95</Paragraphs>
  <Slides>15</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Lato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AICW Student Project Presentation Template 2026</dc:title>
  <dc:subject>PptxGenJS Presentation</dc:subject>
  <dc:creator>PptxGenJS</dc:creator>
  <cp:lastModifiedBy>Srijoni Gupta</cp:lastModifiedBy>
  <cp:revision>44</cp:revision>
  <dcterms:created xsi:type="dcterms:W3CDTF">2026-02-18T09:17:23Z</dcterms:created>
  <dcterms:modified xsi:type="dcterms:W3CDTF">2026-04-13T08:28:02Z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1F7F540C-1CAD-4091-84DE-558331FD12BA</vt:lpwstr>
  </property>
  <property fmtid="{D5CDD505-2E9C-101B-9397-08002B2CF9AE}" pid="3" name="ArticulatePath">
    <vt:lpwstr>https://edunetfoundationorg-my.sharepoint.com/personal/kaisar_edunetfoundation_org/Documents/Task/AICW/Student project/AI Fellowship Project Template2026 (1)</vt:lpwstr>
  </property>
</Properties>
</file>