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tags/tag5.xml" ContentType="application/vnd.openxmlformats-officedocument.presentationml.tags+xml"/>
  <Override PartName="/ppt/notesSlides/notesSlide1.xml" ContentType="application/vnd.openxmlformats-officedocument.presentationml.notesSlide+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notesSlides/notesSlide3.xml" ContentType="application/vnd.openxmlformats-officedocument.presentationml.notesSlide+xml"/>
  <Override PartName="/ppt/tags/tag8.xml" ContentType="application/vnd.openxmlformats-officedocument.presentationml.tags+xml"/>
  <Override PartName="/ppt/notesSlides/notesSlide4.xml" ContentType="application/vnd.openxmlformats-officedocument.presentationml.notesSlide+xml"/>
  <Override PartName="/ppt/tags/tag9.xml" ContentType="application/vnd.openxmlformats-officedocument.presentationml.tags+xml"/>
  <Override PartName="/ppt/notesSlides/notesSlide5.xml" ContentType="application/vnd.openxmlformats-officedocument.presentationml.notesSlide+xml"/>
  <Override PartName="/ppt/tags/tag10.xml" ContentType="application/vnd.openxmlformats-officedocument.presentationml.tags+xml"/>
  <Override PartName="/ppt/notesSlides/notesSlide6.xml" ContentType="application/vnd.openxmlformats-officedocument.presentationml.notesSlide+xml"/>
  <Override PartName="/ppt/tags/tag11.xml" ContentType="application/vnd.openxmlformats-officedocument.presentationml.tags+xml"/>
  <Override PartName="/ppt/notesSlides/notesSlide7.xml" ContentType="application/vnd.openxmlformats-officedocument.presentationml.notesSlide+xml"/>
  <Override PartName="/ppt/tags/tag12.xml" ContentType="application/vnd.openxmlformats-officedocument.presentationml.tags+xml"/>
  <Override PartName="/ppt/notesSlides/notesSlide8.xml" ContentType="application/vnd.openxmlformats-officedocument.presentationml.notesSlide+xml"/>
  <Override PartName="/ppt/tags/tag13.xml" ContentType="application/vnd.openxmlformats-officedocument.presentationml.tags+xml"/>
  <Override PartName="/ppt/notesSlides/notesSlide9.xml" ContentType="application/vnd.openxmlformats-officedocument.presentationml.notesSlide+xml"/>
  <Override PartName="/ppt/tags/tag14.xml" ContentType="application/vnd.openxmlformats-officedocument.presentationml.tags+xml"/>
  <Override PartName="/ppt/notesSlides/notesSlide10.xml" ContentType="application/vnd.openxmlformats-officedocument.presentationml.notesSlide+xml"/>
  <Override PartName="/ppt/tags/tag15.xml" ContentType="application/vnd.openxmlformats-officedocument.presentationml.tags+xml"/>
  <Override PartName="/ppt/notesSlides/notesSlide1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68" r:id="rId2"/>
    <p:sldId id="257" r:id="rId3"/>
    <p:sldId id="258" r:id="rId4"/>
    <p:sldId id="272" r:id="rId5"/>
    <p:sldId id="259" r:id="rId6"/>
    <p:sldId id="270" r:id="rId7"/>
    <p:sldId id="269" r:id="rId8"/>
    <p:sldId id="260" r:id="rId9"/>
    <p:sldId id="271" r:id="rId10"/>
    <p:sldId id="261" r:id="rId11"/>
    <p:sldId id="262" r:id="rId12"/>
    <p:sldId id="263" r:id="rId13"/>
    <p:sldId id="264" r:id="rId14"/>
    <p:sldId id="265" r:id="rId15"/>
    <p:sldId id="266" r:id="rId16"/>
  </p:sldIdLst>
  <p:sldSz cx="9144000" cy="5143500" type="screen16x9"/>
  <p:notesSz cx="5143500" cy="9144000"/>
  <p:custDataLst>
    <p:tags r:id="rId18"/>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12" userDrawn="1">
          <p15:clr>
            <a:srgbClr val="A4A3A4"/>
          </p15:clr>
        </p15:guide>
        <p15:guide id="2" orient="horz" pos="852" userDrawn="1">
          <p15:clr>
            <a:srgbClr val="A4A3A4"/>
          </p15:clr>
        </p15:guide>
        <p15:guide id="3" pos="14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565C0"/>
    <a:srgbClr val="FDF3ED"/>
    <a:srgbClr val="CEE3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CBDC38-0F0C-EF0A-5169-FC033B4B9FA1}" v="4" dt="2026-02-19T06:35:51.132"/>
    <p1510:client id="{DDC0B4EE-2D5D-447B-AE11-6BA75CAE74F0}" v="57" dt="2026-02-19T11:04:26.3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1" d="100"/>
          <a:sy n="91" d="100"/>
        </p:scale>
        <p:origin x="162" y="90"/>
      </p:cViewPr>
      <p:guideLst>
        <p:guide orient="horz" pos="612"/>
        <p:guide orient="horz" pos="852"/>
        <p:guide pos="1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gs" Target="tags/tag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654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B537A-B4DE-D1CE-3512-BCBDE4AC70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8C2033-F357-E6BE-5BF1-877BC1AD1B3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A567B0F-4F1D-ECFE-050E-B551ABF85EAD}"/>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6398896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ustDataLst>
      <p:tags r:id="rId1"/>
    </p:custData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65203801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 name="Group 8">
            <a:extLst>
              <a:ext uri="{FF2B5EF4-FFF2-40B4-BE49-F238E27FC236}">
                <a16:creationId xmlns:a16="http://schemas.microsoft.com/office/drawing/2014/main" id="{A68FA2BF-9B6A-948D-43A3-04C207F5B33C}"/>
              </a:ext>
            </a:extLst>
          </p:cNvPr>
          <p:cNvGrpSpPr/>
          <p:nvPr userDrawn="1"/>
        </p:nvGrpSpPr>
        <p:grpSpPr>
          <a:xfrm flipH="1">
            <a:off x="0" y="5036127"/>
            <a:ext cx="9144000" cy="107373"/>
            <a:chOff x="0" y="0"/>
            <a:chExt cx="4402382" cy="66464"/>
          </a:xfrm>
        </p:grpSpPr>
        <p:sp>
          <p:nvSpPr>
            <p:cNvPr id="3" name="Freeform 9">
              <a:extLst>
                <a:ext uri="{FF2B5EF4-FFF2-40B4-BE49-F238E27FC236}">
                  <a16:creationId xmlns:a16="http://schemas.microsoft.com/office/drawing/2014/main" id="{8B83B97F-BA22-827B-E1BD-8DD9E1D3E0F6}"/>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4" name="TextBox 10">
              <a:extLst>
                <a:ext uri="{FF2B5EF4-FFF2-40B4-BE49-F238E27FC236}">
                  <a16:creationId xmlns:a16="http://schemas.microsoft.com/office/drawing/2014/main" id="{FC94FAC8-E161-FF7D-84BF-C498EADA502D}"/>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grpSp>
        <p:nvGrpSpPr>
          <p:cNvPr id="5" name="Group 8">
            <a:extLst>
              <a:ext uri="{FF2B5EF4-FFF2-40B4-BE49-F238E27FC236}">
                <a16:creationId xmlns:a16="http://schemas.microsoft.com/office/drawing/2014/main" id="{1988876B-43B4-642F-AB10-8B137A34386D}"/>
              </a:ext>
            </a:extLst>
          </p:cNvPr>
          <p:cNvGrpSpPr/>
          <p:nvPr userDrawn="1"/>
        </p:nvGrpSpPr>
        <p:grpSpPr>
          <a:xfrm>
            <a:off x="0" y="0"/>
            <a:ext cx="9144000" cy="424206"/>
            <a:chOff x="0" y="0"/>
            <a:chExt cx="4402382" cy="66464"/>
          </a:xfrm>
        </p:grpSpPr>
        <p:sp>
          <p:nvSpPr>
            <p:cNvPr id="6" name="Freeform 9">
              <a:extLst>
                <a:ext uri="{FF2B5EF4-FFF2-40B4-BE49-F238E27FC236}">
                  <a16:creationId xmlns:a16="http://schemas.microsoft.com/office/drawing/2014/main" id="{613EFC18-F90F-C121-3F09-53AB8141D658}"/>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7" name="TextBox 10">
              <a:extLst>
                <a:ext uri="{FF2B5EF4-FFF2-40B4-BE49-F238E27FC236}">
                  <a16:creationId xmlns:a16="http://schemas.microsoft.com/office/drawing/2014/main" id="{D81422F7-8BE4-EC53-5307-9812E24315C1}"/>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pic>
        <p:nvPicPr>
          <p:cNvPr id="8" name="Picture 7" descr="A black and white logo&#10;&#10;AI-generated content may be incorrect.">
            <a:extLst>
              <a:ext uri="{FF2B5EF4-FFF2-40B4-BE49-F238E27FC236}">
                <a16:creationId xmlns:a16="http://schemas.microsoft.com/office/drawing/2014/main" id="{31AC86FC-94F1-13A5-98FD-3215960D2A05}"/>
              </a:ext>
            </a:extLst>
          </p:cNvPr>
          <p:cNvPicPr>
            <a:picLocks noChangeAspect="1"/>
          </p:cNvPicPr>
          <p:nvPr userDrawn="1"/>
        </p:nvPicPr>
        <p:blipFill>
          <a:blip r:embed="rId5"/>
          <a:stretch>
            <a:fillRect/>
          </a:stretch>
        </p:blipFill>
        <p:spPr>
          <a:xfrm>
            <a:off x="7820696" y="55166"/>
            <a:ext cx="965086" cy="313873"/>
          </a:xfrm>
          <a:prstGeom prst="rect">
            <a:avLst/>
          </a:prstGeom>
        </p:spPr>
      </p:pic>
    </p:spTree>
    <p:custDataLst>
      <p:tags r:id="rId4"/>
    </p:custDataLst>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notesSlide" Target="../notesSlides/notesSlide1.xml"/><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sv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12.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7.xml"/><Relationship Id="rId5" Type="http://schemas.openxmlformats.org/officeDocument/2006/relationships/image" Target="../media/image14.svg"/><Relationship Id="rId4" Type="http://schemas.openxmlformats.org/officeDocument/2006/relationships/image" Target="../media/image13.png"/></Relationships>
</file>

<file path=ppt/slides/_rels/slide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10.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1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12.xml"/><Relationship Id="rId4" Type="http://schemas.openxmlformats.org/officeDocument/2006/relationships/hyperlink" Target="https://drive.google.com/drive/folders/1cLfXVnzroVGITwH7DL3bzR9n97L4IDyP" TargetMode="Externa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E219A4-F5CF-3B84-A831-006143830DFC}"/>
            </a:ext>
          </a:extLst>
        </p:cNvPr>
        <p:cNvGrpSpPr/>
        <p:nvPr/>
      </p:nvGrpSpPr>
      <p:grpSpPr>
        <a:xfrm>
          <a:off x="0" y="0"/>
          <a:ext cx="0" cy="0"/>
          <a:chOff x="0" y="0"/>
          <a:chExt cx="0" cy="0"/>
        </a:xfrm>
      </p:grpSpPr>
      <p:sp>
        <p:nvSpPr>
          <p:cNvPr id="75" name="Rectangle: Rounded Corners 74">
            <a:extLst>
              <a:ext uri="{FF2B5EF4-FFF2-40B4-BE49-F238E27FC236}">
                <a16:creationId xmlns:a16="http://schemas.microsoft.com/office/drawing/2014/main" id="{5BBAA9FE-14A6-3635-BDE0-21E75B60255D}"/>
              </a:ext>
            </a:extLst>
          </p:cNvPr>
          <p:cNvSpPr/>
          <p:nvPr/>
        </p:nvSpPr>
        <p:spPr>
          <a:xfrm>
            <a:off x="275038" y="630986"/>
            <a:ext cx="3603333" cy="485021"/>
          </a:xfrm>
          <a:prstGeom prst="roundRect">
            <a:avLst/>
          </a:prstGeom>
          <a:solidFill>
            <a:schemeClr val="bg1"/>
          </a:solidFill>
          <a:ln>
            <a:solidFill>
              <a:srgbClr val="1D63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grpSp>
        <p:nvGrpSpPr>
          <p:cNvPr id="2" name="Group 2">
            <a:extLst>
              <a:ext uri="{FF2B5EF4-FFF2-40B4-BE49-F238E27FC236}">
                <a16:creationId xmlns:a16="http://schemas.microsoft.com/office/drawing/2014/main" id="{DC713F69-E6DD-B345-33D3-499B008F7A17}"/>
              </a:ext>
            </a:extLst>
          </p:cNvPr>
          <p:cNvGrpSpPr/>
          <p:nvPr/>
        </p:nvGrpSpPr>
        <p:grpSpPr>
          <a:xfrm>
            <a:off x="0" y="0"/>
            <a:ext cx="4153368" cy="126178"/>
            <a:chOff x="0" y="0"/>
            <a:chExt cx="2187782" cy="66464"/>
          </a:xfrm>
        </p:grpSpPr>
        <p:sp>
          <p:nvSpPr>
            <p:cNvPr id="3" name="Freeform 3">
              <a:extLst>
                <a:ext uri="{FF2B5EF4-FFF2-40B4-BE49-F238E27FC236}">
                  <a16:creationId xmlns:a16="http://schemas.microsoft.com/office/drawing/2014/main" id="{16F12EA0-AE27-85D3-96E6-BED52A471BC9}"/>
                </a:ext>
              </a:extLst>
            </p:cNvPr>
            <p:cNvSpPr/>
            <p:nvPr/>
          </p:nvSpPr>
          <p:spPr>
            <a:xfrm>
              <a:off x="0" y="0"/>
              <a:ext cx="2187782" cy="66464"/>
            </a:xfrm>
            <a:custGeom>
              <a:avLst/>
              <a:gdLst/>
              <a:ahLst/>
              <a:cxnLst/>
              <a:rect l="l" t="t" r="r" b="b"/>
              <a:pathLst>
                <a:path w="2187782" h="66464">
                  <a:moveTo>
                    <a:pt x="0" y="0"/>
                  </a:moveTo>
                  <a:lnTo>
                    <a:pt x="2187782" y="0"/>
                  </a:lnTo>
                  <a:lnTo>
                    <a:pt x="21877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4" name="TextBox 4">
              <a:extLst>
                <a:ext uri="{FF2B5EF4-FFF2-40B4-BE49-F238E27FC236}">
                  <a16:creationId xmlns:a16="http://schemas.microsoft.com/office/drawing/2014/main" id="{EEDED881-7208-D373-6128-A08573FEEA11}"/>
                </a:ext>
              </a:extLst>
            </p:cNvPr>
            <p:cNvSpPr txBox="1"/>
            <p:nvPr/>
          </p:nvSpPr>
          <p:spPr>
            <a:xfrm>
              <a:off x="0" y="-38100"/>
              <a:ext cx="2187782" cy="104564"/>
            </a:xfrm>
            <a:prstGeom prst="rect">
              <a:avLst/>
            </a:prstGeom>
          </p:spPr>
          <p:txBody>
            <a:bodyPr lIns="25400" tIns="25400" rIns="25400" bIns="25400" rtlCol="0" anchor="ctr"/>
            <a:lstStyle/>
            <a:p>
              <a:pPr algn="ctr">
                <a:lnSpc>
                  <a:spcPts val="1330"/>
                </a:lnSpc>
              </a:pPr>
              <a:endParaRPr sz="700"/>
            </a:p>
          </p:txBody>
        </p:sp>
      </p:grpSp>
      <p:grpSp>
        <p:nvGrpSpPr>
          <p:cNvPr id="5" name="Group 5">
            <a:extLst>
              <a:ext uri="{FF2B5EF4-FFF2-40B4-BE49-F238E27FC236}">
                <a16:creationId xmlns:a16="http://schemas.microsoft.com/office/drawing/2014/main" id="{071C7EC6-7D4C-F061-CDE0-6A50914ECB9E}"/>
              </a:ext>
            </a:extLst>
          </p:cNvPr>
          <p:cNvGrpSpPr/>
          <p:nvPr/>
        </p:nvGrpSpPr>
        <p:grpSpPr>
          <a:xfrm>
            <a:off x="0" y="4902803"/>
            <a:ext cx="7571294" cy="126178"/>
            <a:chOff x="0" y="0"/>
            <a:chExt cx="3988171" cy="66464"/>
          </a:xfrm>
        </p:grpSpPr>
        <p:sp>
          <p:nvSpPr>
            <p:cNvPr id="6" name="Freeform 6">
              <a:extLst>
                <a:ext uri="{FF2B5EF4-FFF2-40B4-BE49-F238E27FC236}">
                  <a16:creationId xmlns:a16="http://schemas.microsoft.com/office/drawing/2014/main" id="{B4AD79D7-46FD-6B0C-7DE4-FF78018F4A88}"/>
                </a:ext>
              </a:extLst>
            </p:cNvPr>
            <p:cNvSpPr/>
            <p:nvPr/>
          </p:nvSpPr>
          <p:spPr>
            <a:xfrm>
              <a:off x="0" y="0"/>
              <a:ext cx="3988171" cy="66464"/>
            </a:xfrm>
            <a:custGeom>
              <a:avLst/>
              <a:gdLst/>
              <a:ahLst/>
              <a:cxnLst/>
              <a:rect l="l" t="t" r="r" b="b"/>
              <a:pathLst>
                <a:path w="3988171" h="66464">
                  <a:moveTo>
                    <a:pt x="0" y="0"/>
                  </a:moveTo>
                  <a:lnTo>
                    <a:pt x="3988171" y="0"/>
                  </a:lnTo>
                  <a:lnTo>
                    <a:pt x="3988171"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7" name="TextBox 7">
              <a:extLst>
                <a:ext uri="{FF2B5EF4-FFF2-40B4-BE49-F238E27FC236}">
                  <a16:creationId xmlns:a16="http://schemas.microsoft.com/office/drawing/2014/main" id="{C396E051-FCE8-96D0-093A-9DAA0B6CA32C}"/>
                </a:ext>
              </a:extLst>
            </p:cNvPr>
            <p:cNvSpPr txBox="1"/>
            <p:nvPr/>
          </p:nvSpPr>
          <p:spPr>
            <a:xfrm>
              <a:off x="0" y="-38100"/>
              <a:ext cx="3988171" cy="104564"/>
            </a:xfrm>
            <a:prstGeom prst="rect">
              <a:avLst/>
            </a:prstGeom>
          </p:spPr>
          <p:txBody>
            <a:bodyPr lIns="25400" tIns="25400" rIns="25400" bIns="25400" rtlCol="0" anchor="ctr"/>
            <a:lstStyle/>
            <a:p>
              <a:pPr algn="ctr">
                <a:lnSpc>
                  <a:spcPts val="1330"/>
                </a:lnSpc>
              </a:pPr>
              <a:endParaRPr sz="700"/>
            </a:p>
          </p:txBody>
        </p:sp>
      </p:grpSp>
      <p:grpSp>
        <p:nvGrpSpPr>
          <p:cNvPr id="8" name="Group 8">
            <a:extLst>
              <a:ext uri="{FF2B5EF4-FFF2-40B4-BE49-F238E27FC236}">
                <a16:creationId xmlns:a16="http://schemas.microsoft.com/office/drawing/2014/main" id="{614E0FB1-7343-AA0B-7107-6EF9941BD391}"/>
              </a:ext>
            </a:extLst>
          </p:cNvPr>
          <p:cNvGrpSpPr/>
          <p:nvPr/>
        </p:nvGrpSpPr>
        <p:grpSpPr>
          <a:xfrm rot="2700000">
            <a:off x="3661769" y="-528997"/>
            <a:ext cx="4602320" cy="2123257"/>
            <a:chOff x="0" y="0"/>
            <a:chExt cx="2424267" cy="1118423"/>
          </a:xfrm>
        </p:grpSpPr>
        <p:sp>
          <p:nvSpPr>
            <p:cNvPr id="9" name="Freeform 9">
              <a:extLst>
                <a:ext uri="{FF2B5EF4-FFF2-40B4-BE49-F238E27FC236}">
                  <a16:creationId xmlns:a16="http://schemas.microsoft.com/office/drawing/2014/main" id="{8AFFC971-D518-DC63-82CA-066EEEE8BD9D}"/>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0" name="TextBox 10">
              <a:extLst>
                <a:ext uri="{FF2B5EF4-FFF2-40B4-BE49-F238E27FC236}">
                  <a16:creationId xmlns:a16="http://schemas.microsoft.com/office/drawing/2014/main" id="{EF1F892B-32CB-D20F-CD5E-29D9DD282E0B}"/>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11" name="Group 11">
            <a:extLst>
              <a:ext uri="{FF2B5EF4-FFF2-40B4-BE49-F238E27FC236}">
                <a16:creationId xmlns:a16="http://schemas.microsoft.com/office/drawing/2014/main" id="{0903312A-41E4-0C98-DB5C-2FD31C761F00}"/>
              </a:ext>
            </a:extLst>
          </p:cNvPr>
          <p:cNvGrpSpPr/>
          <p:nvPr/>
        </p:nvGrpSpPr>
        <p:grpSpPr>
          <a:xfrm rot="2700000">
            <a:off x="5632358" y="303921"/>
            <a:ext cx="3724082" cy="1064394"/>
            <a:chOff x="0" y="0"/>
            <a:chExt cx="1961656" cy="560668"/>
          </a:xfrm>
        </p:grpSpPr>
        <p:sp>
          <p:nvSpPr>
            <p:cNvPr id="12" name="Freeform 12">
              <a:extLst>
                <a:ext uri="{FF2B5EF4-FFF2-40B4-BE49-F238E27FC236}">
                  <a16:creationId xmlns:a16="http://schemas.microsoft.com/office/drawing/2014/main" id="{A8440D19-D63B-AF33-3EAE-F2B37D5CF256}"/>
                </a:ext>
              </a:extLst>
            </p:cNvPr>
            <p:cNvSpPr/>
            <p:nvPr/>
          </p:nvSpPr>
          <p:spPr>
            <a:xfrm>
              <a:off x="0" y="0"/>
              <a:ext cx="1961656" cy="560668"/>
            </a:xfrm>
            <a:custGeom>
              <a:avLst/>
              <a:gdLst/>
              <a:ahLst/>
              <a:cxnLst/>
              <a:rect l="l" t="t" r="r" b="b"/>
              <a:pathLst>
                <a:path w="1961656" h="560668">
                  <a:moveTo>
                    <a:pt x="0" y="0"/>
                  </a:moveTo>
                  <a:lnTo>
                    <a:pt x="1961656" y="0"/>
                  </a:lnTo>
                  <a:lnTo>
                    <a:pt x="1961656" y="560668"/>
                  </a:lnTo>
                  <a:lnTo>
                    <a:pt x="0" y="560668"/>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3" name="TextBox 13">
              <a:extLst>
                <a:ext uri="{FF2B5EF4-FFF2-40B4-BE49-F238E27FC236}">
                  <a16:creationId xmlns:a16="http://schemas.microsoft.com/office/drawing/2014/main" id="{70297523-D0C9-81EB-FA45-802E3E7D096A}"/>
                </a:ext>
              </a:extLst>
            </p:cNvPr>
            <p:cNvSpPr txBox="1"/>
            <p:nvPr/>
          </p:nvSpPr>
          <p:spPr>
            <a:xfrm>
              <a:off x="0" y="-38100"/>
              <a:ext cx="1961656" cy="598768"/>
            </a:xfrm>
            <a:prstGeom prst="rect">
              <a:avLst/>
            </a:prstGeom>
          </p:spPr>
          <p:txBody>
            <a:bodyPr lIns="25400" tIns="25400" rIns="25400" bIns="25400" rtlCol="0" anchor="ctr"/>
            <a:lstStyle/>
            <a:p>
              <a:pPr algn="ctr">
                <a:lnSpc>
                  <a:spcPts val="1330"/>
                </a:lnSpc>
              </a:pPr>
              <a:endParaRPr sz="700"/>
            </a:p>
          </p:txBody>
        </p:sp>
      </p:grpSp>
      <p:grpSp>
        <p:nvGrpSpPr>
          <p:cNvPr id="14" name="Group 14">
            <a:extLst>
              <a:ext uri="{FF2B5EF4-FFF2-40B4-BE49-F238E27FC236}">
                <a16:creationId xmlns:a16="http://schemas.microsoft.com/office/drawing/2014/main" id="{3AF039C7-166F-DC3C-FD40-F2CACE3926F2}"/>
              </a:ext>
            </a:extLst>
          </p:cNvPr>
          <p:cNvGrpSpPr/>
          <p:nvPr/>
        </p:nvGrpSpPr>
        <p:grpSpPr>
          <a:xfrm rot="2700000">
            <a:off x="7528217" y="-892816"/>
            <a:ext cx="2873959" cy="1967021"/>
            <a:chOff x="0" y="0"/>
            <a:chExt cx="1513855" cy="1036126"/>
          </a:xfrm>
        </p:grpSpPr>
        <p:sp>
          <p:nvSpPr>
            <p:cNvPr id="15" name="Freeform 15">
              <a:extLst>
                <a:ext uri="{FF2B5EF4-FFF2-40B4-BE49-F238E27FC236}">
                  <a16:creationId xmlns:a16="http://schemas.microsoft.com/office/drawing/2014/main" id="{166C2FB9-D184-461A-308A-1F6AFD5F7BBF}"/>
                </a:ext>
              </a:extLst>
            </p:cNvPr>
            <p:cNvSpPr/>
            <p:nvPr/>
          </p:nvSpPr>
          <p:spPr>
            <a:xfrm>
              <a:off x="0" y="0"/>
              <a:ext cx="1513855" cy="1036126"/>
            </a:xfrm>
            <a:custGeom>
              <a:avLst/>
              <a:gdLst/>
              <a:ahLst/>
              <a:cxnLst/>
              <a:rect l="l" t="t" r="r" b="b"/>
              <a:pathLst>
                <a:path w="1513855" h="1036126">
                  <a:moveTo>
                    <a:pt x="0" y="0"/>
                  </a:moveTo>
                  <a:lnTo>
                    <a:pt x="1513855" y="0"/>
                  </a:lnTo>
                  <a:lnTo>
                    <a:pt x="1513855" y="1036126"/>
                  </a:lnTo>
                  <a:lnTo>
                    <a:pt x="0" y="1036126"/>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6" name="TextBox 16">
              <a:extLst>
                <a:ext uri="{FF2B5EF4-FFF2-40B4-BE49-F238E27FC236}">
                  <a16:creationId xmlns:a16="http://schemas.microsoft.com/office/drawing/2014/main" id="{D78B5C6B-C409-CCBB-2B06-FBD31CAC99E4}"/>
                </a:ext>
              </a:extLst>
            </p:cNvPr>
            <p:cNvSpPr txBox="1"/>
            <p:nvPr/>
          </p:nvSpPr>
          <p:spPr>
            <a:xfrm>
              <a:off x="0" y="-38100"/>
              <a:ext cx="1513855" cy="1074226"/>
            </a:xfrm>
            <a:prstGeom prst="rect">
              <a:avLst/>
            </a:prstGeom>
          </p:spPr>
          <p:txBody>
            <a:bodyPr lIns="25400" tIns="25400" rIns="25400" bIns="25400" rtlCol="0" anchor="ctr"/>
            <a:lstStyle/>
            <a:p>
              <a:pPr algn="ctr">
                <a:lnSpc>
                  <a:spcPts val="1330"/>
                </a:lnSpc>
              </a:pPr>
              <a:endParaRPr sz="700"/>
            </a:p>
          </p:txBody>
        </p:sp>
      </p:grpSp>
      <p:grpSp>
        <p:nvGrpSpPr>
          <p:cNvPr id="17" name="Group 17">
            <a:extLst>
              <a:ext uri="{FF2B5EF4-FFF2-40B4-BE49-F238E27FC236}">
                <a16:creationId xmlns:a16="http://schemas.microsoft.com/office/drawing/2014/main" id="{BB6CD3B7-9C29-31B7-074F-1C8E56CB1626}"/>
              </a:ext>
            </a:extLst>
          </p:cNvPr>
          <p:cNvGrpSpPr/>
          <p:nvPr/>
        </p:nvGrpSpPr>
        <p:grpSpPr>
          <a:xfrm rot="2700000">
            <a:off x="6756840" y="4003698"/>
            <a:ext cx="4602320" cy="2123257"/>
            <a:chOff x="0" y="0"/>
            <a:chExt cx="2424267" cy="1118423"/>
          </a:xfrm>
        </p:grpSpPr>
        <p:sp>
          <p:nvSpPr>
            <p:cNvPr id="18" name="Freeform 18">
              <a:extLst>
                <a:ext uri="{FF2B5EF4-FFF2-40B4-BE49-F238E27FC236}">
                  <a16:creationId xmlns:a16="http://schemas.microsoft.com/office/drawing/2014/main" id="{059C69CD-FBFA-E4B4-AA86-445D5367D190}"/>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9" name="TextBox 19">
              <a:extLst>
                <a:ext uri="{FF2B5EF4-FFF2-40B4-BE49-F238E27FC236}">
                  <a16:creationId xmlns:a16="http://schemas.microsoft.com/office/drawing/2014/main" id="{3FFFD043-6DDC-803C-1EE7-E745D2CD7192}"/>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20" name="Group 20">
            <a:extLst>
              <a:ext uri="{FF2B5EF4-FFF2-40B4-BE49-F238E27FC236}">
                <a16:creationId xmlns:a16="http://schemas.microsoft.com/office/drawing/2014/main" id="{40B8BCE7-F5DB-C74D-120E-15FE119805F6}"/>
              </a:ext>
            </a:extLst>
          </p:cNvPr>
          <p:cNvGrpSpPr/>
          <p:nvPr/>
        </p:nvGrpSpPr>
        <p:grpSpPr>
          <a:xfrm rot="2700000">
            <a:off x="7842195" y="3672519"/>
            <a:ext cx="2166949" cy="1126189"/>
            <a:chOff x="0" y="0"/>
            <a:chExt cx="1141438" cy="593219"/>
          </a:xfrm>
        </p:grpSpPr>
        <p:sp>
          <p:nvSpPr>
            <p:cNvPr id="21" name="Freeform 21">
              <a:extLst>
                <a:ext uri="{FF2B5EF4-FFF2-40B4-BE49-F238E27FC236}">
                  <a16:creationId xmlns:a16="http://schemas.microsoft.com/office/drawing/2014/main" id="{7CCA289A-B33A-364F-D970-B4B0741374DB}"/>
                </a:ext>
              </a:extLst>
            </p:cNvPr>
            <p:cNvSpPr/>
            <p:nvPr/>
          </p:nvSpPr>
          <p:spPr>
            <a:xfrm>
              <a:off x="0" y="0"/>
              <a:ext cx="1141438" cy="593219"/>
            </a:xfrm>
            <a:custGeom>
              <a:avLst/>
              <a:gdLst/>
              <a:ahLst/>
              <a:cxnLst/>
              <a:rect l="l" t="t" r="r" b="b"/>
              <a:pathLst>
                <a:path w="1141438" h="593219">
                  <a:moveTo>
                    <a:pt x="0" y="0"/>
                  </a:moveTo>
                  <a:lnTo>
                    <a:pt x="1141438" y="0"/>
                  </a:lnTo>
                  <a:lnTo>
                    <a:pt x="1141438" y="593219"/>
                  </a:lnTo>
                  <a:lnTo>
                    <a:pt x="0" y="593219"/>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22" name="TextBox 22">
              <a:extLst>
                <a:ext uri="{FF2B5EF4-FFF2-40B4-BE49-F238E27FC236}">
                  <a16:creationId xmlns:a16="http://schemas.microsoft.com/office/drawing/2014/main" id="{6D1B43F8-87A5-2EDD-F149-BE82A2984EB5}"/>
                </a:ext>
              </a:extLst>
            </p:cNvPr>
            <p:cNvSpPr txBox="1"/>
            <p:nvPr/>
          </p:nvSpPr>
          <p:spPr>
            <a:xfrm>
              <a:off x="0" y="-38100"/>
              <a:ext cx="1141438" cy="631319"/>
            </a:xfrm>
            <a:prstGeom prst="rect">
              <a:avLst/>
            </a:prstGeom>
          </p:spPr>
          <p:txBody>
            <a:bodyPr lIns="25400" tIns="25400" rIns="25400" bIns="25400" rtlCol="0" anchor="ctr"/>
            <a:lstStyle/>
            <a:p>
              <a:pPr algn="ctr">
                <a:lnSpc>
                  <a:spcPts val="1330"/>
                </a:lnSpc>
              </a:pPr>
              <a:endParaRPr sz="700"/>
            </a:p>
          </p:txBody>
        </p:sp>
      </p:grpSp>
      <p:grpSp>
        <p:nvGrpSpPr>
          <p:cNvPr id="23" name="Group 23">
            <a:extLst>
              <a:ext uri="{FF2B5EF4-FFF2-40B4-BE49-F238E27FC236}">
                <a16:creationId xmlns:a16="http://schemas.microsoft.com/office/drawing/2014/main" id="{2ABF0622-9241-CD75-6B4F-4578A248FF9B}"/>
              </a:ext>
            </a:extLst>
          </p:cNvPr>
          <p:cNvGrpSpPr/>
          <p:nvPr/>
        </p:nvGrpSpPr>
        <p:grpSpPr>
          <a:xfrm>
            <a:off x="5720497" y="768985"/>
            <a:ext cx="3475712" cy="3475712"/>
            <a:chOff x="0" y="0"/>
            <a:chExt cx="812800" cy="812800"/>
          </a:xfrm>
        </p:grpSpPr>
        <p:sp>
          <p:nvSpPr>
            <p:cNvPr id="24" name="Freeform 24">
              <a:extLst>
                <a:ext uri="{FF2B5EF4-FFF2-40B4-BE49-F238E27FC236}">
                  <a16:creationId xmlns:a16="http://schemas.microsoft.com/office/drawing/2014/main" id="{0A81DF20-399E-AF89-89B0-FC2CA2FD0162}"/>
                </a:ext>
              </a:extLst>
            </p:cNvPr>
            <p:cNvSpPr/>
            <p:nvPr/>
          </p:nvSpPr>
          <p:spPr>
            <a:xfrm>
              <a:off x="0" y="0"/>
              <a:ext cx="812800" cy="812800"/>
            </a:xfrm>
            <a:custGeom>
              <a:avLst/>
              <a:gdLst/>
              <a:ahLst/>
              <a:cxnLst/>
              <a:rect l="l" t="t" r="r" b="b"/>
              <a:pathLst>
                <a:path w="812800" h="812800">
                  <a:moveTo>
                    <a:pt x="574675" y="0"/>
                  </a:moveTo>
                  <a:lnTo>
                    <a:pt x="812800" y="238125"/>
                  </a:lnTo>
                  <a:lnTo>
                    <a:pt x="812800" y="574675"/>
                  </a:lnTo>
                  <a:lnTo>
                    <a:pt x="574675" y="812800"/>
                  </a:lnTo>
                  <a:lnTo>
                    <a:pt x="238125" y="812800"/>
                  </a:lnTo>
                  <a:lnTo>
                    <a:pt x="0" y="574675"/>
                  </a:lnTo>
                  <a:lnTo>
                    <a:pt x="0" y="238125"/>
                  </a:lnTo>
                  <a:lnTo>
                    <a:pt x="238125" y="0"/>
                  </a:lnTo>
                  <a:lnTo>
                    <a:pt x="574675" y="0"/>
                  </a:lnTo>
                  <a:close/>
                </a:path>
              </a:pathLst>
            </a:custGeom>
            <a:gradFill rotWithShape="1">
              <a:gsLst>
                <a:gs pos="0">
                  <a:srgbClr val="042882">
                    <a:alpha val="100000"/>
                  </a:srgbClr>
                </a:gs>
                <a:gs pos="100000">
                  <a:srgbClr val="2A83D0">
                    <a:alpha val="100000"/>
                  </a:srgbClr>
                </a:gs>
              </a:gsLst>
              <a:lin ang="0"/>
            </a:gradFill>
            <a:ln cap="sq">
              <a:noFill/>
              <a:prstDash val="solid"/>
              <a:miter/>
            </a:ln>
          </p:spPr>
          <p:txBody>
            <a:bodyPr/>
            <a:lstStyle/>
            <a:p>
              <a:endParaRPr lang="en-IN" sz="700"/>
            </a:p>
          </p:txBody>
        </p:sp>
        <p:sp>
          <p:nvSpPr>
            <p:cNvPr id="25" name="TextBox 25">
              <a:extLst>
                <a:ext uri="{FF2B5EF4-FFF2-40B4-BE49-F238E27FC236}">
                  <a16:creationId xmlns:a16="http://schemas.microsoft.com/office/drawing/2014/main" id="{40C2189F-9BF3-791F-6AA1-3475C52DFABC}"/>
                </a:ext>
              </a:extLst>
            </p:cNvPr>
            <p:cNvSpPr txBox="1"/>
            <p:nvPr/>
          </p:nvSpPr>
          <p:spPr>
            <a:xfrm>
              <a:off x="63500" y="25400"/>
              <a:ext cx="685800" cy="723900"/>
            </a:xfrm>
            <a:prstGeom prst="rect">
              <a:avLst/>
            </a:prstGeom>
          </p:spPr>
          <p:txBody>
            <a:bodyPr lIns="29445" tIns="29445" rIns="29445" bIns="29445" rtlCol="0" anchor="ctr"/>
            <a:lstStyle/>
            <a:p>
              <a:pPr algn="ctr">
                <a:lnSpc>
                  <a:spcPts val="1330"/>
                </a:lnSpc>
                <a:spcBef>
                  <a:spcPct val="0"/>
                </a:spcBef>
              </a:pPr>
              <a:endParaRPr sz="700"/>
            </a:p>
          </p:txBody>
        </p:sp>
      </p:grpSp>
      <p:sp>
        <p:nvSpPr>
          <p:cNvPr id="34" name="Freeform 34">
            <a:extLst>
              <a:ext uri="{FF2B5EF4-FFF2-40B4-BE49-F238E27FC236}">
                <a16:creationId xmlns:a16="http://schemas.microsoft.com/office/drawing/2014/main" id="{79637531-A44E-C462-F403-761C10B95F61}"/>
              </a:ext>
            </a:extLst>
          </p:cNvPr>
          <p:cNvSpPr/>
          <p:nvPr/>
        </p:nvSpPr>
        <p:spPr>
          <a:xfrm>
            <a:off x="4814816" y="492813"/>
            <a:ext cx="857064" cy="159628"/>
          </a:xfrm>
          <a:custGeom>
            <a:avLst/>
            <a:gdLst/>
            <a:ahLst/>
            <a:cxnLst/>
            <a:rect l="l" t="t" r="r" b="b"/>
            <a:pathLst>
              <a:path w="1714127" h="319256">
                <a:moveTo>
                  <a:pt x="0" y="0"/>
                </a:moveTo>
                <a:lnTo>
                  <a:pt x="1714127" y="0"/>
                </a:lnTo>
                <a:lnTo>
                  <a:pt x="1714127" y="319257"/>
                </a:lnTo>
                <a:lnTo>
                  <a:pt x="0" y="31925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sz="700"/>
          </a:p>
        </p:txBody>
      </p:sp>
      <p:sp>
        <p:nvSpPr>
          <p:cNvPr id="35" name="Freeform 35">
            <a:extLst>
              <a:ext uri="{FF2B5EF4-FFF2-40B4-BE49-F238E27FC236}">
                <a16:creationId xmlns:a16="http://schemas.microsoft.com/office/drawing/2014/main" id="{DCD7CC8C-164D-C41A-6252-42C99A05871B}"/>
              </a:ext>
            </a:extLst>
          </p:cNvPr>
          <p:cNvSpPr/>
          <p:nvPr/>
        </p:nvSpPr>
        <p:spPr>
          <a:xfrm>
            <a:off x="8435937" y="4382878"/>
            <a:ext cx="857064" cy="159628"/>
          </a:xfrm>
          <a:custGeom>
            <a:avLst/>
            <a:gdLst/>
            <a:ahLst/>
            <a:cxnLst/>
            <a:rect l="l" t="t" r="r" b="b"/>
            <a:pathLst>
              <a:path w="1714127" h="319256">
                <a:moveTo>
                  <a:pt x="0" y="0"/>
                </a:moveTo>
                <a:lnTo>
                  <a:pt x="1714127" y="0"/>
                </a:lnTo>
                <a:lnTo>
                  <a:pt x="1714127" y="319256"/>
                </a:lnTo>
                <a:lnTo>
                  <a:pt x="0" y="31925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sz="700"/>
          </a:p>
        </p:txBody>
      </p:sp>
      <p:sp>
        <p:nvSpPr>
          <p:cNvPr id="36" name="Freeform 36">
            <a:extLst>
              <a:ext uri="{FF2B5EF4-FFF2-40B4-BE49-F238E27FC236}">
                <a16:creationId xmlns:a16="http://schemas.microsoft.com/office/drawing/2014/main" id="{8672D197-9BF9-8CFA-6DF7-2937B68FFD86}"/>
              </a:ext>
            </a:extLst>
          </p:cNvPr>
          <p:cNvSpPr/>
          <p:nvPr/>
        </p:nvSpPr>
        <p:spPr>
          <a:xfrm>
            <a:off x="8726258" y="4572000"/>
            <a:ext cx="857064" cy="159628"/>
          </a:xfrm>
          <a:custGeom>
            <a:avLst/>
            <a:gdLst/>
            <a:ahLst/>
            <a:cxnLst/>
            <a:rect l="l" t="t" r="r" b="b"/>
            <a:pathLst>
              <a:path w="1714127" h="319256">
                <a:moveTo>
                  <a:pt x="0" y="0"/>
                </a:moveTo>
                <a:lnTo>
                  <a:pt x="1714128" y="0"/>
                </a:lnTo>
                <a:lnTo>
                  <a:pt x="1714128" y="319256"/>
                </a:lnTo>
                <a:lnTo>
                  <a:pt x="0" y="31925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sz="700"/>
          </a:p>
        </p:txBody>
      </p:sp>
      <p:grpSp>
        <p:nvGrpSpPr>
          <p:cNvPr id="47" name="Group 46">
            <a:extLst>
              <a:ext uri="{FF2B5EF4-FFF2-40B4-BE49-F238E27FC236}">
                <a16:creationId xmlns:a16="http://schemas.microsoft.com/office/drawing/2014/main" id="{1E9CDC51-FF0E-F171-6762-BB19A05B4D8E}"/>
              </a:ext>
            </a:extLst>
          </p:cNvPr>
          <p:cNvGrpSpPr/>
          <p:nvPr/>
        </p:nvGrpSpPr>
        <p:grpSpPr>
          <a:xfrm>
            <a:off x="373417" y="2687476"/>
            <a:ext cx="4927732" cy="485021"/>
            <a:chOff x="0" y="2985846"/>
            <a:chExt cx="4276134" cy="664477"/>
          </a:xfrm>
        </p:grpSpPr>
        <p:sp>
          <p:nvSpPr>
            <p:cNvPr id="30" name="TextBox 30">
              <a:extLst>
                <a:ext uri="{FF2B5EF4-FFF2-40B4-BE49-F238E27FC236}">
                  <a16:creationId xmlns:a16="http://schemas.microsoft.com/office/drawing/2014/main" id="{199C1F1F-4C5C-E8C0-1593-D5C9F6952716}"/>
                </a:ext>
              </a:extLst>
            </p:cNvPr>
            <p:cNvSpPr txBox="1"/>
            <p:nvPr/>
          </p:nvSpPr>
          <p:spPr>
            <a:xfrm>
              <a:off x="0" y="2985846"/>
              <a:ext cx="4113485" cy="431082"/>
            </a:xfrm>
            <a:prstGeom prst="rect">
              <a:avLst/>
            </a:prstGeom>
          </p:spPr>
          <p:txBody>
            <a:bodyPr lIns="25400" tIns="25400" rIns="25400" bIns="25400" rtlCol="0" anchor="ctr"/>
            <a:lstStyle/>
            <a:p>
              <a:pPr algn="ctr">
                <a:lnSpc>
                  <a:spcPts val="1330"/>
                </a:lnSpc>
              </a:pPr>
              <a:endParaRPr sz="700"/>
            </a:p>
          </p:txBody>
        </p:sp>
        <p:sp>
          <p:nvSpPr>
            <p:cNvPr id="44" name="TextBox 44">
              <a:extLst>
                <a:ext uri="{FF2B5EF4-FFF2-40B4-BE49-F238E27FC236}">
                  <a16:creationId xmlns:a16="http://schemas.microsoft.com/office/drawing/2014/main" id="{3578161E-D839-4793-89CB-83A287A2849E}"/>
                </a:ext>
              </a:extLst>
            </p:cNvPr>
            <p:cNvSpPr txBox="1"/>
            <p:nvPr/>
          </p:nvSpPr>
          <p:spPr>
            <a:xfrm>
              <a:off x="466725" y="3426736"/>
              <a:ext cx="3809409" cy="223587"/>
            </a:xfrm>
            <a:prstGeom prst="rect">
              <a:avLst/>
            </a:prstGeom>
          </p:spPr>
          <p:txBody>
            <a:bodyPr lIns="0" tIns="0" rIns="0" bIns="0" rtlCol="0" anchor="t">
              <a:spAutoFit/>
            </a:bodyPr>
            <a:lstStyle/>
            <a:p>
              <a:pPr>
                <a:lnSpc>
                  <a:spcPts val="1943"/>
                </a:lnSpc>
              </a:pPr>
              <a:endParaRPr lang="en-US" sz="1200" b="1" spc="583" dirty="0">
                <a:solidFill>
                  <a:srgbClr val="FFFFFF"/>
                </a:solidFill>
                <a:latin typeface="Arial" panose="020B0604020202020204" pitchFamily="34" charset="0"/>
                <a:ea typeface="Aileron Bold"/>
                <a:cs typeface="Arial" panose="020B0604020202020204" pitchFamily="34" charset="0"/>
                <a:sym typeface="Aileron Bold"/>
              </a:endParaRPr>
            </a:p>
          </p:txBody>
        </p:sp>
      </p:grpSp>
      <p:pic>
        <p:nvPicPr>
          <p:cNvPr id="50" name="Picture 49" descr="A blue circle with a person and a envelope in it&#10;&#10;AI-generated content may be incorrect.">
            <a:extLst>
              <a:ext uri="{FF2B5EF4-FFF2-40B4-BE49-F238E27FC236}">
                <a16:creationId xmlns:a16="http://schemas.microsoft.com/office/drawing/2014/main" id="{C926F708-70B7-B0DB-A148-0FA2830D925D}"/>
              </a:ext>
            </a:extLst>
          </p:cNvPr>
          <p:cNvPicPr>
            <a:picLocks noChangeAspect="1"/>
          </p:cNvPicPr>
          <p:nvPr/>
        </p:nvPicPr>
        <p:blipFill>
          <a:blip r:embed="rId6"/>
          <a:srcRect l="26757" t="2453" r="27842" b="53701"/>
          <a:stretch>
            <a:fillRect/>
          </a:stretch>
        </p:blipFill>
        <p:spPr>
          <a:xfrm>
            <a:off x="3416508" y="3782259"/>
            <a:ext cx="395331" cy="381795"/>
          </a:xfrm>
          <a:prstGeom prst="rect">
            <a:avLst/>
          </a:prstGeom>
        </p:spPr>
      </p:pic>
      <p:pic>
        <p:nvPicPr>
          <p:cNvPr id="51" name="Picture 50" descr="A blue circle with a person and a envelope in it&#10;&#10;AI-generated content may be incorrect.">
            <a:extLst>
              <a:ext uri="{FF2B5EF4-FFF2-40B4-BE49-F238E27FC236}">
                <a16:creationId xmlns:a16="http://schemas.microsoft.com/office/drawing/2014/main" id="{EC8FEF14-C75E-1155-0600-B4343B3F57F8}"/>
              </a:ext>
            </a:extLst>
          </p:cNvPr>
          <p:cNvPicPr>
            <a:picLocks noChangeAspect="1"/>
          </p:cNvPicPr>
          <p:nvPr/>
        </p:nvPicPr>
        <p:blipFill>
          <a:blip r:embed="rId6"/>
          <a:srcRect l="26859" t="52379" r="26874" b="2349"/>
          <a:stretch>
            <a:fillRect/>
          </a:stretch>
        </p:blipFill>
        <p:spPr>
          <a:xfrm>
            <a:off x="3448860" y="4329468"/>
            <a:ext cx="398279" cy="389719"/>
          </a:xfrm>
          <a:prstGeom prst="rect">
            <a:avLst/>
          </a:prstGeom>
        </p:spPr>
      </p:pic>
      <p:grpSp>
        <p:nvGrpSpPr>
          <p:cNvPr id="66" name="Group 65">
            <a:extLst>
              <a:ext uri="{FF2B5EF4-FFF2-40B4-BE49-F238E27FC236}">
                <a16:creationId xmlns:a16="http://schemas.microsoft.com/office/drawing/2014/main" id="{658A7A12-122B-4A3C-11D3-C4D8BF732077}"/>
              </a:ext>
            </a:extLst>
          </p:cNvPr>
          <p:cNvGrpSpPr/>
          <p:nvPr/>
        </p:nvGrpSpPr>
        <p:grpSpPr>
          <a:xfrm>
            <a:off x="443226" y="3825853"/>
            <a:ext cx="2509805" cy="455685"/>
            <a:chOff x="2690678" y="3940725"/>
            <a:chExt cx="2272871" cy="349586"/>
          </a:xfrm>
        </p:grpSpPr>
        <p:sp>
          <p:nvSpPr>
            <p:cNvPr id="67" name="TextBox 41">
              <a:extLst>
                <a:ext uri="{FF2B5EF4-FFF2-40B4-BE49-F238E27FC236}">
                  <a16:creationId xmlns:a16="http://schemas.microsoft.com/office/drawing/2014/main" id="{5FE6F280-D970-382B-5260-25E219F86722}"/>
                </a:ext>
              </a:extLst>
            </p:cNvPr>
            <p:cNvSpPr txBox="1"/>
            <p:nvPr/>
          </p:nvSpPr>
          <p:spPr>
            <a:xfrm>
              <a:off x="2817222" y="3940725"/>
              <a:ext cx="1809978" cy="158890"/>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Mentor Name</a:t>
              </a:r>
            </a:p>
          </p:txBody>
        </p:sp>
        <p:sp>
          <p:nvSpPr>
            <p:cNvPr id="68" name="TextBox 43">
              <a:extLst>
                <a:ext uri="{FF2B5EF4-FFF2-40B4-BE49-F238E27FC236}">
                  <a16:creationId xmlns:a16="http://schemas.microsoft.com/office/drawing/2014/main" id="{A541DFB6-306C-CD3E-24BD-6D7131F87B73}"/>
                </a:ext>
              </a:extLst>
            </p:cNvPr>
            <p:cNvSpPr txBox="1"/>
            <p:nvPr/>
          </p:nvSpPr>
          <p:spPr>
            <a:xfrm>
              <a:off x="2690678" y="4115831"/>
              <a:ext cx="2272871" cy="174480"/>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Guide Name: Umamaheshwari</a:t>
              </a:r>
            </a:p>
          </p:txBody>
        </p:sp>
      </p:grpSp>
      <p:pic>
        <p:nvPicPr>
          <p:cNvPr id="71" name="Picture 70">
            <a:extLst>
              <a:ext uri="{FF2B5EF4-FFF2-40B4-BE49-F238E27FC236}">
                <a16:creationId xmlns:a16="http://schemas.microsoft.com/office/drawing/2014/main" id="{4094A52A-31D4-B030-C8BD-9B0ACB0083EC}"/>
              </a:ext>
            </a:extLst>
          </p:cNvPr>
          <p:cNvPicPr>
            <a:picLocks noChangeAspect="1"/>
          </p:cNvPicPr>
          <p:nvPr/>
        </p:nvPicPr>
        <p:blipFill>
          <a:blip r:embed="rId7"/>
          <a:srcRect l="28109" t="6546" r="28551" b="49509"/>
          <a:stretch>
            <a:fillRect/>
          </a:stretch>
        </p:blipFill>
        <p:spPr>
          <a:xfrm>
            <a:off x="185509" y="3720290"/>
            <a:ext cx="375815" cy="381063"/>
          </a:xfrm>
          <a:prstGeom prst="rect">
            <a:avLst/>
          </a:prstGeom>
        </p:spPr>
      </p:pic>
      <p:grpSp>
        <p:nvGrpSpPr>
          <p:cNvPr id="49" name="Group 48">
            <a:extLst>
              <a:ext uri="{FF2B5EF4-FFF2-40B4-BE49-F238E27FC236}">
                <a16:creationId xmlns:a16="http://schemas.microsoft.com/office/drawing/2014/main" id="{18150B14-0B49-9E22-C961-786A40F27A84}"/>
              </a:ext>
            </a:extLst>
          </p:cNvPr>
          <p:cNvGrpSpPr/>
          <p:nvPr/>
        </p:nvGrpSpPr>
        <p:grpSpPr>
          <a:xfrm>
            <a:off x="640733" y="769747"/>
            <a:ext cx="3051630" cy="258616"/>
            <a:chOff x="1068621" y="826472"/>
            <a:chExt cx="2166264" cy="183584"/>
          </a:xfrm>
        </p:grpSpPr>
        <p:pic>
          <p:nvPicPr>
            <p:cNvPr id="55" name="Picture 54" descr="A blue and black logo&#10;&#10;AI-generated content may be incorrect.">
              <a:extLst>
                <a:ext uri="{FF2B5EF4-FFF2-40B4-BE49-F238E27FC236}">
                  <a16:creationId xmlns:a16="http://schemas.microsoft.com/office/drawing/2014/main" id="{9016EA03-A173-06E1-C2CA-FF7DC65A3637}"/>
                </a:ext>
              </a:extLst>
            </p:cNvPr>
            <p:cNvPicPr>
              <a:picLocks noChangeAspect="1"/>
            </p:cNvPicPr>
            <p:nvPr/>
          </p:nvPicPr>
          <p:blipFill>
            <a:blip r:embed="rId8"/>
            <a:stretch>
              <a:fillRect/>
            </a:stretch>
          </p:blipFill>
          <p:spPr>
            <a:xfrm>
              <a:off x="1068621" y="826472"/>
              <a:ext cx="632879" cy="158848"/>
            </a:xfrm>
            <a:prstGeom prst="rect">
              <a:avLst/>
            </a:prstGeom>
          </p:spPr>
        </p:pic>
        <p:pic>
          <p:nvPicPr>
            <p:cNvPr id="57" name="Picture 56" descr="A close up of a logo&#10;&#10;AI-generated content may be incorrect.">
              <a:extLst>
                <a:ext uri="{FF2B5EF4-FFF2-40B4-BE49-F238E27FC236}">
                  <a16:creationId xmlns:a16="http://schemas.microsoft.com/office/drawing/2014/main" id="{B084208C-F6C2-47AC-3616-A62F69B53173}"/>
                </a:ext>
              </a:extLst>
            </p:cNvPr>
            <p:cNvPicPr>
              <a:picLocks noChangeAspect="1"/>
            </p:cNvPicPr>
            <p:nvPr/>
          </p:nvPicPr>
          <p:blipFill>
            <a:blip r:embed="rId9"/>
            <a:stretch>
              <a:fillRect/>
            </a:stretch>
          </p:blipFill>
          <p:spPr>
            <a:xfrm>
              <a:off x="2670437" y="826472"/>
              <a:ext cx="564448" cy="183584"/>
            </a:xfrm>
            <a:prstGeom prst="rect">
              <a:avLst/>
            </a:prstGeom>
          </p:spPr>
        </p:pic>
      </p:grpSp>
      <p:sp>
        <p:nvSpPr>
          <p:cNvPr id="31" name="Shape 7">
            <a:extLst>
              <a:ext uri="{FF2B5EF4-FFF2-40B4-BE49-F238E27FC236}">
                <a16:creationId xmlns:a16="http://schemas.microsoft.com/office/drawing/2014/main" id="{4DEADC42-07CF-F7CC-6F54-42498EAA37B3}"/>
              </a:ext>
            </a:extLst>
          </p:cNvPr>
          <p:cNvSpPr/>
          <p:nvPr/>
        </p:nvSpPr>
        <p:spPr>
          <a:xfrm rot="18195971">
            <a:off x="5802826" y="2309413"/>
            <a:ext cx="2834640" cy="109728"/>
          </a:xfrm>
          <a:prstGeom prst="rect">
            <a:avLst/>
          </a:prstGeom>
          <a:solidFill>
            <a:srgbClr val="4FC3F7"/>
          </a:solidFill>
          <a:ln/>
        </p:spPr>
        <p:txBody>
          <a:bodyPr/>
          <a:lstStyle/>
          <a:p>
            <a:endParaRPr lang="en-IN"/>
          </a:p>
        </p:txBody>
      </p:sp>
      <p:sp>
        <p:nvSpPr>
          <p:cNvPr id="32" name="Shape 8">
            <a:extLst>
              <a:ext uri="{FF2B5EF4-FFF2-40B4-BE49-F238E27FC236}">
                <a16:creationId xmlns:a16="http://schemas.microsoft.com/office/drawing/2014/main" id="{51B3A474-02DA-6A59-3FFF-434FDDC06A2B}"/>
              </a:ext>
            </a:extLst>
          </p:cNvPr>
          <p:cNvSpPr/>
          <p:nvPr/>
        </p:nvSpPr>
        <p:spPr>
          <a:xfrm rot="18195971">
            <a:off x="6146363" y="2413708"/>
            <a:ext cx="2468880" cy="109728"/>
          </a:xfrm>
          <a:prstGeom prst="rect">
            <a:avLst/>
          </a:prstGeom>
          <a:solidFill>
            <a:srgbClr val="4FC3F7"/>
          </a:solidFill>
          <a:ln/>
        </p:spPr>
        <p:txBody>
          <a:bodyPr/>
          <a:lstStyle/>
          <a:p>
            <a:endParaRPr lang="en-IN"/>
          </a:p>
        </p:txBody>
      </p:sp>
      <p:sp>
        <p:nvSpPr>
          <p:cNvPr id="33" name="Shape 9">
            <a:extLst>
              <a:ext uri="{FF2B5EF4-FFF2-40B4-BE49-F238E27FC236}">
                <a16:creationId xmlns:a16="http://schemas.microsoft.com/office/drawing/2014/main" id="{075C146A-525E-EAB1-2438-92AF6E344C2C}"/>
              </a:ext>
            </a:extLst>
          </p:cNvPr>
          <p:cNvSpPr/>
          <p:nvPr/>
        </p:nvSpPr>
        <p:spPr>
          <a:xfrm rot="18195971">
            <a:off x="6482126" y="2528680"/>
            <a:ext cx="2103120" cy="109728"/>
          </a:xfrm>
          <a:prstGeom prst="rect">
            <a:avLst/>
          </a:prstGeom>
          <a:solidFill>
            <a:srgbClr val="4FC3F7"/>
          </a:solidFill>
          <a:ln/>
        </p:spPr>
        <p:txBody>
          <a:bodyPr/>
          <a:lstStyle/>
          <a:p>
            <a:endParaRPr lang="en-IN"/>
          </a:p>
        </p:txBody>
      </p:sp>
      <p:sp>
        <p:nvSpPr>
          <p:cNvPr id="39" name="Shape 9">
            <a:extLst>
              <a:ext uri="{FF2B5EF4-FFF2-40B4-BE49-F238E27FC236}">
                <a16:creationId xmlns:a16="http://schemas.microsoft.com/office/drawing/2014/main" id="{ED47441A-C600-ACAC-5391-EF118874C98C}"/>
              </a:ext>
            </a:extLst>
          </p:cNvPr>
          <p:cNvSpPr/>
          <p:nvPr/>
        </p:nvSpPr>
        <p:spPr>
          <a:xfrm rot="18195971">
            <a:off x="6735713" y="2647223"/>
            <a:ext cx="1872046" cy="116269"/>
          </a:xfrm>
          <a:prstGeom prst="rect">
            <a:avLst/>
          </a:prstGeom>
          <a:solidFill>
            <a:srgbClr val="4FC3F7"/>
          </a:solidFill>
          <a:ln/>
        </p:spPr>
        <p:txBody>
          <a:bodyPr/>
          <a:lstStyle/>
          <a:p>
            <a:endParaRPr lang="en-IN"/>
          </a:p>
        </p:txBody>
      </p:sp>
      <p:pic>
        <p:nvPicPr>
          <p:cNvPr id="46" name="Picture 45">
            <a:extLst>
              <a:ext uri="{FF2B5EF4-FFF2-40B4-BE49-F238E27FC236}">
                <a16:creationId xmlns:a16="http://schemas.microsoft.com/office/drawing/2014/main" id="{21A2EF52-784B-5BFA-EB88-FB9E7588BFF8}"/>
              </a:ext>
            </a:extLst>
          </p:cNvPr>
          <p:cNvPicPr>
            <a:picLocks noChangeAspect="1"/>
          </p:cNvPicPr>
          <p:nvPr/>
        </p:nvPicPr>
        <p:blipFill>
          <a:blip r:embed="rId10"/>
          <a:srcRect b="19729"/>
          <a:stretch>
            <a:fillRect/>
          </a:stretch>
        </p:blipFill>
        <p:spPr>
          <a:xfrm>
            <a:off x="494316" y="1096875"/>
            <a:ext cx="3239310" cy="1554439"/>
          </a:xfrm>
          <a:prstGeom prst="rect">
            <a:avLst/>
          </a:prstGeom>
        </p:spPr>
      </p:pic>
      <p:sp>
        <p:nvSpPr>
          <p:cNvPr id="27" name="TextBox 26">
            <a:extLst>
              <a:ext uri="{FF2B5EF4-FFF2-40B4-BE49-F238E27FC236}">
                <a16:creationId xmlns:a16="http://schemas.microsoft.com/office/drawing/2014/main" id="{B2202300-FC1C-8E3B-CB97-E48EC16A4CF7}"/>
              </a:ext>
            </a:extLst>
          </p:cNvPr>
          <p:cNvSpPr txBox="1"/>
          <p:nvPr/>
        </p:nvSpPr>
        <p:spPr>
          <a:xfrm>
            <a:off x="911379" y="2758455"/>
            <a:ext cx="3116628" cy="369332"/>
          </a:xfrm>
          <a:prstGeom prst="rect">
            <a:avLst/>
          </a:prstGeom>
          <a:noFill/>
        </p:spPr>
        <p:txBody>
          <a:bodyPr wrap="square">
            <a:spAutoFit/>
          </a:bodyPr>
          <a:lstStyle/>
          <a:p>
            <a:pPr algn="ctr"/>
            <a:r>
              <a:rPr lang="en-IN" b="1" dirty="0">
                <a:solidFill>
                  <a:schemeClr val="bg1"/>
                </a:solidFill>
              </a:rPr>
              <a:t>PRESENTATION 2026</a:t>
            </a:r>
          </a:p>
        </p:txBody>
      </p:sp>
      <p:pic>
        <p:nvPicPr>
          <p:cNvPr id="37" name="Picture 36">
            <a:extLst>
              <a:ext uri="{FF2B5EF4-FFF2-40B4-BE49-F238E27FC236}">
                <a16:creationId xmlns:a16="http://schemas.microsoft.com/office/drawing/2014/main" id="{6F3515B0-1652-D426-63D5-22DC8CD53F6A}"/>
              </a:ext>
            </a:extLst>
          </p:cNvPr>
          <p:cNvPicPr>
            <a:picLocks noChangeAspect="1"/>
          </p:cNvPicPr>
          <p:nvPr/>
        </p:nvPicPr>
        <p:blipFill>
          <a:blip r:embed="rId11"/>
          <a:stretch>
            <a:fillRect/>
          </a:stretch>
        </p:blipFill>
        <p:spPr>
          <a:xfrm>
            <a:off x="100214" y="2730536"/>
            <a:ext cx="3988717" cy="374122"/>
          </a:xfrm>
          <a:prstGeom prst="rect">
            <a:avLst/>
          </a:prstGeom>
        </p:spPr>
      </p:pic>
      <p:sp>
        <p:nvSpPr>
          <p:cNvPr id="38" name="TextBox 37">
            <a:extLst>
              <a:ext uri="{FF2B5EF4-FFF2-40B4-BE49-F238E27FC236}">
                <a16:creationId xmlns:a16="http://schemas.microsoft.com/office/drawing/2014/main" id="{27E6BFE0-5718-FECB-586E-5C4E70ADCF04}"/>
              </a:ext>
            </a:extLst>
          </p:cNvPr>
          <p:cNvSpPr txBox="1"/>
          <p:nvPr/>
        </p:nvSpPr>
        <p:spPr>
          <a:xfrm>
            <a:off x="189009" y="2756922"/>
            <a:ext cx="3544617" cy="307777"/>
          </a:xfrm>
          <a:prstGeom prst="rect">
            <a:avLst/>
          </a:prstGeom>
          <a:noFill/>
        </p:spPr>
        <p:txBody>
          <a:bodyPr wrap="square" rtlCol="0">
            <a:spAutoFit/>
          </a:bodyPr>
          <a:lstStyle/>
          <a:p>
            <a:r>
              <a:rPr lang="en-US" sz="1400" b="1" dirty="0">
                <a:solidFill>
                  <a:schemeClr val="bg1"/>
                </a:solidFill>
                <a:latin typeface="Arial" panose="020B0604020202020204" pitchFamily="34" charset="0"/>
                <a:cs typeface="Arial" panose="020B0604020202020204" pitchFamily="34" charset="0"/>
              </a:rPr>
              <a:t>PRESENTATION 2026</a:t>
            </a:r>
            <a:endParaRPr lang="en-IN" sz="1400" b="1" dirty="0">
              <a:solidFill>
                <a:schemeClr val="bg1"/>
              </a:solidFill>
              <a:latin typeface="Arial" panose="020B0604020202020204" pitchFamily="34" charset="0"/>
              <a:cs typeface="Arial" panose="020B0604020202020204" pitchFamily="34" charset="0"/>
            </a:endParaRPr>
          </a:p>
        </p:txBody>
      </p:sp>
      <p:sp>
        <p:nvSpPr>
          <p:cNvPr id="45" name="TextBox 44">
            <a:extLst>
              <a:ext uri="{FF2B5EF4-FFF2-40B4-BE49-F238E27FC236}">
                <a16:creationId xmlns:a16="http://schemas.microsoft.com/office/drawing/2014/main" id="{D12D45ED-43AE-BEC0-3F19-8732378125C2}"/>
              </a:ext>
            </a:extLst>
          </p:cNvPr>
          <p:cNvSpPr txBox="1"/>
          <p:nvPr/>
        </p:nvSpPr>
        <p:spPr>
          <a:xfrm>
            <a:off x="591433" y="3244828"/>
            <a:ext cx="4793981" cy="307777"/>
          </a:xfrm>
          <a:prstGeom prst="rect">
            <a:avLst/>
          </a:prstGeom>
          <a:noFill/>
        </p:spPr>
        <p:txBody>
          <a:bodyPr wrap="square" rtlCol="0">
            <a:spAutoFit/>
          </a:bodyPr>
          <a:lstStyle/>
          <a:p>
            <a:pPr algn="ctr"/>
            <a:r>
              <a:rPr lang="en-US" sz="1400" b="1" dirty="0">
                <a:solidFill>
                  <a:srgbClr val="0070C0"/>
                </a:solidFill>
                <a:latin typeface="Arial" panose="020B0604020202020204" pitchFamily="34" charset="0"/>
                <a:cs typeface="Arial" panose="020B0604020202020204" pitchFamily="34" charset="0"/>
              </a:rPr>
              <a:t>Crystal Pay: Clean Data, Clear Financial Decisions</a:t>
            </a:r>
            <a:endParaRPr lang="en-IN" sz="1400" b="1" dirty="0">
              <a:solidFill>
                <a:srgbClr val="0070C0"/>
              </a:solidFill>
              <a:latin typeface="Arial" panose="020B0604020202020204" pitchFamily="34" charset="0"/>
              <a:cs typeface="Arial" panose="020B0604020202020204" pitchFamily="34" charset="0"/>
            </a:endParaRPr>
          </a:p>
        </p:txBody>
      </p:sp>
      <p:pic>
        <p:nvPicPr>
          <p:cNvPr id="48" name="Picture 47">
            <a:extLst>
              <a:ext uri="{FF2B5EF4-FFF2-40B4-BE49-F238E27FC236}">
                <a16:creationId xmlns:a16="http://schemas.microsoft.com/office/drawing/2014/main" id="{8FEF31C6-29C1-437C-EE52-AD321FF3BEEF}"/>
              </a:ext>
            </a:extLst>
          </p:cNvPr>
          <p:cNvPicPr>
            <a:picLocks noChangeAspect="1"/>
          </p:cNvPicPr>
          <p:nvPr/>
        </p:nvPicPr>
        <p:blipFill>
          <a:blip r:embed="rId12"/>
          <a:stretch>
            <a:fillRect/>
          </a:stretch>
        </p:blipFill>
        <p:spPr>
          <a:xfrm>
            <a:off x="3892809" y="4274701"/>
            <a:ext cx="1889924" cy="268247"/>
          </a:xfrm>
          <a:prstGeom prst="rect">
            <a:avLst/>
          </a:prstGeom>
        </p:spPr>
      </p:pic>
      <p:sp>
        <p:nvSpPr>
          <p:cNvPr id="53" name="TextBox 52">
            <a:extLst>
              <a:ext uri="{FF2B5EF4-FFF2-40B4-BE49-F238E27FC236}">
                <a16:creationId xmlns:a16="http://schemas.microsoft.com/office/drawing/2014/main" id="{9B07A018-2851-E85D-D60A-5240B219CD52}"/>
              </a:ext>
            </a:extLst>
          </p:cNvPr>
          <p:cNvSpPr txBox="1"/>
          <p:nvPr/>
        </p:nvSpPr>
        <p:spPr>
          <a:xfrm>
            <a:off x="3876399" y="4498632"/>
            <a:ext cx="2228401" cy="276999"/>
          </a:xfrm>
          <a:prstGeom prst="rect">
            <a:avLst/>
          </a:prstGeom>
          <a:noFill/>
        </p:spPr>
        <p:txBody>
          <a:bodyPr wrap="square">
            <a:spAutoFit/>
          </a:bodyPr>
          <a:lstStyle/>
          <a:p>
            <a:r>
              <a:rPr lang="en-IN" sz="1200" b="1" dirty="0">
                <a:solidFill>
                  <a:srgbClr val="002060"/>
                </a:solidFill>
                <a:latin typeface="Arial" panose="020B0604020202020204" pitchFamily="34" charset="0"/>
                <a:cs typeface="Arial" panose="020B0604020202020204" pitchFamily="34" charset="0"/>
              </a:rPr>
              <a:t>srijoni.gupta@gmail.com</a:t>
            </a:r>
          </a:p>
        </p:txBody>
      </p:sp>
      <p:sp>
        <p:nvSpPr>
          <p:cNvPr id="56" name="TextBox 55">
            <a:extLst>
              <a:ext uri="{FF2B5EF4-FFF2-40B4-BE49-F238E27FC236}">
                <a16:creationId xmlns:a16="http://schemas.microsoft.com/office/drawing/2014/main" id="{9733390C-48E4-085F-3520-10E646B9F5E4}"/>
              </a:ext>
            </a:extLst>
          </p:cNvPr>
          <p:cNvSpPr txBox="1"/>
          <p:nvPr/>
        </p:nvSpPr>
        <p:spPr>
          <a:xfrm>
            <a:off x="4002459" y="3689445"/>
            <a:ext cx="1076085" cy="246221"/>
          </a:xfrm>
          <a:prstGeom prst="rect">
            <a:avLst/>
          </a:prstGeom>
          <a:noFill/>
        </p:spPr>
        <p:txBody>
          <a:bodyPr wrap="square">
            <a:spAutoFit/>
          </a:bodyPr>
          <a:lstStyle/>
          <a:p>
            <a:r>
              <a:rPr lang="en-IN" sz="1000" dirty="0">
                <a:latin typeface="Arial" panose="020B0604020202020204" pitchFamily="34" charset="0"/>
                <a:cs typeface="Arial" panose="020B0604020202020204" pitchFamily="34" charset="0"/>
              </a:rPr>
              <a:t>Student Name</a:t>
            </a:r>
          </a:p>
        </p:txBody>
      </p:sp>
      <p:sp>
        <p:nvSpPr>
          <p:cNvPr id="59" name="TextBox 58">
            <a:extLst>
              <a:ext uri="{FF2B5EF4-FFF2-40B4-BE49-F238E27FC236}">
                <a16:creationId xmlns:a16="http://schemas.microsoft.com/office/drawing/2014/main" id="{65187F72-1724-A993-E206-97FE19D018DD}"/>
              </a:ext>
            </a:extLst>
          </p:cNvPr>
          <p:cNvSpPr txBox="1"/>
          <p:nvPr/>
        </p:nvSpPr>
        <p:spPr>
          <a:xfrm>
            <a:off x="3864889" y="3903518"/>
            <a:ext cx="1563677" cy="276999"/>
          </a:xfrm>
          <a:prstGeom prst="rect">
            <a:avLst/>
          </a:prstGeom>
          <a:noFill/>
        </p:spPr>
        <p:txBody>
          <a:bodyPr wrap="square">
            <a:spAutoFit/>
          </a:bodyPr>
          <a:lstStyle/>
          <a:p>
            <a:r>
              <a:rPr lang="en-IN" sz="1200" b="1" dirty="0">
                <a:solidFill>
                  <a:srgbClr val="002060"/>
                </a:solidFill>
                <a:latin typeface="Arial" panose="020B0604020202020204" pitchFamily="34" charset="0"/>
                <a:cs typeface="Arial" panose="020B0604020202020204" pitchFamily="34" charset="0"/>
              </a:rPr>
              <a:t>Srijoni Gupta</a:t>
            </a:r>
          </a:p>
        </p:txBody>
      </p:sp>
      <p:pic>
        <p:nvPicPr>
          <p:cNvPr id="28" name="Picture 27">
            <a:extLst>
              <a:ext uri="{FF2B5EF4-FFF2-40B4-BE49-F238E27FC236}">
                <a16:creationId xmlns:a16="http://schemas.microsoft.com/office/drawing/2014/main" id="{9EABA7CA-F668-3923-BB86-B6B23B6F1227}"/>
              </a:ext>
            </a:extLst>
          </p:cNvPr>
          <p:cNvPicPr>
            <a:picLocks noChangeAspect="1"/>
          </p:cNvPicPr>
          <p:nvPr/>
        </p:nvPicPr>
        <p:blipFill>
          <a:blip r:embed="rId13"/>
          <a:stretch>
            <a:fillRect/>
          </a:stretch>
        </p:blipFill>
        <p:spPr>
          <a:xfrm>
            <a:off x="6282830" y="979325"/>
            <a:ext cx="2564701" cy="2564701"/>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ustDataLst>
      <p:tags r:id="rId1"/>
    </p:custDataLst>
    <p:extLst>
      <p:ext uri="{BB962C8B-B14F-4D97-AF65-F5344CB8AC3E}">
        <p14:creationId xmlns:p14="http://schemas.microsoft.com/office/powerpoint/2010/main" val="121223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10217"/>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Outline</a:t>
            </a:r>
            <a:endParaRPr lang="en-US" sz="2000" dirty="0">
              <a:latin typeface="Lato" panose="020F0502020204030203" pitchFamily="34" charset="0"/>
              <a:cs typeface="Arial" panose="020B0604020202020204" pitchFamily="34" charset="0"/>
            </a:endParaRPr>
          </a:p>
        </p:txBody>
      </p:sp>
      <p:sp>
        <p:nvSpPr>
          <p:cNvPr id="24" name="TextBox 23">
            <a:extLst>
              <a:ext uri="{FF2B5EF4-FFF2-40B4-BE49-F238E27FC236}">
                <a16:creationId xmlns:a16="http://schemas.microsoft.com/office/drawing/2014/main" id="{90865657-EE51-429D-40B6-B64C80E4AB47}"/>
              </a:ext>
            </a:extLst>
          </p:cNvPr>
          <p:cNvSpPr txBox="1"/>
          <p:nvPr/>
        </p:nvSpPr>
        <p:spPr>
          <a:xfrm>
            <a:off x="125239" y="1080603"/>
            <a:ext cx="4446761" cy="3026470"/>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800" dirty="0">
                <a:solidFill>
                  <a:schemeClr val="tx1"/>
                </a:solidFill>
                <a:effectLst/>
                <a:latin typeface="Lato" panose="020F0502020204030203" pitchFamily="34" charset="0"/>
                <a:ea typeface="Times New Roman" panose="02020603050405020304" pitchFamily="18" charset="0"/>
                <a:cs typeface="Arial" panose="020B0604020202020204" pitchFamily="34" charset="0"/>
              </a:rPr>
              <a:t>Abstract of the Project</a:t>
            </a:r>
            <a:endParaRPr lang="en-IN" sz="1800" dirty="0">
              <a:solidFill>
                <a:schemeClr val="tx1"/>
              </a:solidFill>
              <a:latin typeface="Lato" panose="020F0502020204030203" pitchFamily="34" charset="0"/>
              <a:ea typeface="Times New Roman" panose="02020603050405020304" pitchFamily="18" charset="0"/>
              <a:cs typeface="Arial" panose="020B0604020202020204" pitchFamily="34" charset="0"/>
            </a:endParaRP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Problem Statement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Proposed Solution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System Architecture</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Live Demo of the Project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Embedded Video of Project</a:t>
            </a:r>
          </a:p>
          <a:p>
            <a:pPr marL="228600" indent="-228600">
              <a:spcAft>
                <a:spcPts val="800"/>
              </a:spcAft>
              <a:buFont typeface="Arial" panose="020B0604020202020204" pitchFamily="34" charset="0"/>
              <a:buChar char="•"/>
              <a:tabLst>
                <a:tab pos="4229100" algn="ctr"/>
              </a:tabLst>
            </a:pPr>
            <a:r>
              <a:rPr lang="en-IN" sz="1800" dirty="0">
                <a:latin typeface="Lato" panose="020F0502020204030203" pitchFamily="34" charset="0"/>
                <a:ea typeface="+mn-lt"/>
                <a:cs typeface="Arial" panose="020B0604020202020204" pitchFamily="34" charset="0"/>
              </a:rPr>
              <a:t>Conclusion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Future Scope</a:t>
            </a:r>
          </a:p>
        </p:txBody>
      </p:sp>
      <p:pic>
        <p:nvPicPr>
          <p:cNvPr id="25" name="Picture 24" descr="A screen shot of a computer&#10;&#10;AI-generated content may be incorrect.">
            <a:extLst>
              <a:ext uri="{FF2B5EF4-FFF2-40B4-BE49-F238E27FC236}">
                <a16:creationId xmlns:a16="http://schemas.microsoft.com/office/drawing/2014/main" id="{C3A7F110-9D19-8523-45D3-77B1951C8835}"/>
              </a:ext>
            </a:extLst>
          </p:cNvPr>
          <p:cNvPicPr>
            <a:picLocks noChangeAspect="1"/>
          </p:cNvPicPr>
          <p:nvPr/>
        </p:nvPicPr>
        <p:blipFill>
          <a:blip r:embed="rId4">
            <a:duotone>
              <a:schemeClr val="accent1">
                <a:shade val="45000"/>
                <a:satMod val="135000"/>
              </a:schemeClr>
              <a:prstClr val="white"/>
            </a:duotone>
          </a:blip>
          <a:srcRect l="25250" t="7320" r="18976" b="28715"/>
          <a:stretch>
            <a:fillRect/>
          </a:stretch>
        </p:blipFill>
        <p:spPr>
          <a:xfrm>
            <a:off x="5378824" y="1034325"/>
            <a:ext cx="2868706" cy="3290047"/>
          </a:xfrm>
          <a:prstGeom prst="rect">
            <a:avLst/>
          </a:prstGeom>
        </p:spPr>
      </p:pic>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40079" y="6075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Abstract</a:t>
            </a:r>
            <a:endParaRPr lang="en-US" sz="2000" dirty="0">
              <a:latin typeface="Lato" panose="020F0502020204030203" pitchFamily="34" charset="0"/>
              <a:cs typeface="Arial" panose="020B0604020202020204" pitchFamily="34" charset="0"/>
            </a:endParaRPr>
          </a:p>
        </p:txBody>
      </p:sp>
      <p:sp>
        <p:nvSpPr>
          <p:cNvPr id="7" name="TextBox 6">
            <a:extLst>
              <a:ext uri="{FF2B5EF4-FFF2-40B4-BE49-F238E27FC236}">
                <a16:creationId xmlns:a16="http://schemas.microsoft.com/office/drawing/2014/main" id="{38849028-F25C-7DA0-DE56-0DC142EECABD}"/>
              </a:ext>
            </a:extLst>
          </p:cNvPr>
          <p:cNvSpPr txBox="1"/>
          <p:nvPr/>
        </p:nvSpPr>
        <p:spPr>
          <a:xfrm>
            <a:off x="125240" y="1082801"/>
            <a:ext cx="5002346" cy="3508653"/>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300" b="1" dirty="0">
                <a:latin typeface="Arial" panose="020B0604020202020204" pitchFamily="34" charset="0"/>
                <a:ea typeface="+mn-lt"/>
                <a:cs typeface="Arial" panose="020B0604020202020204" pitchFamily="34" charset="0"/>
              </a:rPr>
              <a:t>Objective: </a:t>
            </a:r>
            <a:r>
              <a:rPr lang="en-US" sz="1300" dirty="0">
                <a:latin typeface="Arial" panose="020B0604020202020204" pitchFamily="34" charset="0"/>
                <a:ea typeface="+mn-lt"/>
                <a:cs typeface="Arial" panose="020B0604020202020204" pitchFamily="34" charset="0"/>
              </a:rPr>
              <a:t>Improve payroll accuracy, transparency, and compliance by validating salary components (basic pay, allowances, overtime, bonuses, deductions) and providing actionable insights.</a:t>
            </a:r>
          </a:p>
          <a:p>
            <a:pPr marL="228600" indent="-228600">
              <a:spcAft>
                <a:spcPts val="800"/>
              </a:spcAft>
              <a:buFont typeface="Arial" panose="020B0604020202020204" pitchFamily="34" charset="0"/>
              <a:buChar char="•"/>
              <a:tabLst>
                <a:tab pos="4229100" algn="ctr"/>
              </a:tabLst>
            </a:pPr>
            <a:r>
              <a:rPr lang="en-US" sz="1300" b="1" dirty="0">
                <a:latin typeface="Arial" panose="020B0604020202020204" pitchFamily="34" charset="0"/>
                <a:ea typeface="+mn-lt"/>
                <a:cs typeface="Arial" panose="020B0604020202020204" pitchFamily="34" charset="0"/>
              </a:rPr>
              <a:t>Tools: </a:t>
            </a:r>
            <a:r>
              <a:rPr lang="en-US" sz="1300" dirty="0">
                <a:latin typeface="Arial" panose="020B0604020202020204" pitchFamily="34" charset="0"/>
                <a:ea typeface="+mn-lt"/>
                <a:cs typeface="Arial" panose="020B0604020202020204" pitchFamily="34" charset="0"/>
              </a:rPr>
              <a:t>Microsoft Excel for data cleaning, Copilot Studio chatbot for interactive payroll queries, and Power BI for dashboards and KPI visualization.</a:t>
            </a:r>
          </a:p>
          <a:p>
            <a:pPr marL="228600" indent="-228600">
              <a:spcAft>
                <a:spcPts val="800"/>
              </a:spcAft>
              <a:buFont typeface="Arial" panose="020B0604020202020204" pitchFamily="34" charset="0"/>
              <a:buChar char="•"/>
              <a:tabLst>
                <a:tab pos="4229100" algn="ctr"/>
              </a:tabLst>
            </a:pPr>
            <a:r>
              <a:rPr lang="en-US" sz="1300" b="1" dirty="0">
                <a:latin typeface="Arial" panose="020B0604020202020204" pitchFamily="34" charset="0"/>
                <a:ea typeface="+mn-lt"/>
                <a:cs typeface="Arial" panose="020B0604020202020204" pitchFamily="34" charset="0"/>
              </a:rPr>
              <a:t>Method: </a:t>
            </a:r>
          </a:p>
          <a:p>
            <a:pPr marL="285750" indent="-285750">
              <a:spcAft>
                <a:spcPts val="800"/>
              </a:spcAft>
              <a:buFont typeface="Courier New" panose="02070309020205020404" pitchFamily="49" charset="0"/>
              <a:buChar char="o"/>
              <a:tabLst>
                <a:tab pos="4229100" algn="ctr"/>
              </a:tabLst>
            </a:pPr>
            <a:r>
              <a:rPr lang="en-US" sz="1300" dirty="0">
                <a:latin typeface="Arial" panose="020B0604020202020204" pitchFamily="34" charset="0"/>
                <a:ea typeface="+mn-lt"/>
                <a:cs typeface="Arial" panose="020B0604020202020204" pitchFamily="34" charset="0"/>
              </a:rPr>
              <a:t>Clean and standardize payroll dataset (500+ employee records).</a:t>
            </a:r>
          </a:p>
          <a:p>
            <a:pPr marL="285750" indent="-285750">
              <a:spcAft>
                <a:spcPts val="800"/>
              </a:spcAft>
              <a:buFont typeface="Courier New" panose="02070309020205020404" pitchFamily="49" charset="0"/>
              <a:buChar char="o"/>
              <a:tabLst>
                <a:tab pos="4229100" algn="ctr"/>
              </a:tabLst>
            </a:pPr>
            <a:r>
              <a:rPr lang="en-US" sz="1300" dirty="0">
                <a:latin typeface="Arial" panose="020B0604020202020204" pitchFamily="34" charset="0"/>
                <a:ea typeface="+mn-lt"/>
                <a:cs typeface="Arial" panose="020B0604020202020204" pitchFamily="34" charset="0"/>
              </a:rPr>
              <a:t>Build KPI framework for overtime, bonuses, gross vs. net salary, and department‑wise costs.</a:t>
            </a:r>
          </a:p>
          <a:p>
            <a:pPr marL="285750" indent="-285750">
              <a:spcAft>
                <a:spcPts val="800"/>
              </a:spcAft>
              <a:buFont typeface="Courier New" panose="02070309020205020404" pitchFamily="49" charset="0"/>
              <a:buChar char="o"/>
              <a:tabLst>
                <a:tab pos="4229100" algn="ctr"/>
              </a:tabLst>
            </a:pPr>
            <a:r>
              <a:rPr lang="en-US" sz="1300" dirty="0">
                <a:latin typeface="Arial" panose="020B0604020202020204" pitchFamily="34" charset="0"/>
                <a:ea typeface="+mn-lt"/>
                <a:cs typeface="Arial" panose="020B0604020202020204" pitchFamily="34" charset="0"/>
              </a:rPr>
              <a:t>Integrate chatbot for anomaly detection and query support.</a:t>
            </a:r>
          </a:p>
          <a:p>
            <a:pPr marL="285750" indent="-285750">
              <a:spcAft>
                <a:spcPts val="800"/>
              </a:spcAft>
              <a:buFont typeface="Courier New" panose="02070309020205020404" pitchFamily="49" charset="0"/>
              <a:buChar char="o"/>
              <a:tabLst>
                <a:tab pos="4229100" algn="ctr"/>
              </a:tabLst>
            </a:pPr>
            <a:r>
              <a:rPr lang="en-US" sz="1300" dirty="0">
                <a:latin typeface="Arial" panose="020B0604020202020204" pitchFamily="34" charset="0"/>
                <a:ea typeface="+mn-lt"/>
                <a:cs typeface="Arial" panose="020B0604020202020204" pitchFamily="34" charset="0"/>
              </a:rPr>
              <a:t>Visualize insights through interactive Power BI dashboards.</a:t>
            </a:r>
          </a:p>
        </p:txBody>
      </p:sp>
      <p:sp>
        <p:nvSpPr>
          <p:cNvPr id="2" name="Freeform 28">
            <a:extLst>
              <a:ext uri="{FF2B5EF4-FFF2-40B4-BE49-F238E27FC236}">
                <a16:creationId xmlns:a16="http://schemas.microsoft.com/office/drawing/2014/main" id="{AA7F05EE-340D-A58A-BAD0-FB0660B2D339}"/>
              </a:ext>
            </a:extLst>
          </p:cNvPr>
          <p:cNvSpPr/>
          <p:nvPr/>
        </p:nvSpPr>
        <p:spPr>
          <a:xfrm>
            <a:off x="5814470" y="1082801"/>
            <a:ext cx="3070450" cy="2997875"/>
          </a:xfrm>
          <a:custGeom>
            <a:avLst/>
            <a:gdLst/>
            <a:ahLst/>
            <a:cxnLst/>
            <a:rect l="l" t="t" r="r" b="b"/>
            <a:pathLst>
              <a:path w="4114800" h="4017541">
                <a:moveTo>
                  <a:pt x="0" y="0"/>
                </a:moveTo>
                <a:lnTo>
                  <a:pt x="4114800" y="0"/>
                </a:lnTo>
                <a:lnTo>
                  <a:pt x="4114800" y="4017541"/>
                </a:lnTo>
                <a:lnTo>
                  <a:pt x="0" y="40175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E1EC777-FAE4-B8A3-4123-B1761E17E6EE}"/>
              </a:ext>
            </a:extLst>
          </p:cNvPr>
          <p:cNvSpPr txBox="1"/>
          <p:nvPr/>
        </p:nvSpPr>
        <p:spPr>
          <a:xfrm>
            <a:off x="193040" y="589280"/>
            <a:ext cx="2275840" cy="400110"/>
          </a:xfrm>
          <a:prstGeom prst="rect">
            <a:avLst/>
          </a:prstGeom>
          <a:noFill/>
        </p:spPr>
        <p:txBody>
          <a:bodyPr wrap="square" rtlCol="0">
            <a:spAutoFit/>
          </a:bodyPr>
          <a:lstStyle/>
          <a:p>
            <a:r>
              <a:rPr lang="en-IN" sz="2000" b="1" dirty="0">
                <a:solidFill>
                  <a:schemeClr val="tx2"/>
                </a:solidFill>
                <a:latin typeface="Lato" panose="020F0502020204030203" pitchFamily="34" charset="0"/>
                <a:ea typeface="Lato" panose="020F0502020204030203" pitchFamily="34" charset="0"/>
                <a:cs typeface="Lato" panose="020F0502020204030203" pitchFamily="34" charset="0"/>
              </a:rPr>
              <a:t>Abstract</a:t>
            </a:r>
            <a:endParaRPr lang="en-IN" b="1" dirty="0">
              <a:solidFill>
                <a:schemeClr val="tx2"/>
              </a:solidFill>
              <a:latin typeface="Lato" panose="020F0502020204030203" pitchFamily="34" charset="0"/>
              <a:ea typeface="Lato" panose="020F0502020204030203" pitchFamily="34" charset="0"/>
              <a:cs typeface="Lato" panose="020F0502020204030203" pitchFamily="34" charset="0"/>
            </a:endParaRPr>
          </a:p>
        </p:txBody>
      </p:sp>
      <p:sp>
        <p:nvSpPr>
          <p:cNvPr id="4" name="TextBox 3">
            <a:extLst>
              <a:ext uri="{FF2B5EF4-FFF2-40B4-BE49-F238E27FC236}">
                <a16:creationId xmlns:a16="http://schemas.microsoft.com/office/drawing/2014/main" id="{D3B69A9A-41BA-B599-B8AB-39FC5B2CDA4F}"/>
              </a:ext>
            </a:extLst>
          </p:cNvPr>
          <p:cNvSpPr txBox="1"/>
          <p:nvPr/>
        </p:nvSpPr>
        <p:spPr>
          <a:xfrm>
            <a:off x="294640" y="1168400"/>
            <a:ext cx="5039360" cy="2062103"/>
          </a:xfrm>
          <a:prstGeom prst="rect">
            <a:avLst/>
          </a:prstGeom>
          <a:noFill/>
        </p:spPr>
        <p:txBody>
          <a:bodyPr wrap="square" rtlCol="0">
            <a:spAutoFit/>
          </a:bodyPr>
          <a:lstStyle/>
          <a:p>
            <a:pPr marL="285750"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Outcome:</a:t>
            </a:r>
          </a:p>
          <a:p>
            <a:pPr marL="285750" indent="-285750">
              <a:buFont typeface="Courier New" panose="02070309020205020404" pitchFamily="49" charset="0"/>
              <a:buChar char="o"/>
            </a:pPr>
            <a:r>
              <a:rPr lang="en-US" sz="1600" dirty="0">
                <a:latin typeface="Arial" panose="020B0604020202020204" pitchFamily="34" charset="0"/>
                <a:cs typeface="Arial" panose="020B0604020202020204" pitchFamily="34" charset="0"/>
              </a:rPr>
              <a:t>Validated payroll dataset with reduced errors.</a:t>
            </a:r>
          </a:p>
          <a:p>
            <a:pPr marL="285750" indent="-285750">
              <a:buFont typeface="Courier New" panose="02070309020205020404" pitchFamily="49" charset="0"/>
              <a:buChar char="o"/>
            </a:pPr>
            <a:r>
              <a:rPr lang="en-US" sz="1600" dirty="0">
                <a:latin typeface="Arial" panose="020B0604020202020204" pitchFamily="34" charset="0"/>
                <a:cs typeface="Arial" panose="020B0604020202020204" pitchFamily="34" charset="0"/>
              </a:rPr>
              <a:t>Transparent dashboards showing department costs, overtime hotspots, and bonus flows.</a:t>
            </a:r>
          </a:p>
          <a:p>
            <a:pPr marL="285750" indent="-285750">
              <a:buFont typeface="Courier New" panose="02070309020205020404" pitchFamily="49" charset="0"/>
              <a:buChar char="o"/>
            </a:pPr>
            <a:r>
              <a:rPr lang="en-US" sz="1600" dirty="0">
                <a:latin typeface="Arial" panose="020B0604020202020204" pitchFamily="34" charset="0"/>
                <a:cs typeface="Arial" panose="020B0604020202020204" pitchFamily="34" charset="0"/>
              </a:rPr>
              <a:t>AI‑assisted workflows that save time and ensure reproducibility.</a:t>
            </a:r>
          </a:p>
          <a:p>
            <a:pPr marL="285750" indent="-285750">
              <a:buFont typeface="Courier New" panose="02070309020205020404" pitchFamily="49" charset="0"/>
              <a:buChar char="o"/>
            </a:pPr>
            <a:r>
              <a:rPr lang="en-US" sz="1600" dirty="0">
                <a:latin typeface="Arial" panose="020B0604020202020204" pitchFamily="34" charset="0"/>
                <a:cs typeface="Arial" panose="020B0604020202020204" pitchFamily="34" charset="0"/>
              </a:rPr>
              <a:t>Stakeholder‑ready reports for HR and Finance decision‑making.</a:t>
            </a:r>
          </a:p>
        </p:txBody>
      </p:sp>
      <p:pic>
        <p:nvPicPr>
          <p:cNvPr id="5" name="Picture 4">
            <a:extLst>
              <a:ext uri="{FF2B5EF4-FFF2-40B4-BE49-F238E27FC236}">
                <a16:creationId xmlns:a16="http://schemas.microsoft.com/office/drawing/2014/main" id="{6A51A19E-6B82-0D3A-48C3-FDD49504F222}"/>
              </a:ext>
            </a:extLst>
          </p:cNvPr>
          <p:cNvPicPr>
            <a:picLocks noChangeAspect="1"/>
          </p:cNvPicPr>
          <p:nvPr/>
        </p:nvPicPr>
        <p:blipFill>
          <a:blip r:embed="rId2"/>
          <a:stretch>
            <a:fillRect/>
          </a:stretch>
        </p:blipFill>
        <p:spPr>
          <a:xfrm>
            <a:off x="5560996" y="989390"/>
            <a:ext cx="3288364" cy="3203545"/>
          </a:xfrm>
          <a:prstGeom prst="rect">
            <a:avLst/>
          </a:prstGeom>
        </p:spPr>
      </p:pic>
    </p:spTree>
    <p:extLst>
      <p:ext uri="{BB962C8B-B14F-4D97-AF65-F5344CB8AC3E}">
        <p14:creationId xmlns:p14="http://schemas.microsoft.com/office/powerpoint/2010/main" val="30106584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5538951" y="1050198"/>
            <a:ext cx="3484425" cy="3484425"/>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Problem Statement</a:t>
            </a:r>
            <a:endParaRPr lang="en-US" sz="2000" dirty="0">
              <a:latin typeface="Lato" panose="020F0502020204030203" pitchFamily="34" charset="0"/>
              <a:cs typeface="Arial" panose="020B0604020202020204" pitchFamily="34" charset="0"/>
            </a:endParaRPr>
          </a:p>
        </p:txBody>
      </p:sp>
      <p:sp>
        <p:nvSpPr>
          <p:cNvPr id="5" name="TextBox 4">
            <a:extLst>
              <a:ext uri="{FF2B5EF4-FFF2-40B4-BE49-F238E27FC236}">
                <a16:creationId xmlns:a16="http://schemas.microsoft.com/office/drawing/2014/main" id="{8E93A78F-F646-F67D-C35E-B21C1E9DC159}"/>
              </a:ext>
            </a:extLst>
          </p:cNvPr>
          <p:cNvSpPr txBox="1"/>
          <p:nvPr/>
        </p:nvSpPr>
        <p:spPr>
          <a:xfrm>
            <a:off x="120623" y="1166648"/>
            <a:ext cx="5227718" cy="3754874"/>
          </a:xfrm>
          <a:prstGeom prst="rect">
            <a:avLst/>
          </a:prstGeom>
          <a:noFill/>
        </p:spPr>
        <p:txBody>
          <a:bodyPr wrap="square" rtlCol="0">
            <a:spAutoFit/>
          </a:bodyPr>
          <a:lstStyle/>
          <a:p>
            <a:pPr marL="285750"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Payroll Accuracy &amp; Transparency: </a:t>
            </a:r>
            <a:r>
              <a:rPr lang="en-US" sz="1400" dirty="0">
                <a:latin typeface="Arial" panose="020B0604020202020204" pitchFamily="34" charset="0"/>
                <a:cs typeface="Arial" panose="020B0604020202020204" pitchFamily="34" charset="0"/>
              </a:rPr>
              <a:t>Crystal Pay’s dataset includes multiple salary components — basic pay, allowances, overtime, bonuses, and deductions. Errors in overtime calculation, bonus allocation, or deduction entries reduce payroll accuracy and compliance.</a:t>
            </a:r>
          </a:p>
          <a:p>
            <a:endParaRPr lang="en-US" sz="1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Departmental Cost Visibility : </a:t>
            </a:r>
            <a:r>
              <a:rPr lang="en-US" sz="1400" dirty="0">
                <a:latin typeface="Arial" panose="020B0604020202020204" pitchFamily="34" charset="0"/>
                <a:cs typeface="Arial" panose="020B0604020202020204" pitchFamily="34" charset="0"/>
              </a:rPr>
              <a:t>The dataset spans HR, Finance, IT, and Sales. However, Crystal Pay currently lacks clear insights into department‑wise salary distribution, overtime trends, and bonus flows, limiting workforce cost planning.</a:t>
            </a:r>
          </a:p>
          <a:p>
            <a:endParaRPr lang="en-US" sz="1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Overtime &amp; Bonus Flow Optimization :  </a:t>
            </a:r>
            <a:r>
              <a:rPr lang="en-US" sz="1400" dirty="0">
                <a:latin typeface="Arial" panose="020B0604020202020204" pitchFamily="34" charset="0"/>
                <a:cs typeface="Arial" panose="020B0604020202020204" pitchFamily="34" charset="0"/>
              </a:rPr>
              <a:t>Employees show wide variation in overtime hours and bonus structures. Without systematic tracking, compensation fairness is compromised, and forecasting payroll liabilities becomes difficult.</a:t>
            </a:r>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4C0405-64E1-9D57-DFAC-F707D6EA176F}"/>
              </a:ext>
            </a:extLst>
          </p:cNvPr>
          <p:cNvPicPr>
            <a:picLocks noChangeAspect="1"/>
          </p:cNvPicPr>
          <p:nvPr/>
        </p:nvPicPr>
        <p:blipFill>
          <a:blip r:embed="rId2"/>
          <a:stretch>
            <a:fillRect/>
          </a:stretch>
        </p:blipFill>
        <p:spPr>
          <a:xfrm>
            <a:off x="5452627" y="809248"/>
            <a:ext cx="3525003" cy="3525003"/>
          </a:xfrm>
          <a:prstGeom prst="rect">
            <a:avLst/>
          </a:prstGeom>
        </p:spPr>
      </p:pic>
      <p:sp>
        <p:nvSpPr>
          <p:cNvPr id="4" name="TextBox 3">
            <a:extLst>
              <a:ext uri="{FF2B5EF4-FFF2-40B4-BE49-F238E27FC236}">
                <a16:creationId xmlns:a16="http://schemas.microsoft.com/office/drawing/2014/main" id="{D6A00E46-F4A2-7B77-A4F3-026C3905F1FE}"/>
              </a:ext>
            </a:extLst>
          </p:cNvPr>
          <p:cNvSpPr txBox="1"/>
          <p:nvPr/>
        </p:nvSpPr>
        <p:spPr>
          <a:xfrm>
            <a:off x="274320" y="660400"/>
            <a:ext cx="4511040" cy="400110"/>
          </a:xfrm>
          <a:prstGeom prst="rect">
            <a:avLst/>
          </a:prstGeom>
          <a:noFill/>
        </p:spPr>
        <p:txBody>
          <a:bodyPr wrap="square" rtlCol="0">
            <a:spAutoFit/>
          </a:bodyPr>
          <a:lstStyle/>
          <a:p>
            <a:r>
              <a:rPr lang="en-IN" sz="2000" b="1" dirty="0">
                <a:solidFill>
                  <a:schemeClr val="accent5">
                    <a:lumMod val="50000"/>
                  </a:schemeClr>
                </a:solidFill>
                <a:latin typeface="Lato" panose="020F0502020204030203" pitchFamily="34" charset="0"/>
                <a:ea typeface="Lato" panose="020F0502020204030203" pitchFamily="34" charset="0"/>
                <a:cs typeface="Lato" panose="020F0502020204030203" pitchFamily="34" charset="0"/>
              </a:rPr>
              <a:t>Problem Statement</a:t>
            </a:r>
          </a:p>
        </p:txBody>
      </p:sp>
      <p:sp>
        <p:nvSpPr>
          <p:cNvPr id="7" name="TextBox 6">
            <a:extLst>
              <a:ext uri="{FF2B5EF4-FFF2-40B4-BE49-F238E27FC236}">
                <a16:creationId xmlns:a16="http://schemas.microsoft.com/office/drawing/2014/main" id="{7C760469-C213-7CF7-51B6-D1B2C92C6A80}"/>
              </a:ext>
            </a:extLst>
          </p:cNvPr>
          <p:cNvSpPr txBox="1"/>
          <p:nvPr/>
        </p:nvSpPr>
        <p:spPr>
          <a:xfrm>
            <a:off x="396239" y="1312671"/>
            <a:ext cx="4389121" cy="3108543"/>
          </a:xfrm>
          <a:prstGeom prst="rect">
            <a:avLst/>
          </a:prstGeom>
          <a:noFill/>
        </p:spPr>
        <p:txBody>
          <a:bodyPr wrap="square" rtlCol="0">
            <a:spAutoFit/>
          </a:bodyPr>
          <a:lstStyle/>
          <a:p>
            <a:pPr marL="285750" indent="-285750">
              <a:buFont typeface="Arial" panose="020B0604020202020204" pitchFamily="34" charset="0"/>
              <a:buChar char="•"/>
            </a:pPr>
            <a:r>
              <a:rPr lang="en-US" sz="1400" b="1" dirty="0">
                <a:latin typeface="Arial" panose="020B0604020202020204" pitchFamily="34" charset="0"/>
                <a:ea typeface="Lato" panose="020F0502020204030203" pitchFamily="34" charset="0"/>
                <a:cs typeface="Arial" panose="020B0604020202020204" pitchFamily="34" charset="0"/>
              </a:rPr>
              <a:t>Gross vs. Net Salary Analysis : </a:t>
            </a:r>
            <a:r>
              <a:rPr lang="en-US" sz="1400" dirty="0">
                <a:latin typeface="Arial" panose="020B0604020202020204" pitchFamily="34" charset="0"/>
                <a:ea typeface="Lato" panose="020F0502020204030203" pitchFamily="34" charset="0"/>
                <a:cs typeface="Arial" panose="020B0604020202020204" pitchFamily="34" charset="0"/>
              </a:rPr>
              <a:t>While gross and net salary values are available, Crystal Pay does not yet provide actionable insights such as identifying top earners, high‑deduction cases, or overtime hotspots that could guide HR and Finance in decision‑making.</a:t>
            </a:r>
          </a:p>
          <a:p>
            <a:endParaRPr lang="en-US" sz="1400" dirty="0">
              <a:latin typeface="Arial" panose="020B0604020202020204" pitchFamily="34" charset="0"/>
              <a:ea typeface="Lato" panose="020F0502020204030203" pitchFamily="34" charset="0"/>
              <a:cs typeface="Arial" panose="020B0604020202020204" pitchFamily="34" charset="0"/>
            </a:endParaRPr>
          </a:p>
          <a:p>
            <a:pPr marL="285750" indent="-285750">
              <a:buFont typeface="Arial" panose="020B0604020202020204" pitchFamily="34" charset="0"/>
              <a:buChar char="•"/>
            </a:pPr>
            <a:r>
              <a:rPr lang="en-US" sz="1400" b="1" dirty="0">
                <a:latin typeface="Arial" panose="020B0604020202020204" pitchFamily="34" charset="0"/>
                <a:ea typeface="Lato" panose="020F0502020204030203" pitchFamily="34" charset="0"/>
                <a:cs typeface="Arial" panose="020B0604020202020204" pitchFamily="34" charset="0"/>
              </a:rPr>
              <a:t>Scalability &amp; Compliance Risks:  </a:t>
            </a:r>
            <a:r>
              <a:rPr lang="en-US" sz="1400" dirty="0">
                <a:latin typeface="Arial" panose="020B0604020202020204" pitchFamily="34" charset="0"/>
                <a:ea typeface="Lato" panose="020F0502020204030203" pitchFamily="34" charset="0"/>
                <a:cs typeface="Arial" panose="020B0604020202020204" pitchFamily="34" charset="0"/>
              </a:rPr>
              <a:t>With 500+ records across multiple years, manual analysis is error‑prone. Lack of automated anomaly detection and standardized reporting increases compliance risks and reduces efficiency.</a:t>
            </a:r>
          </a:p>
          <a:p>
            <a:endParaRPr lang="en-US" sz="1400" dirty="0">
              <a:latin typeface="Arial" panose="020B0604020202020204" pitchFamily="34" charset="0"/>
              <a:ea typeface="Lato" panose="020F0502020204030203" pitchFamily="34" charset="0"/>
              <a:cs typeface="Arial" panose="020B0604020202020204" pitchFamily="34" charset="0"/>
            </a:endParaRPr>
          </a:p>
          <a:p>
            <a:pPr marL="285750" indent="-285750">
              <a:buFont typeface="Arial" panose="020B0604020202020204" pitchFamily="34" charset="0"/>
              <a:buChar char="•"/>
            </a:pPr>
            <a:endParaRPr lang="en-US" sz="1400" dirty="0">
              <a:latin typeface="Arial" panose="020B0604020202020204" pitchFamily="34" charset="0"/>
              <a:ea typeface="Lato" panose="020F0502020204030203" pitchFamily="34" charset="0"/>
              <a:cs typeface="Arial" panose="020B0604020202020204" pitchFamily="34" charset="0"/>
            </a:endParaRPr>
          </a:p>
        </p:txBody>
      </p:sp>
    </p:spTree>
    <p:extLst>
      <p:ext uri="{BB962C8B-B14F-4D97-AF65-F5344CB8AC3E}">
        <p14:creationId xmlns:p14="http://schemas.microsoft.com/office/powerpoint/2010/main" val="15293319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2D577BF-6817-F539-27F5-EBF5F67317BC}"/>
              </a:ext>
            </a:extLst>
          </p:cNvPr>
          <p:cNvPicPr>
            <a:picLocks noChangeAspect="1"/>
          </p:cNvPicPr>
          <p:nvPr/>
        </p:nvPicPr>
        <p:blipFill>
          <a:blip r:embed="rId2"/>
          <a:stretch>
            <a:fillRect/>
          </a:stretch>
        </p:blipFill>
        <p:spPr>
          <a:xfrm>
            <a:off x="5310387" y="1312671"/>
            <a:ext cx="3525003" cy="3525003"/>
          </a:xfrm>
          <a:prstGeom prst="rect">
            <a:avLst/>
          </a:prstGeom>
        </p:spPr>
      </p:pic>
      <p:sp>
        <p:nvSpPr>
          <p:cNvPr id="5" name="TextBox 4">
            <a:extLst>
              <a:ext uri="{FF2B5EF4-FFF2-40B4-BE49-F238E27FC236}">
                <a16:creationId xmlns:a16="http://schemas.microsoft.com/office/drawing/2014/main" id="{98CFC3BB-879C-67F7-28E4-73E6BF4865FF}"/>
              </a:ext>
            </a:extLst>
          </p:cNvPr>
          <p:cNvSpPr txBox="1"/>
          <p:nvPr/>
        </p:nvSpPr>
        <p:spPr>
          <a:xfrm>
            <a:off x="568960" y="731520"/>
            <a:ext cx="4592320" cy="400110"/>
          </a:xfrm>
          <a:prstGeom prst="rect">
            <a:avLst/>
          </a:prstGeom>
          <a:noFill/>
        </p:spPr>
        <p:txBody>
          <a:bodyPr wrap="square" rtlCol="0">
            <a:spAutoFit/>
          </a:bodyPr>
          <a:lstStyle/>
          <a:p>
            <a:r>
              <a:rPr lang="en-US" sz="2000" b="1" dirty="0">
                <a:solidFill>
                  <a:schemeClr val="accent5">
                    <a:lumMod val="50000"/>
                  </a:schemeClr>
                </a:solidFill>
                <a:latin typeface="Lato" panose="020F0502020204030203" pitchFamily="34" charset="0"/>
                <a:ea typeface="Lato" panose="020F0502020204030203" pitchFamily="34" charset="0"/>
                <a:cs typeface="Lato" panose="020F0502020204030203" pitchFamily="34" charset="0"/>
              </a:rPr>
              <a:t>Problem Statement</a:t>
            </a:r>
            <a:endParaRPr lang="en-IN" sz="2000" b="1" dirty="0">
              <a:solidFill>
                <a:schemeClr val="accent5">
                  <a:lumMod val="50000"/>
                </a:schemeClr>
              </a:solidFill>
              <a:latin typeface="Lato" panose="020F0502020204030203" pitchFamily="34" charset="0"/>
              <a:ea typeface="Lato" panose="020F0502020204030203" pitchFamily="34" charset="0"/>
              <a:cs typeface="Lato" panose="020F0502020204030203" pitchFamily="34" charset="0"/>
            </a:endParaRPr>
          </a:p>
        </p:txBody>
      </p:sp>
      <p:sp>
        <p:nvSpPr>
          <p:cNvPr id="7" name="TextBox 6">
            <a:extLst>
              <a:ext uri="{FF2B5EF4-FFF2-40B4-BE49-F238E27FC236}">
                <a16:creationId xmlns:a16="http://schemas.microsoft.com/office/drawing/2014/main" id="{4C882181-3059-F2E1-5950-2D8E06314F45}"/>
              </a:ext>
            </a:extLst>
          </p:cNvPr>
          <p:cNvSpPr txBox="1"/>
          <p:nvPr/>
        </p:nvSpPr>
        <p:spPr>
          <a:xfrm>
            <a:off x="345440" y="1312671"/>
            <a:ext cx="4490720" cy="2923877"/>
          </a:xfrm>
          <a:prstGeom prst="rect">
            <a:avLst/>
          </a:prstGeom>
          <a:noFill/>
        </p:spPr>
        <p:txBody>
          <a:bodyPr wrap="square" rtlCol="0">
            <a:spAutoFit/>
          </a:bodyPr>
          <a:lstStyle/>
          <a:p>
            <a:pPr marL="285750" indent="-285750">
              <a:buFont typeface="Arial" panose="020B0604020202020204" pitchFamily="34" charset="0"/>
              <a:buChar char="•"/>
            </a:pPr>
            <a:r>
              <a:rPr lang="en-US" sz="1400" b="1" dirty="0">
                <a:latin typeface="Arial" panose="020B0604020202020204" pitchFamily="34" charset="0"/>
                <a:ea typeface="Lato" panose="020F0502020204030203" pitchFamily="34" charset="0"/>
                <a:cs typeface="Arial" panose="020B0604020202020204" pitchFamily="34" charset="0"/>
              </a:rPr>
              <a:t>Decision Support Gaps:  </a:t>
            </a:r>
            <a:r>
              <a:rPr lang="en-US" sz="1400" dirty="0">
                <a:latin typeface="Arial" panose="020B0604020202020204" pitchFamily="34" charset="0"/>
                <a:ea typeface="Lato" panose="020F0502020204030203" pitchFamily="34" charset="0"/>
                <a:cs typeface="Arial" panose="020B0604020202020204" pitchFamily="34" charset="0"/>
              </a:rPr>
              <a:t>Crystal Pay’s current payroll system does not leverage predictive analytics to forecast salary liabilities, overtime costs, or bonus distributions, leaving HR and Finance without proactive decision‑support tools.</a:t>
            </a:r>
          </a:p>
          <a:p>
            <a:endParaRPr lang="en-US" sz="1400" dirty="0">
              <a:latin typeface="Arial" panose="020B0604020202020204" pitchFamily="34" charset="0"/>
              <a:ea typeface="Lato" panose="020F0502020204030203" pitchFamily="34" charset="0"/>
              <a:cs typeface="Arial" panose="020B0604020202020204" pitchFamily="34" charset="0"/>
            </a:endParaRPr>
          </a:p>
          <a:p>
            <a:pPr marL="285750" indent="-285750">
              <a:buFont typeface="Arial" panose="020B0604020202020204" pitchFamily="34" charset="0"/>
              <a:buChar char="•"/>
            </a:pPr>
            <a:r>
              <a:rPr lang="en-US" sz="1400" b="1" dirty="0">
                <a:latin typeface="Arial" panose="020B0604020202020204" pitchFamily="34" charset="0"/>
                <a:ea typeface="Lato" panose="020F0502020204030203" pitchFamily="34" charset="0"/>
                <a:cs typeface="Arial" panose="020B0604020202020204" pitchFamily="34" charset="0"/>
              </a:rPr>
              <a:t>Workforce Planning &amp; Strategic Insights:  </a:t>
            </a:r>
            <a:r>
              <a:rPr lang="en-US" sz="1400" dirty="0">
                <a:latin typeface="Arial" panose="020B0604020202020204" pitchFamily="34" charset="0"/>
                <a:ea typeface="Lato" panose="020F0502020204030203" pitchFamily="34" charset="0"/>
                <a:cs typeface="Arial" panose="020B0604020202020204" pitchFamily="34" charset="0"/>
              </a:rPr>
              <a:t>Beyond payroll totals, Crystal Pay lacks dashboards that highlight workforce trends such as overtime hotspots, bonus fairness, and department‑wise salary efficiency limiting HR and Finance in making strategic decisions.</a:t>
            </a:r>
          </a:p>
          <a:p>
            <a:pPr marL="285750" indent="-285750">
              <a:buFont typeface="Arial" panose="020B0604020202020204" pitchFamily="34" charset="0"/>
              <a:buChar char="•"/>
            </a:pPr>
            <a:endParaRPr lang="en-US" sz="1600" dirty="0">
              <a:ea typeface="Lato" panose="020F0502020204030203" pitchFamily="34" charset="0"/>
              <a:cs typeface="Lato" panose="020F0502020204030203" pitchFamily="34" charset="0"/>
            </a:endParaRPr>
          </a:p>
        </p:txBody>
      </p:sp>
    </p:spTree>
    <p:extLst>
      <p:ext uri="{BB962C8B-B14F-4D97-AF65-F5344CB8AC3E}">
        <p14:creationId xmlns:p14="http://schemas.microsoft.com/office/powerpoint/2010/main" val="15691717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5599216" y="1046013"/>
            <a:ext cx="3179024" cy="2724877"/>
          </a:xfrm>
          <a:prstGeom prst="rect">
            <a:avLst/>
          </a:prstGeom>
        </p:spPr>
      </p:pic>
      <p:sp>
        <p:nvSpPr>
          <p:cNvPr id="4" name="Text 2"/>
          <p:cNvSpPr/>
          <p:nvPr/>
        </p:nvSpPr>
        <p:spPr>
          <a:xfrm>
            <a:off x="125486" y="61693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Proposed Solution</a:t>
            </a:r>
            <a:endParaRPr lang="en-US" sz="2000" dirty="0">
              <a:latin typeface="Lato" panose="020F0502020204030203" pitchFamily="34" charset="0"/>
              <a:cs typeface="Arial" panose="020B0604020202020204" pitchFamily="34"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1046013"/>
            <a:ext cx="4416154" cy="3474720"/>
          </a:xfrm>
          <a:prstGeom prst="rect">
            <a:avLst/>
          </a:prstGeom>
          <a:noFill/>
          <a:ln/>
        </p:spPr>
        <p:txBody>
          <a:bodyPr wrap="square" rtlCol="0" anchor="t"/>
          <a:lstStyle/>
          <a:p>
            <a:pPr marL="0" indent="0">
              <a:buNone/>
            </a:pPr>
            <a:endParaRPr lang="en-US" dirty="0">
              <a:latin typeface="Lato" panose="020F0502020204030203" pitchFamily="34" charset="0"/>
              <a:cs typeface="Arial" panose="020B0604020202020204" pitchFamily="34" charset="0"/>
            </a:endParaRPr>
          </a:p>
        </p:txBody>
      </p:sp>
      <p:sp>
        <p:nvSpPr>
          <p:cNvPr id="6" name="TextBox 5">
            <a:extLst>
              <a:ext uri="{FF2B5EF4-FFF2-40B4-BE49-F238E27FC236}">
                <a16:creationId xmlns:a16="http://schemas.microsoft.com/office/drawing/2014/main" id="{79455043-A07D-9899-FB37-DE9AA8781825}"/>
              </a:ext>
            </a:extLst>
          </p:cNvPr>
          <p:cNvSpPr txBox="1"/>
          <p:nvPr/>
        </p:nvSpPr>
        <p:spPr>
          <a:xfrm>
            <a:off x="125486" y="1185567"/>
            <a:ext cx="5550100" cy="3108543"/>
          </a:xfrm>
          <a:prstGeom prst="rect">
            <a:avLst/>
          </a:prstGeom>
          <a:noFill/>
        </p:spPr>
        <p:txBody>
          <a:bodyPr wrap="square" rtlCol="0">
            <a:spAutoFit/>
          </a:bodyPr>
          <a:lstStyle/>
          <a:p>
            <a:pPr marL="285750" indent="-285750">
              <a:buFont typeface="Arial" panose="020B0604020202020204" pitchFamily="34" charset="0"/>
              <a:buChar char="•"/>
            </a:pPr>
            <a:r>
              <a:rPr lang="en-US" sz="1300" b="1" dirty="0">
                <a:latin typeface="Arial" panose="020B0604020202020204" pitchFamily="34" charset="0"/>
                <a:cs typeface="Arial" panose="020B0604020202020204" pitchFamily="34" charset="0"/>
              </a:rPr>
              <a:t>Payroll Data Validation – Clean Data, Confident Decisions : </a:t>
            </a:r>
            <a:r>
              <a:rPr lang="en-US" sz="1300" dirty="0">
                <a:latin typeface="Arial" panose="020B0604020202020204" pitchFamily="34" charset="0"/>
                <a:cs typeface="Arial" panose="020B0604020202020204" pitchFamily="34" charset="0"/>
              </a:rPr>
              <a:t>Automate duplicate removal, overtime calculation checks, and deduction consistency using Excel and Copilot Studio. This ensures payroll accuracy and compliance across 500+ records.</a:t>
            </a:r>
          </a:p>
          <a:p>
            <a:endParaRPr lang="en-US" sz="13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300" b="1" dirty="0">
                <a:latin typeface="Arial" panose="020B0604020202020204" pitchFamily="34" charset="0"/>
                <a:cs typeface="Arial" panose="020B0604020202020204" pitchFamily="34" charset="0"/>
              </a:rPr>
              <a:t>Department‑Wise Segmentation – Clear Workforce Insights: </a:t>
            </a:r>
            <a:r>
              <a:rPr lang="en-US" sz="1300" dirty="0">
                <a:latin typeface="Arial" panose="020B0604020202020204" pitchFamily="34" charset="0"/>
                <a:cs typeface="Arial" panose="020B0604020202020204" pitchFamily="34" charset="0"/>
              </a:rPr>
              <a:t>Use Power BI dashboards to break down HR, Finance, IT, and Sales salary structures. Provide department‑specific views of overtime, bonuses, and net salary trends for strategic planning.</a:t>
            </a:r>
          </a:p>
          <a:p>
            <a:endParaRPr lang="en-US" sz="13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300" b="1" dirty="0">
                <a:latin typeface="Arial" panose="020B0604020202020204" pitchFamily="34" charset="0"/>
                <a:cs typeface="Arial" panose="020B0604020202020204" pitchFamily="34" charset="0"/>
              </a:rPr>
              <a:t>Overtime &amp; Bonus Analytics – Fair Pay, Transparent Flows :  </a:t>
            </a:r>
            <a:r>
              <a:rPr lang="en-US" sz="1300" dirty="0">
                <a:latin typeface="Arial" panose="020B0604020202020204" pitchFamily="34" charset="0"/>
                <a:cs typeface="Arial" panose="020B0604020202020204" pitchFamily="34" charset="0"/>
              </a:rPr>
              <a:t>Develop dashboards that highlight overtime hotspots and bonus allocation fairness. Visualize their impact on gross and net salaries to support HR and Finance in policy optimization.</a:t>
            </a:r>
          </a:p>
          <a:p>
            <a:pPr marL="285750" indent="-285750">
              <a:buFont typeface="Arial" panose="020B0604020202020204" pitchFamily="34" charset="0"/>
              <a:buChar char="•"/>
            </a:pPr>
            <a:endParaRPr lang="en-US" sz="1400" dirty="0">
              <a:latin typeface="Arial" panose="020B0604020202020204" pitchFamily="34" charset="0"/>
              <a:cs typeface="Arial" panose="020B0604020202020204" pitchFamily="34" charset="0"/>
            </a:endParaRPr>
          </a:p>
        </p:txBody>
      </p:sp>
    </p:spTree>
    <p:custDataLst>
      <p:tags r:id="rId1"/>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3A5367C-B756-2C75-6465-40469E6622EB}"/>
              </a:ext>
            </a:extLst>
          </p:cNvPr>
          <p:cNvSpPr txBox="1"/>
          <p:nvPr/>
        </p:nvSpPr>
        <p:spPr>
          <a:xfrm>
            <a:off x="223520" y="762000"/>
            <a:ext cx="3759200" cy="400110"/>
          </a:xfrm>
          <a:prstGeom prst="rect">
            <a:avLst/>
          </a:prstGeom>
          <a:noFill/>
        </p:spPr>
        <p:txBody>
          <a:bodyPr wrap="square" rtlCol="0">
            <a:spAutoFit/>
          </a:bodyPr>
          <a:lstStyle/>
          <a:p>
            <a:r>
              <a:rPr lang="en-IN" sz="2000" b="1" dirty="0">
                <a:solidFill>
                  <a:schemeClr val="accent5">
                    <a:lumMod val="50000"/>
                  </a:schemeClr>
                </a:solidFill>
                <a:latin typeface="Lato" panose="020F0502020204030203" pitchFamily="34" charset="0"/>
                <a:ea typeface="Lato" panose="020F0502020204030203" pitchFamily="34" charset="0"/>
                <a:cs typeface="Lato" panose="020F0502020204030203" pitchFamily="34" charset="0"/>
              </a:rPr>
              <a:t>Proposed Solution</a:t>
            </a:r>
          </a:p>
        </p:txBody>
      </p:sp>
      <p:pic>
        <p:nvPicPr>
          <p:cNvPr id="3" name="Picture 2">
            <a:extLst>
              <a:ext uri="{FF2B5EF4-FFF2-40B4-BE49-F238E27FC236}">
                <a16:creationId xmlns:a16="http://schemas.microsoft.com/office/drawing/2014/main" id="{6A7AD40D-0111-E835-7F6C-42B60C95E61E}"/>
              </a:ext>
            </a:extLst>
          </p:cNvPr>
          <p:cNvPicPr>
            <a:picLocks noChangeAspect="1"/>
          </p:cNvPicPr>
          <p:nvPr/>
        </p:nvPicPr>
        <p:blipFill>
          <a:blip r:embed="rId2"/>
          <a:stretch>
            <a:fillRect/>
          </a:stretch>
        </p:blipFill>
        <p:spPr>
          <a:xfrm>
            <a:off x="5831840" y="1304314"/>
            <a:ext cx="3010545" cy="2582944"/>
          </a:xfrm>
          <a:prstGeom prst="rect">
            <a:avLst/>
          </a:prstGeom>
        </p:spPr>
      </p:pic>
      <p:sp>
        <p:nvSpPr>
          <p:cNvPr id="4" name="TextBox 3">
            <a:extLst>
              <a:ext uri="{FF2B5EF4-FFF2-40B4-BE49-F238E27FC236}">
                <a16:creationId xmlns:a16="http://schemas.microsoft.com/office/drawing/2014/main" id="{B2908AA8-3CF9-762D-773E-62CF0BBD34DB}"/>
              </a:ext>
            </a:extLst>
          </p:cNvPr>
          <p:cNvSpPr txBox="1"/>
          <p:nvPr/>
        </p:nvSpPr>
        <p:spPr>
          <a:xfrm>
            <a:off x="301615" y="1304314"/>
            <a:ext cx="5073025" cy="3293209"/>
          </a:xfrm>
          <a:prstGeom prst="rect">
            <a:avLst/>
          </a:prstGeom>
          <a:noFill/>
        </p:spPr>
        <p:txBody>
          <a:bodyPr wrap="square" rtlCol="0">
            <a:spAutoFit/>
          </a:bodyPr>
          <a:lstStyle/>
          <a:p>
            <a:pPr marL="285750" indent="-285750">
              <a:buFont typeface="Arial" panose="020B0604020202020204" pitchFamily="34" charset="0"/>
              <a:buChar char="•"/>
            </a:pPr>
            <a:r>
              <a:rPr lang="en-US" sz="1300" b="1" dirty="0">
                <a:latin typeface="Arial" panose="020B0604020202020204" pitchFamily="34" charset="0"/>
                <a:cs typeface="Arial" panose="020B0604020202020204" pitchFamily="34" charset="0"/>
              </a:rPr>
              <a:t>Top Earners &amp; Deduction KPIs – Actionable Decision Support : </a:t>
            </a:r>
            <a:r>
              <a:rPr lang="en-US" sz="1300" dirty="0">
                <a:latin typeface="Arial" panose="020B0604020202020204" pitchFamily="34" charset="0"/>
                <a:cs typeface="Arial" panose="020B0604020202020204" pitchFamily="34" charset="0"/>
              </a:rPr>
              <a:t>Generate KPI charts that identify top earners, employees with high deductions, and unusual salary variations. These insights guide payroll adjustments and compliance checks.</a:t>
            </a:r>
          </a:p>
          <a:p>
            <a:endParaRPr lang="en-US" sz="13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300" b="1" dirty="0">
                <a:latin typeface="Arial" panose="020B0604020202020204" pitchFamily="34" charset="0"/>
                <a:cs typeface="Arial" panose="020B0604020202020204" pitchFamily="34" charset="0"/>
              </a:rPr>
              <a:t>Predictive Payroll Forecasting – Smarter Budgeting Ahead: </a:t>
            </a:r>
            <a:r>
              <a:rPr lang="en-US" sz="1300" dirty="0">
                <a:latin typeface="Arial" panose="020B0604020202020204" pitchFamily="34" charset="0"/>
                <a:cs typeface="Arial" panose="020B0604020202020204" pitchFamily="34" charset="0"/>
              </a:rPr>
              <a:t>Leverage historical payroll data to forecast salary liabilities, overtime costs, and bonus distributions. Predictive analytics help HR and Finance plan budgets proactively.</a:t>
            </a:r>
          </a:p>
          <a:p>
            <a:endParaRPr lang="en-US" sz="13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300" b="1" dirty="0">
                <a:latin typeface="Arial" panose="020B0604020202020204" pitchFamily="34" charset="0"/>
                <a:cs typeface="Arial" panose="020B0604020202020204" pitchFamily="34" charset="0"/>
              </a:rPr>
              <a:t>Scalable Reporting – Stakeholder‑Ready Dashboards : </a:t>
            </a:r>
            <a:r>
              <a:rPr lang="en-US" sz="1300" dirty="0">
                <a:latin typeface="Arial" panose="020B0604020202020204" pitchFamily="34" charset="0"/>
                <a:cs typeface="Arial" panose="020B0604020202020204" pitchFamily="34" charset="0"/>
              </a:rPr>
              <a:t>Integrate Excel, Power BI, and Copilot Studio to deliver interactive dashboards and compliance‑ready reports. Outputs are reproducible, transparent, and scalable for future expansion.</a:t>
            </a:r>
            <a:endParaRPr lang="en-IN" sz="13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213544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029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6" name="Shape 4"/>
          <p:cNvSpPr/>
          <p:nvPr/>
        </p:nvSpPr>
        <p:spPr>
          <a:xfrm>
            <a:off x="235408" y="1243200"/>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7" name="Shape 5"/>
          <p:cNvSpPr/>
          <p:nvPr/>
        </p:nvSpPr>
        <p:spPr>
          <a:xfrm>
            <a:off x="416732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8" name="Text 6"/>
          <p:cNvSpPr/>
          <p:nvPr/>
        </p:nvSpPr>
        <p:spPr>
          <a:xfrm>
            <a:off x="326848" y="127977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Data Input / Source</a:t>
            </a:r>
            <a:endParaRPr lang="en-US" sz="1600" dirty="0">
              <a:latin typeface="Lato" panose="020F0502020204030203" pitchFamily="34" charset="0"/>
              <a:cs typeface="Arial" panose="020B0604020202020204" pitchFamily="34" charset="0"/>
            </a:endParaRPr>
          </a:p>
        </p:txBody>
      </p:sp>
      <p:sp>
        <p:nvSpPr>
          <p:cNvPr id="9" name="Text 7"/>
          <p:cNvSpPr/>
          <p:nvPr/>
        </p:nvSpPr>
        <p:spPr>
          <a:xfrm>
            <a:off x="326848" y="1700400"/>
            <a:ext cx="4023360" cy="1188720"/>
          </a:xfrm>
          <a:prstGeom prst="rect">
            <a:avLst/>
          </a:prstGeom>
          <a:noFill/>
          <a:ln/>
        </p:spPr>
        <p:txBody>
          <a:bodyPr wrap="square" rtlCol="0" anchor="t"/>
          <a:lstStyle/>
          <a:p>
            <a:pPr marL="0" indent="0">
              <a:buNone/>
            </a:pPr>
            <a:endParaRPr lang="en-US" sz="1600" dirty="0">
              <a:latin typeface="Lato" panose="020F0502020204030203" pitchFamily="34" charset="0"/>
              <a:cs typeface="Arial" panose="020B0604020202020204" pitchFamily="34" charset="0"/>
            </a:endParaRPr>
          </a:p>
        </p:txBody>
      </p:sp>
      <p:sp>
        <p:nvSpPr>
          <p:cNvPr id="10" name="Shape 8"/>
          <p:cNvSpPr/>
          <p:nvPr/>
        </p:nvSpPr>
        <p:spPr>
          <a:xfrm>
            <a:off x="4670248" y="1243200"/>
            <a:ext cx="4114800" cy="384048"/>
          </a:xfrm>
          <a:prstGeom prst="rect">
            <a:avLst/>
          </a:prstGeom>
          <a:solidFill>
            <a:schemeClr val="accent1">
              <a:lumMod val="20000"/>
              <a:lumOff val="80000"/>
            </a:schemeClr>
          </a:solidFill>
          <a:ln/>
        </p:spPr>
        <p:txBody>
          <a:bodyPr/>
          <a:lstStyle/>
          <a:p>
            <a:endParaRPr lang="en-IN" sz="1600">
              <a:latin typeface="Lato" panose="020F0502020204030203" pitchFamily="34" charset="0"/>
              <a:cs typeface="Arial" panose="020B0604020202020204" pitchFamily="34" charset="0"/>
            </a:endParaRPr>
          </a:p>
        </p:txBody>
      </p:sp>
      <p:sp>
        <p:nvSpPr>
          <p:cNvPr id="11" name="Shape 9"/>
          <p:cNvSpPr/>
          <p:nvPr/>
        </p:nvSpPr>
        <p:spPr>
          <a:xfrm>
            <a:off x="860216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2" name="Text 10"/>
          <p:cNvSpPr/>
          <p:nvPr/>
        </p:nvSpPr>
        <p:spPr>
          <a:xfrm>
            <a:off x="4761688" y="127977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Processing / Analysis</a:t>
            </a:r>
            <a:endParaRPr lang="en-US" sz="1600" dirty="0">
              <a:latin typeface="Lato" panose="020F0502020204030203" pitchFamily="34" charset="0"/>
              <a:cs typeface="Arial" panose="020B0604020202020204" pitchFamily="34" charset="0"/>
            </a:endParaRPr>
          </a:p>
        </p:txBody>
      </p:sp>
      <p:sp>
        <p:nvSpPr>
          <p:cNvPr id="13" name="Text 11"/>
          <p:cNvSpPr/>
          <p:nvPr/>
        </p:nvSpPr>
        <p:spPr>
          <a:xfrm>
            <a:off x="4761688" y="1700400"/>
            <a:ext cx="4023360" cy="1188720"/>
          </a:xfrm>
          <a:prstGeom prst="rect">
            <a:avLst/>
          </a:prstGeom>
          <a:noFill/>
          <a:ln/>
        </p:spPr>
        <p:txBody>
          <a:bodyPr wrap="square" rtlCol="0" anchor="t"/>
          <a:lstStyle/>
          <a:p>
            <a:pPr marL="285750" indent="-285750">
              <a:buFont typeface="Arial" panose="020B0604020202020204" pitchFamily="34" charset="0"/>
              <a:buChar char="•"/>
            </a:pPr>
            <a:r>
              <a:rPr lang="en-US" sz="1200" b="1" dirty="0">
                <a:solidFill>
                  <a:srgbClr val="1A1A2E"/>
                </a:solidFill>
                <a:latin typeface="Arial" panose="020B0604020202020204" pitchFamily="34" charset="0"/>
                <a:ea typeface="Calibri" pitchFamily="34" charset="-122"/>
                <a:cs typeface="Arial" panose="020B0604020202020204" pitchFamily="34" charset="0"/>
              </a:rPr>
              <a:t>Data cleaning: </a:t>
            </a:r>
            <a:r>
              <a:rPr lang="en-US" sz="1200" dirty="0">
                <a:solidFill>
                  <a:srgbClr val="1A1A2E"/>
                </a:solidFill>
                <a:latin typeface="Arial" panose="020B0604020202020204" pitchFamily="34" charset="0"/>
                <a:ea typeface="Calibri" pitchFamily="34" charset="-122"/>
                <a:cs typeface="Arial" panose="020B0604020202020204" pitchFamily="34" charset="0"/>
              </a:rPr>
              <a:t>duplicate removal, salary validation, department standardization.</a:t>
            </a:r>
          </a:p>
          <a:p>
            <a:pPr marL="285750" indent="-285750">
              <a:buFont typeface="Arial" panose="020B0604020202020204" pitchFamily="34" charset="0"/>
              <a:buChar char="•"/>
            </a:pPr>
            <a:r>
              <a:rPr lang="en-US" sz="1200" b="1" dirty="0">
                <a:solidFill>
                  <a:srgbClr val="1A1A2E"/>
                </a:solidFill>
                <a:latin typeface="Arial" panose="020B0604020202020204" pitchFamily="34" charset="0"/>
                <a:ea typeface="Calibri" pitchFamily="34" charset="-122"/>
                <a:cs typeface="Arial" panose="020B0604020202020204" pitchFamily="34" charset="0"/>
              </a:rPr>
              <a:t>KPI preparation: </a:t>
            </a:r>
            <a:r>
              <a:rPr lang="en-US" sz="1200" dirty="0">
                <a:solidFill>
                  <a:srgbClr val="1A1A2E"/>
                </a:solidFill>
                <a:latin typeface="Arial" panose="020B0604020202020204" pitchFamily="34" charset="0"/>
                <a:ea typeface="Calibri" pitchFamily="34" charset="-122"/>
                <a:cs typeface="Arial" panose="020B0604020202020204" pitchFamily="34" charset="0"/>
              </a:rPr>
              <a:t>overtime trends, bonus flows, gross vs. net salary comparisons.</a:t>
            </a:r>
          </a:p>
          <a:p>
            <a:pPr marL="285750" indent="-285750">
              <a:buFont typeface="Arial" panose="020B0604020202020204" pitchFamily="34" charset="0"/>
              <a:buChar char="•"/>
            </a:pPr>
            <a:r>
              <a:rPr lang="en-US" sz="1200" dirty="0">
                <a:solidFill>
                  <a:srgbClr val="1A1A2E"/>
                </a:solidFill>
                <a:latin typeface="Arial" panose="020B0604020202020204" pitchFamily="34" charset="0"/>
                <a:ea typeface="Calibri" pitchFamily="34" charset="-122"/>
                <a:cs typeface="Arial" panose="020B0604020202020204" pitchFamily="34" charset="0"/>
              </a:rPr>
              <a:t>Excel used for preprocessing and structured dataset creation</a:t>
            </a:r>
            <a:r>
              <a:rPr lang="en-US" sz="1300" dirty="0">
                <a:solidFill>
                  <a:srgbClr val="1A1A2E"/>
                </a:solidFill>
                <a:latin typeface="Arial" panose="020B0604020202020204" pitchFamily="34" charset="0"/>
                <a:ea typeface="Calibri" pitchFamily="34" charset="-122"/>
                <a:cs typeface="Arial" panose="020B0604020202020204" pitchFamily="34" charset="0"/>
              </a:rPr>
              <a:t>.</a:t>
            </a:r>
            <a:endParaRPr lang="en-US" sz="1300" dirty="0">
              <a:latin typeface="Arial" panose="020B0604020202020204" pitchFamily="34" charset="0"/>
              <a:cs typeface="Arial" panose="020B0604020202020204" pitchFamily="34" charset="0"/>
            </a:endParaRPr>
          </a:p>
        </p:txBody>
      </p:sp>
      <p:sp>
        <p:nvSpPr>
          <p:cNvPr id="14" name="Shape 12"/>
          <p:cNvSpPr/>
          <p:nvPr/>
        </p:nvSpPr>
        <p:spPr>
          <a:xfrm>
            <a:off x="23540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5" name="Shape 13"/>
          <p:cNvSpPr/>
          <p:nvPr/>
        </p:nvSpPr>
        <p:spPr>
          <a:xfrm>
            <a:off x="416732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6" name="Text 14"/>
          <p:cNvSpPr/>
          <p:nvPr/>
        </p:nvSpPr>
        <p:spPr>
          <a:xfrm>
            <a:off x="326848" y="30064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AI / Tool Integration</a:t>
            </a:r>
            <a:endParaRPr lang="en-US" sz="1600" dirty="0">
              <a:latin typeface="Lato" panose="020F0502020204030203" pitchFamily="34" charset="0"/>
              <a:cs typeface="Arial" panose="020B0604020202020204" pitchFamily="34" charset="0"/>
            </a:endParaRPr>
          </a:p>
        </p:txBody>
      </p:sp>
      <p:sp>
        <p:nvSpPr>
          <p:cNvPr id="17" name="Text 15"/>
          <p:cNvSpPr/>
          <p:nvPr/>
        </p:nvSpPr>
        <p:spPr>
          <a:xfrm>
            <a:off x="326848" y="3427056"/>
            <a:ext cx="3977640" cy="1541184"/>
          </a:xfrm>
          <a:prstGeom prst="rect">
            <a:avLst/>
          </a:prstGeom>
          <a:noFill/>
          <a:ln/>
        </p:spPr>
        <p:txBody>
          <a:bodyPr wrap="square" rtlCol="0" anchor="t"/>
          <a:lstStyle/>
          <a:p>
            <a:pPr marL="171450" indent="-171450">
              <a:buFont typeface="Arial" panose="020B0604020202020204" pitchFamily="34" charset="0"/>
              <a:buChar char="•"/>
            </a:pPr>
            <a:r>
              <a:rPr lang="en-US" sz="1300" b="1" dirty="0">
                <a:solidFill>
                  <a:srgbClr val="1A1A2E"/>
                </a:solidFill>
                <a:latin typeface="Arial" panose="020B0604020202020204" pitchFamily="34" charset="0"/>
                <a:ea typeface="Calibri" pitchFamily="34" charset="-122"/>
                <a:cs typeface="Arial" panose="020B0604020202020204" pitchFamily="34" charset="0"/>
              </a:rPr>
              <a:t>Copilot Studio chatbot </a:t>
            </a:r>
            <a:r>
              <a:rPr lang="en-US" sz="1300" dirty="0">
                <a:solidFill>
                  <a:srgbClr val="1A1A2E"/>
                </a:solidFill>
                <a:latin typeface="Arial" panose="020B0604020202020204" pitchFamily="34" charset="0"/>
                <a:ea typeface="Calibri" pitchFamily="34" charset="-122"/>
                <a:cs typeface="Arial" panose="020B0604020202020204" pitchFamily="34" charset="0"/>
              </a:rPr>
              <a:t>designed to answer payroll queries (e.g., overtime, bonuses, department costs).</a:t>
            </a:r>
          </a:p>
          <a:p>
            <a:pPr marL="171450" indent="-171450">
              <a:buFont typeface="Arial" panose="020B0604020202020204" pitchFamily="34" charset="0"/>
              <a:buChar char="•"/>
            </a:pPr>
            <a:r>
              <a:rPr lang="en-US" sz="1300" b="1" dirty="0">
                <a:solidFill>
                  <a:srgbClr val="1A1A2E"/>
                </a:solidFill>
                <a:latin typeface="Arial" panose="020B0604020202020204" pitchFamily="34" charset="0"/>
                <a:ea typeface="Calibri" pitchFamily="34" charset="-122"/>
                <a:cs typeface="Arial" panose="020B0604020202020204" pitchFamily="34" charset="0"/>
              </a:rPr>
              <a:t>AI workflows </a:t>
            </a:r>
            <a:r>
              <a:rPr lang="en-US" sz="1300" dirty="0">
                <a:solidFill>
                  <a:srgbClr val="1A1A2E"/>
                </a:solidFill>
                <a:latin typeface="Arial" panose="020B0604020202020204" pitchFamily="34" charset="0"/>
                <a:ea typeface="Calibri" pitchFamily="34" charset="-122"/>
                <a:cs typeface="Arial" panose="020B0604020202020204" pitchFamily="34" charset="0"/>
              </a:rPr>
              <a:t>for anomaly detection, automated reporting, and stakeholder‑ready explanations.</a:t>
            </a:r>
          </a:p>
          <a:p>
            <a:pPr marL="171450" indent="-171450">
              <a:buFont typeface="Arial" panose="020B0604020202020204" pitchFamily="34" charset="0"/>
              <a:buChar char="•"/>
            </a:pPr>
            <a:r>
              <a:rPr lang="en-US" sz="1300" dirty="0">
                <a:solidFill>
                  <a:srgbClr val="1A1A2E"/>
                </a:solidFill>
                <a:latin typeface="Arial" panose="020B0604020202020204" pitchFamily="34" charset="0"/>
                <a:ea typeface="Calibri" pitchFamily="34" charset="-122"/>
                <a:cs typeface="Arial" panose="020B0604020202020204" pitchFamily="34" charset="0"/>
              </a:rPr>
              <a:t>Integration ensures reproducibility and interactive query handling.</a:t>
            </a:r>
            <a:endParaRPr lang="en-US" sz="1300" dirty="0">
              <a:latin typeface="Arial" panose="020B0604020202020204" pitchFamily="34" charset="0"/>
              <a:cs typeface="Arial" panose="020B0604020202020204" pitchFamily="34" charset="0"/>
            </a:endParaRPr>
          </a:p>
        </p:txBody>
      </p:sp>
      <p:sp>
        <p:nvSpPr>
          <p:cNvPr id="18" name="Shape 16"/>
          <p:cNvSpPr/>
          <p:nvPr/>
        </p:nvSpPr>
        <p:spPr>
          <a:xfrm>
            <a:off x="467024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9" name="Shape 17"/>
          <p:cNvSpPr/>
          <p:nvPr/>
        </p:nvSpPr>
        <p:spPr>
          <a:xfrm>
            <a:off x="860216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20" name="Text 18"/>
          <p:cNvSpPr/>
          <p:nvPr/>
        </p:nvSpPr>
        <p:spPr>
          <a:xfrm>
            <a:off x="4761688" y="30064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Output / Dashboard</a:t>
            </a:r>
            <a:endParaRPr lang="en-US" sz="1600" dirty="0">
              <a:latin typeface="Lato" panose="020F0502020204030203" pitchFamily="34" charset="0"/>
              <a:cs typeface="Arial" panose="020B0604020202020204" pitchFamily="34" charset="0"/>
            </a:endParaRPr>
          </a:p>
        </p:txBody>
      </p:sp>
      <p:sp>
        <p:nvSpPr>
          <p:cNvPr id="21" name="Text 19"/>
          <p:cNvSpPr/>
          <p:nvPr/>
        </p:nvSpPr>
        <p:spPr>
          <a:xfrm>
            <a:off x="4761688" y="3427056"/>
            <a:ext cx="4055464" cy="1419264"/>
          </a:xfrm>
          <a:prstGeom prst="rect">
            <a:avLst/>
          </a:prstGeom>
          <a:noFill/>
          <a:ln/>
        </p:spPr>
        <p:txBody>
          <a:bodyPr wrap="square" rtlCol="0" anchor="t"/>
          <a:lstStyle/>
          <a:p>
            <a:pPr marL="0" indent="0">
              <a:buNone/>
            </a:pPr>
            <a:r>
              <a:rPr lang="en-US" sz="1300" b="1" dirty="0">
                <a:solidFill>
                  <a:srgbClr val="1A1A2E"/>
                </a:solidFill>
                <a:latin typeface="Arial" panose="020B0604020202020204" pitchFamily="34" charset="0"/>
                <a:ea typeface="Calibri" pitchFamily="34" charset="-122"/>
                <a:cs typeface="Arial" panose="020B0604020202020204" pitchFamily="34" charset="0"/>
              </a:rPr>
              <a:t>Power BI dashboards for visualization:</a:t>
            </a:r>
          </a:p>
          <a:p>
            <a:pPr marL="285750" indent="-285750">
              <a:buFont typeface="Arial" panose="020B0604020202020204" pitchFamily="34" charset="0"/>
              <a:buChar char="•"/>
            </a:pPr>
            <a:r>
              <a:rPr lang="en-US" sz="1300" dirty="0">
                <a:solidFill>
                  <a:srgbClr val="1A1A2E"/>
                </a:solidFill>
                <a:latin typeface="Arial" panose="020B0604020202020204" pitchFamily="34" charset="0"/>
                <a:ea typeface="Calibri" pitchFamily="34" charset="-122"/>
                <a:cs typeface="Arial" panose="020B0604020202020204" pitchFamily="34" charset="0"/>
              </a:rPr>
              <a:t>Department‑wise salary distribution</a:t>
            </a:r>
          </a:p>
          <a:p>
            <a:pPr marL="285750" indent="-285750">
              <a:buFont typeface="Arial" panose="020B0604020202020204" pitchFamily="34" charset="0"/>
              <a:buChar char="•"/>
            </a:pPr>
            <a:r>
              <a:rPr lang="en-US" sz="1300" dirty="0">
                <a:solidFill>
                  <a:srgbClr val="1A1A2E"/>
                </a:solidFill>
                <a:latin typeface="Arial" panose="020B0604020202020204" pitchFamily="34" charset="0"/>
                <a:ea typeface="Calibri" pitchFamily="34" charset="-122"/>
                <a:cs typeface="Arial" panose="020B0604020202020204" pitchFamily="34" charset="0"/>
              </a:rPr>
              <a:t>Overtime &amp; bonus analytics</a:t>
            </a:r>
          </a:p>
          <a:p>
            <a:pPr marL="285750" indent="-285750">
              <a:buFont typeface="Arial" panose="020B0604020202020204" pitchFamily="34" charset="0"/>
              <a:buChar char="•"/>
            </a:pPr>
            <a:r>
              <a:rPr lang="en-US" sz="1300" dirty="0">
                <a:solidFill>
                  <a:srgbClr val="1A1A2E"/>
                </a:solidFill>
                <a:latin typeface="Arial" panose="020B0604020202020204" pitchFamily="34" charset="0"/>
                <a:ea typeface="Calibri" pitchFamily="34" charset="-122"/>
                <a:cs typeface="Arial" panose="020B0604020202020204" pitchFamily="34" charset="0"/>
              </a:rPr>
              <a:t>Top earners and deduction insights</a:t>
            </a:r>
          </a:p>
          <a:p>
            <a:pPr marL="285750" indent="-285750">
              <a:buFont typeface="Arial" panose="020B0604020202020204" pitchFamily="34" charset="0"/>
              <a:buChar char="•"/>
            </a:pPr>
            <a:r>
              <a:rPr lang="en-US" sz="1300" dirty="0">
                <a:solidFill>
                  <a:srgbClr val="1A1A2E"/>
                </a:solidFill>
                <a:latin typeface="Arial" panose="020B0604020202020204" pitchFamily="34" charset="0"/>
                <a:ea typeface="Calibri" pitchFamily="34" charset="-122"/>
                <a:cs typeface="Arial" panose="020B0604020202020204" pitchFamily="34" charset="0"/>
              </a:rPr>
              <a:t>Interactive KPI charts and compliance‑ready reports for HR and Finance decision‑making.</a:t>
            </a:r>
            <a:endParaRPr lang="en-US" sz="13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47E4D2CD-64E5-109C-2CA7-F75BCE8ECCAA}"/>
              </a:ext>
            </a:extLst>
          </p:cNvPr>
          <p:cNvSpPr txBox="1"/>
          <p:nvPr/>
        </p:nvSpPr>
        <p:spPr>
          <a:xfrm>
            <a:off x="189688" y="1700400"/>
            <a:ext cx="4114800" cy="1092607"/>
          </a:xfrm>
          <a:prstGeom prst="rect">
            <a:avLst/>
          </a:prstGeom>
          <a:noFill/>
        </p:spPr>
        <p:txBody>
          <a:bodyPr wrap="square" rtlCol="0">
            <a:spAutoFit/>
          </a:bodyPr>
          <a:lstStyle/>
          <a:p>
            <a:pPr marL="285750" indent="-285750">
              <a:buFont typeface="Arial" panose="020B0604020202020204" pitchFamily="34" charset="0"/>
              <a:buChar char="•"/>
            </a:pPr>
            <a:r>
              <a:rPr lang="en-US" sz="1300" dirty="0">
                <a:latin typeface="Arial" panose="020B0604020202020204" pitchFamily="34" charset="0"/>
                <a:cs typeface="Arial" panose="020B0604020202020204" pitchFamily="34" charset="0"/>
              </a:rPr>
              <a:t>Payroll dataset with 500+ employee records (basic pay, allowances, overtime, bonuses, deductions, gross &amp; net salary).</a:t>
            </a:r>
          </a:p>
          <a:p>
            <a:pPr marL="285750" indent="-285750">
              <a:buFont typeface="Arial" panose="020B0604020202020204" pitchFamily="34" charset="0"/>
              <a:buChar char="•"/>
            </a:pPr>
            <a:r>
              <a:rPr lang="en-US" sz="1300" dirty="0">
                <a:latin typeface="Arial" panose="020B0604020202020204" pitchFamily="34" charset="0"/>
                <a:cs typeface="Arial" panose="020B0604020202020204" pitchFamily="34" charset="0"/>
              </a:rPr>
              <a:t>Imported and cleaned in </a:t>
            </a:r>
            <a:r>
              <a:rPr lang="en-US" sz="1300" b="1" dirty="0">
                <a:latin typeface="Arial" panose="020B0604020202020204" pitchFamily="34" charset="0"/>
                <a:cs typeface="Arial" panose="020B0604020202020204" pitchFamily="34" charset="0"/>
              </a:rPr>
              <a:t>Microsoft Excel </a:t>
            </a:r>
            <a:r>
              <a:rPr lang="en-US" sz="1300" dirty="0">
                <a:latin typeface="Arial" panose="020B0604020202020204" pitchFamily="34" charset="0"/>
                <a:cs typeface="Arial" panose="020B0604020202020204" pitchFamily="34" charset="0"/>
              </a:rPr>
              <a:t>for consistency and accuracy.</a:t>
            </a:r>
            <a:endParaRPr lang="en-IN" sz="1300" dirty="0">
              <a:latin typeface="Arial" panose="020B0604020202020204" pitchFamily="34" charset="0"/>
              <a:cs typeface="Arial" panose="020B0604020202020204" pitchFamily="34" charset="0"/>
            </a:endParaRPr>
          </a:p>
        </p:txBody>
      </p:sp>
    </p:spTree>
    <p:custDataLst>
      <p:tags r:id="rId1"/>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20623" y="607298"/>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Live Demo of Project</a:t>
            </a:r>
            <a:endParaRPr lang="en-US" sz="2000" dirty="0">
              <a:latin typeface="Lato" panose="020F0502020204030203" pitchFamily="34" charset="0"/>
              <a:cs typeface="Arial" panose="020B0604020202020204" pitchFamily="34" charset="0"/>
            </a:endParaRPr>
          </a:p>
        </p:txBody>
      </p:sp>
      <p:sp>
        <p:nvSpPr>
          <p:cNvPr id="6" name="Text 4"/>
          <p:cNvSpPr/>
          <p:nvPr/>
        </p:nvSpPr>
        <p:spPr>
          <a:xfrm>
            <a:off x="125487" y="1105839"/>
            <a:ext cx="8412480" cy="320040"/>
          </a:xfrm>
          <a:prstGeom prst="rect">
            <a:avLst/>
          </a:prstGeom>
          <a:noFill/>
          <a:ln/>
        </p:spPr>
        <p:txBody>
          <a:bodyPr wrap="square" rtlCol="0" anchor="ctr"/>
          <a:lstStyle/>
          <a:p>
            <a:pPr marL="0" indent="0">
              <a:buNone/>
            </a:pPr>
            <a:r>
              <a:rPr lang="en-US" dirty="0">
                <a:latin typeface="Lato" panose="020F0502020204030203" pitchFamily="34" charset="0"/>
                <a:ea typeface="Calibri" pitchFamily="34" charset="-122"/>
                <a:cs typeface="Arial" panose="020B0604020202020204" pitchFamily="34" charset="0"/>
              </a:rPr>
              <a:t>Here's the list of some demo screenshots / features of the project:</a:t>
            </a:r>
            <a:endParaRPr lang="en-US" dirty="0">
              <a:latin typeface="Lato" panose="020F0502020204030203" pitchFamily="34" charset="0"/>
              <a:cs typeface="Arial" panose="020B0604020202020204" pitchFamily="34" charset="0"/>
            </a:endParaRPr>
          </a:p>
        </p:txBody>
      </p:sp>
      <p:sp>
        <p:nvSpPr>
          <p:cNvPr id="7" name="Shape 5"/>
          <p:cNvSpPr/>
          <p:nvPr/>
        </p:nvSpPr>
        <p:spPr>
          <a:xfrm>
            <a:off x="978408" y="1648237"/>
            <a:ext cx="1371600" cy="1371600"/>
          </a:xfrm>
          <a:prstGeom prst="ellipse">
            <a:avLst/>
          </a:prstGeom>
          <a:solidFill>
            <a:srgbClr val="1565C0"/>
          </a:solidFill>
          <a:ln w="38100">
            <a:solidFill>
              <a:srgbClr val="FFFFFF"/>
            </a:solidFill>
            <a:prstDash val="solid"/>
          </a:ln>
        </p:spPr>
        <p:txBody>
          <a:bodyPr/>
          <a:lstStyle/>
          <a:p>
            <a:endParaRPr lang="en-IN" dirty="0">
              <a:latin typeface="Lato" panose="020F0502020204030203" pitchFamily="34" charset="0"/>
            </a:endParaRPr>
          </a:p>
        </p:txBody>
      </p:sp>
      <p:sp>
        <p:nvSpPr>
          <p:cNvPr id="9" name="Shape 7"/>
          <p:cNvSpPr/>
          <p:nvPr/>
        </p:nvSpPr>
        <p:spPr>
          <a:xfrm>
            <a:off x="214884" y="2196876"/>
            <a:ext cx="2788920" cy="2651760"/>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10" name="Text 8"/>
          <p:cNvSpPr/>
          <p:nvPr/>
        </p:nvSpPr>
        <p:spPr>
          <a:xfrm>
            <a:off x="274320"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1</a:t>
            </a:r>
            <a:endParaRPr lang="en-US" sz="1600" dirty="0">
              <a:latin typeface="Lato" panose="020F0502020204030203" pitchFamily="34" charset="0"/>
              <a:cs typeface="Arial" panose="020B0604020202020204" pitchFamily="34" charset="0"/>
            </a:endParaRPr>
          </a:p>
        </p:txBody>
      </p:sp>
      <p:sp>
        <p:nvSpPr>
          <p:cNvPr id="11" name="Text 9"/>
          <p:cNvSpPr/>
          <p:nvPr/>
        </p:nvSpPr>
        <p:spPr>
          <a:xfrm>
            <a:off x="411480" y="2919838"/>
            <a:ext cx="2514600" cy="1371600"/>
          </a:xfrm>
          <a:prstGeom prst="rect">
            <a:avLst/>
          </a:prstGeom>
          <a:noFill/>
          <a:ln/>
        </p:spPr>
        <p:txBody>
          <a:bodyPr wrap="square" rtlCol="0" anchor="ctr"/>
          <a:lstStyle/>
          <a:p>
            <a:pPr marL="0" indent="0" algn="ctr">
              <a:buNone/>
            </a:pPr>
            <a:endParaRPr lang="en-US" sz="1600" dirty="0">
              <a:latin typeface="Lato" panose="020F0502020204030203" pitchFamily="34" charset="0"/>
              <a:cs typeface="Arial" panose="020B0604020202020204" pitchFamily="34" charset="0"/>
            </a:endParaRPr>
          </a:p>
        </p:txBody>
      </p:sp>
      <p:sp>
        <p:nvSpPr>
          <p:cNvPr id="12" name="Shape 10"/>
          <p:cNvSpPr/>
          <p:nvPr/>
        </p:nvSpPr>
        <p:spPr>
          <a:xfrm>
            <a:off x="3922776" y="1648237"/>
            <a:ext cx="1371600" cy="1371600"/>
          </a:xfrm>
          <a:prstGeom prst="ellipse">
            <a:avLst/>
          </a:prstGeom>
          <a:solidFill>
            <a:srgbClr val="FFC000"/>
          </a:solidFill>
          <a:ln w="38100">
            <a:solidFill>
              <a:srgbClr val="FFFFFF"/>
            </a:solidFill>
            <a:prstDash val="solid"/>
          </a:ln>
        </p:spPr>
        <p:txBody>
          <a:bodyPr/>
          <a:lstStyle/>
          <a:p>
            <a:endParaRPr lang="en-IN">
              <a:latin typeface="Lato" panose="020F0502020204030203" pitchFamily="34" charset="0"/>
            </a:endParaRPr>
          </a:p>
        </p:txBody>
      </p:sp>
      <p:sp>
        <p:nvSpPr>
          <p:cNvPr id="14" name="Shape 12"/>
          <p:cNvSpPr/>
          <p:nvPr/>
        </p:nvSpPr>
        <p:spPr>
          <a:xfrm>
            <a:off x="3218688" y="2196877"/>
            <a:ext cx="2788920" cy="2651760"/>
          </a:xfrm>
          <a:prstGeom prst="rect">
            <a:avLst/>
          </a:prstGeom>
          <a:solidFill>
            <a:srgbClr val="FDF3ED"/>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15" name="Text 13"/>
          <p:cNvSpPr/>
          <p:nvPr/>
        </p:nvSpPr>
        <p:spPr>
          <a:xfrm>
            <a:off x="3218688"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2</a:t>
            </a:r>
            <a:endParaRPr lang="en-US" sz="1600" dirty="0">
              <a:latin typeface="Lato" panose="020F0502020204030203" pitchFamily="34" charset="0"/>
              <a:cs typeface="Arial" panose="020B0604020202020204" pitchFamily="34" charset="0"/>
            </a:endParaRPr>
          </a:p>
        </p:txBody>
      </p:sp>
      <p:sp>
        <p:nvSpPr>
          <p:cNvPr id="16" name="Text 14"/>
          <p:cNvSpPr/>
          <p:nvPr/>
        </p:nvSpPr>
        <p:spPr>
          <a:xfrm>
            <a:off x="3355848" y="2919838"/>
            <a:ext cx="2514600" cy="1371600"/>
          </a:xfrm>
          <a:prstGeom prst="rect">
            <a:avLst/>
          </a:prstGeom>
          <a:noFill/>
          <a:ln/>
        </p:spPr>
        <p:txBody>
          <a:bodyPr wrap="square" rtlCol="0" anchor="ctr"/>
          <a:lstStyle/>
          <a:p>
            <a:pPr marL="0" indent="0" algn="ctr">
              <a:buNone/>
            </a:pPr>
            <a:endParaRPr lang="en-US" sz="1600" dirty="0">
              <a:latin typeface="Lato" panose="020F0502020204030203" pitchFamily="34" charset="0"/>
              <a:cs typeface="Arial" panose="020B0604020202020204" pitchFamily="34" charset="0"/>
            </a:endParaRPr>
          </a:p>
        </p:txBody>
      </p:sp>
      <p:sp>
        <p:nvSpPr>
          <p:cNvPr id="17" name="Shape 15"/>
          <p:cNvSpPr/>
          <p:nvPr/>
        </p:nvSpPr>
        <p:spPr>
          <a:xfrm>
            <a:off x="6867144" y="1648237"/>
            <a:ext cx="1371600" cy="1371600"/>
          </a:xfrm>
          <a:prstGeom prst="ellipse">
            <a:avLst/>
          </a:prstGeom>
          <a:solidFill>
            <a:srgbClr val="1565C0"/>
          </a:solidFill>
          <a:ln w="38100">
            <a:solidFill>
              <a:srgbClr val="FFFFFF"/>
            </a:solidFill>
            <a:prstDash val="solid"/>
          </a:ln>
        </p:spPr>
        <p:txBody>
          <a:bodyPr/>
          <a:lstStyle/>
          <a:p>
            <a:endParaRPr lang="en-IN">
              <a:latin typeface="Lato" panose="020F0502020204030203" pitchFamily="34" charset="0"/>
            </a:endParaRPr>
          </a:p>
        </p:txBody>
      </p:sp>
      <p:sp>
        <p:nvSpPr>
          <p:cNvPr id="18" name="Text 16"/>
          <p:cNvSpPr/>
          <p:nvPr/>
        </p:nvSpPr>
        <p:spPr>
          <a:xfrm>
            <a:off x="6867144" y="1648237"/>
            <a:ext cx="1371600" cy="1371600"/>
          </a:xfrm>
          <a:prstGeom prst="rect">
            <a:avLst/>
          </a:prstGeom>
          <a:noFill/>
          <a:ln/>
        </p:spPr>
        <p:txBody>
          <a:bodyPr wrap="square" rtlCol="0" anchor="ctr"/>
          <a:lstStyle/>
          <a:p>
            <a:pPr marL="0" indent="0" algn="ctr">
              <a:buNone/>
            </a:pPr>
            <a:endParaRPr lang="en-US" sz="3600" dirty="0">
              <a:latin typeface="Lato" panose="020F0502020204030203" pitchFamily="34" charset="0"/>
            </a:endParaRPr>
          </a:p>
        </p:txBody>
      </p:sp>
      <p:sp>
        <p:nvSpPr>
          <p:cNvPr id="19" name="Shape 17"/>
          <p:cNvSpPr/>
          <p:nvPr/>
        </p:nvSpPr>
        <p:spPr>
          <a:xfrm>
            <a:off x="6163056" y="2200479"/>
            <a:ext cx="2788920" cy="2651760"/>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20" name="Text 18"/>
          <p:cNvSpPr/>
          <p:nvPr/>
        </p:nvSpPr>
        <p:spPr>
          <a:xfrm>
            <a:off x="6163056"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3</a:t>
            </a:r>
            <a:endParaRPr lang="en-US" sz="1600" dirty="0">
              <a:latin typeface="Lato" panose="020F0502020204030203" pitchFamily="34" charset="0"/>
              <a:cs typeface="Arial" panose="020B0604020202020204" pitchFamily="34" charset="0"/>
            </a:endParaRPr>
          </a:p>
        </p:txBody>
      </p:sp>
      <p:sp>
        <p:nvSpPr>
          <p:cNvPr id="21" name="Text 19"/>
          <p:cNvSpPr/>
          <p:nvPr/>
        </p:nvSpPr>
        <p:spPr>
          <a:xfrm>
            <a:off x="6300216" y="2919838"/>
            <a:ext cx="2514600" cy="1371600"/>
          </a:xfrm>
          <a:prstGeom prst="rect">
            <a:avLst/>
          </a:prstGeom>
          <a:noFill/>
          <a:ln/>
        </p:spPr>
        <p:txBody>
          <a:bodyPr wrap="square" rtlCol="0" anchor="ctr"/>
          <a:lstStyle/>
          <a:p>
            <a:pPr marL="0" indent="0" algn="ctr">
              <a:buNone/>
            </a:pPr>
            <a:endParaRPr lang="en-US" sz="1600" dirty="0">
              <a:latin typeface="Lato" panose="020F0502020204030203" pitchFamily="34" charset="0"/>
              <a:cs typeface="Arial" panose="020B0604020202020204" pitchFamily="34" charset="0"/>
            </a:endParaRPr>
          </a:p>
        </p:txBody>
      </p:sp>
      <p:pic>
        <p:nvPicPr>
          <p:cNvPr id="25" name="Picture 24">
            <a:extLst>
              <a:ext uri="{FF2B5EF4-FFF2-40B4-BE49-F238E27FC236}">
                <a16:creationId xmlns:a16="http://schemas.microsoft.com/office/drawing/2014/main" id="{C8D47339-EE61-B124-847B-11F29B52A7E7}"/>
              </a:ext>
            </a:extLst>
          </p:cNvPr>
          <p:cNvPicPr>
            <a:picLocks noChangeAspect="1"/>
          </p:cNvPicPr>
          <p:nvPr/>
        </p:nvPicPr>
        <p:blipFill>
          <a:blip r:embed="rId4"/>
          <a:stretch>
            <a:fillRect/>
          </a:stretch>
        </p:blipFill>
        <p:spPr>
          <a:xfrm>
            <a:off x="214884" y="3203200"/>
            <a:ext cx="2788920" cy="1068319"/>
          </a:xfrm>
          <a:prstGeom prst="rect">
            <a:avLst/>
          </a:prstGeom>
        </p:spPr>
      </p:pic>
      <p:sp>
        <p:nvSpPr>
          <p:cNvPr id="26" name="TextBox 25">
            <a:extLst>
              <a:ext uri="{FF2B5EF4-FFF2-40B4-BE49-F238E27FC236}">
                <a16:creationId xmlns:a16="http://schemas.microsoft.com/office/drawing/2014/main" id="{AF3AF720-D6E0-2B6E-CC17-538C940A8299}"/>
              </a:ext>
            </a:extLst>
          </p:cNvPr>
          <p:cNvSpPr txBox="1"/>
          <p:nvPr/>
        </p:nvSpPr>
        <p:spPr>
          <a:xfrm>
            <a:off x="411480" y="4450080"/>
            <a:ext cx="2443480"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Top Earners Dashboard</a:t>
            </a:r>
            <a:endParaRPr lang="en-IN" sz="1400" dirty="0">
              <a:latin typeface="Arial" panose="020B0604020202020204" pitchFamily="34" charset="0"/>
              <a:cs typeface="Arial" panose="020B0604020202020204" pitchFamily="34" charset="0"/>
            </a:endParaRPr>
          </a:p>
        </p:txBody>
      </p:sp>
      <p:pic>
        <p:nvPicPr>
          <p:cNvPr id="28" name="Picture 27">
            <a:extLst>
              <a:ext uri="{FF2B5EF4-FFF2-40B4-BE49-F238E27FC236}">
                <a16:creationId xmlns:a16="http://schemas.microsoft.com/office/drawing/2014/main" id="{6087406C-F509-F559-2774-98F6921D6737}"/>
              </a:ext>
            </a:extLst>
          </p:cNvPr>
          <p:cNvPicPr>
            <a:picLocks noChangeAspect="1"/>
          </p:cNvPicPr>
          <p:nvPr/>
        </p:nvPicPr>
        <p:blipFill>
          <a:blip r:embed="rId5"/>
          <a:stretch>
            <a:fillRect/>
          </a:stretch>
        </p:blipFill>
        <p:spPr>
          <a:xfrm>
            <a:off x="3227669" y="2987761"/>
            <a:ext cx="2779939" cy="976903"/>
          </a:xfrm>
          <a:prstGeom prst="rect">
            <a:avLst/>
          </a:prstGeom>
        </p:spPr>
      </p:pic>
      <p:sp>
        <p:nvSpPr>
          <p:cNvPr id="29" name="TextBox 28">
            <a:extLst>
              <a:ext uri="{FF2B5EF4-FFF2-40B4-BE49-F238E27FC236}">
                <a16:creationId xmlns:a16="http://schemas.microsoft.com/office/drawing/2014/main" id="{5E842C06-23DA-E808-3DF0-9F2A941118BB}"/>
              </a:ext>
            </a:extLst>
          </p:cNvPr>
          <p:cNvSpPr txBox="1"/>
          <p:nvPr/>
        </p:nvSpPr>
        <p:spPr>
          <a:xfrm>
            <a:off x="3496310" y="4291438"/>
            <a:ext cx="2174240"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Overtime Insights</a:t>
            </a:r>
            <a:endParaRPr lang="en-IN" sz="1400" dirty="0">
              <a:latin typeface="Arial" panose="020B0604020202020204" pitchFamily="34" charset="0"/>
              <a:cs typeface="Arial" panose="020B0604020202020204" pitchFamily="34" charset="0"/>
            </a:endParaRPr>
          </a:p>
        </p:txBody>
      </p:sp>
      <p:pic>
        <p:nvPicPr>
          <p:cNvPr id="31" name="Picture 30">
            <a:extLst>
              <a:ext uri="{FF2B5EF4-FFF2-40B4-BE49-F238E27FC236}">
                <a16:creationId xmlns:a16="http://schemas.microsoft.com/office/drawing/2014/main" id="{741DACC1-30BA-A47C-3023-DE2458FFEE9E}"/>
              </a:ext>
            </a:extLst>
          </p:cNvPr>
          <p:cNvPicPr>
            <a:picLocks noChangeAspect="1"/>
          </p:cNvPicPr>
          <p:nvPr/>
        </p:nvPicPr>
        <p:blipFill>
          <a:blip r:embed="rId6"/>
          <a:stretch>
            <a:fillRect/>
          </a:stretch>
        </p:blipFill>
        <p:spPr>
          <a:xfrm>
            <a:off x="6186932" y="3038087"/>
            <a:ext cx="2742184" cy="990751"/>
          </a:xfrm>
          <a:prstGeom prst="rect">
            <a:avLst/>
          </a:prstGeom>
        </p:spPr>
      </p:pic>
      <p:sp>
        <p:nvSpPr>
          <p:cNvPr id="32" name="TextBox 31">
            <a:extLst>
              <a:ext uri="{FF2B5EF4-FFF2-40B4-BE49-F238E27FC236}">
                <a16:creationId xmlns:a16="http://schemas.microsoft.com/office/drawing/2014/main" id="{AA7AE9C7-6C85-D9CE-2266-2F9773542D0A}"/>
              </a:ext>
            </a:extLst>
          </p:cNvPr>
          <p:cNvSpPr txBox="1"/>
          <p:nvPr/>
        </p:nvSpPr>
        <p:spPr>
          <a:xfrm>
            <a:off x="6471920" y="4378960"/>
            <a:ext cx="2342896" cy="523220"/>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Salary Component Breakdown</a:t>
            </a:r>
            <a:endParaRPr lang="en-IN" sz="1400" dirty="0">
              <a:latin typeface="Arial" panose="020B0604020202020204" pitchFamily="34" charset="0"/>
              <a:cs typeface="Arial" panose="020B0604020202020204" pitchFamily="34" charset="0"/>
            </a:endParaRPr>
          </a:p>
        </p:txBody>
      </p:sp>
    </p:spTree>
    <p:custDataLst>
      <p:tags r:id="rId1"/>
    </p:custDataLst>
  </p:cSld>
  <p:clrMapOvr>
    <a:masterClrMapping/>
  </p:clrMapOvr>
  <mc:AlternateContent xmlns:mc="http://schemas.openxmlformats.org/markup-compatibility/2006" xmlns:p14="http://schemas.microsoft.com/office/powerpoint/2010/main">
    <mc:Choice Requires="p14">
      <p:transition spd="slow" p14:dur="2000" advTm="56981"/>
    </mc:Choice>
    <mc:Fallback xmlns="">
      <p:transition spd="slow" advTm="56981"/>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dirty="0">
                <a:solidFill>
                  <a:srgbClr val="1B3A8A"/>
                </a:solidFill>
                <a:latin typeface="Calibri" pitchFamily="34" charset="0"/>
                <a:ea typeface="Calibri" pitchFamily="34" charset="-122"/>
                <a:cs typeface="Calibri" pitchFamily="34" charset="-120"/>
              </a:rPr>
              <a:t>Video of Project Demo</a:t>
            </a:r>
            <a:endParaRPr lang="en-US" sz="2200" dirty="0"/>
          </a:p>
        </p:txBody>
      </p:sp>
      <p:sp>
        <p:nvSpPr>
          <p:cNvPr id="6" name="Shape 4"/>
          <p:cNvSpPr/>
          <p:nvPr/>
        </p:nvSpPr>
        <p:spPr>
          <a:xfrm>
            <a:off x="411480" y="685800"/>
            <a:ext cx="8412480" cy="3977640"/>
          </a:xfrm>
          <a:prstGeom prst="rect">
            <a:avLst/>
          </a:prstGeom>
          <a:solidFill>
            <a:srgbClr val="ECEFF1"/>
          </a:solidFill>
          <a:ln w="25400">
            <a:solidFill>
              <a:srgbClr val="1B3A8A"/>
            </a:solidFill>
            <a:prstDash val="solid"/>
          </a:ln>
        </p:spPr>
        <p:txBody>
          <a:bodyPr/>
          <a:lstStyle/>
          <a:p>
            <a:endParaRPr lang="en-IN"/>
          </a:p>
        </p:txBody>
      </p:sp>
      <p:sp>
        <p:nvSpPr>
          <p:cNvPr id="7" name="Shape 5"/>
          <p:cNvSpPr/>
          <p:nvPr/>
        </p:nvSpPr>
        <p:spPr>
          <a:xfrm>
            <a:off x="365760" y="685800"/>
            <a:ext cx="8412480" cy="384048"/>
          </a:xfrm>
          <a:prstGeom prst="rect">
            <a:avLst/>
          </a:prstGeom>
          <a:solidFill>
            <a:srgbClr val="E0E0E0"/>
          </a:solidFill>
          <a:ln/>
        </p:spPr>
        <p:txBody>
          <a:bodyPr/>
          <a:lstStyle/>
          <a:p>
            <a:endParaRPr lang="en-IN"/>
          </a:p>
        </p:txBody>
      </p:sp>
      <p:sp>
        <p:nvSpPr>
          <p:cNvPr id="8" name="Shape 6"/>
          <p:cNvSpPr/>
          <p:nvPr/>
        </p:nvSpPr>
        <p:spPr>
          <a:xfrm>
            <a:off x="502920" y="777240"/>
            <a:ext cx="164592" cy="164592"/>
          </a:xfrm>
          <a:prstGeom prst="ellipse">
            <a:avLst/>
          </a:prstGeom>
          <a:solidFill>
            <a:srgbClr val="FF5F57"/>
          </a:solidFill>
          <a:ln/>
        </p:spPr>
        <p:txBody>
          <a:bodyPr/>
          <a:lstStyle/>
          <a:p>
            <a:endParaRPr lang="en-IN"/>
          </a:p>
        </p:txBody>
      </p:sp>
      <p:sp>
        <p:nvSpPr>
          <p:cNvPr id="9" name="Shape 7"/>
          <p:cNvSpPr/>
          <p:nvPr/>
        </p:nvSpPr>
        <p:spPr>
          <a:xfrm>
            <a:off x="731520" y="777240"/>
            <a:ext cx="164592" cy="164592"/>
          </a:xfrm>
          <a:prstGeom prst="ellipse">
            <a:avLst/>
          </a:prstGeom>
          <a:solidFill>
            <a:srgbClr val="FEBC2E"/>
          </a:solidFill>
          <a:ln/>
        </p:spPr>
        <p:txBody>
          <a:bodyPr/>
          <a:lstStyle/>
          <a:p>
            <a:endParaRPr lang="en-IN"/>
          </a:p>
        </p:txBody>
      </p:sp>
      <p:sp>
        <p:nvSpPr>
          <p:cNvPr id="10" name="Shape 8"/>
          <p:cNvSpPr/>
          <p:nvPr/>
        </p:nvSpPr>
        <p:spPr>
          <a:xfrm>
            <a:off x="960120" y="777240"/>
            <a:ext cx="164592" cy="164592"/>
          </a:xfrm>
          <a:prstGeom prst="ellipse">
            <a:avLst/>
          </a:prstGeom>
          <a:solidFill>
            <a:srgbClr val="28C840"/>
          </a:solidFill>
          <a:ln/>
        </p:spPr>
        <p:txBody>
          <a:bodyPr/>
          <a:lstStyle/>
          <a:p>
            <a:endParaRPr lang="en-IN"/>
          </a:p>
        </p:txBody>
      </p:sp>
      <p:sp>
        <p:nvSpPr>
          <p:cNvPr id="11" name="Shape 9"/>
          <p:cNvSpPr/>
          <p:nvPr/>
        </p:nvSpPr>
        <p:spPr>
          <a:xfrm>
            <a:off x="1371600" y="777240"/>
            <a:ext cx="5029200" cy="201168"/>
          </a:xfrm>
          <a:prstGeom prst="rect">
            <a:avLst/>
          </a:prstGeom>
          <a:solidFill>
            <a:srgbClr val="FFFFFF"/>
          </a:solidFill>
          <a:ln w="6350">
            <a:solidFill>
              <a:srgbClr val="CCCCCC"/>
            </a:solidFill>
            <a:prstDash val="solid"/>
          </a:ln>
        </p:spPr>
        <p:txBody>
          <a:bodyPr/>
          <a:lstStyle/>
          <a:p>
            <a:r>
              <a:rPr lang="en-IN" sz="1100" dirty="0">
                <a:hlinkClick r:id="rId4"/>
              </a:rPr>
              <a:t>https://drive.google.com/drive/folders/1cLfXVnzroVGITwH7DL3bzR9n97L4IDyP</a:t>
            </a:r>
            <a:endParaRPr lang="en-IN" sz="1100" dirty="0"/>
          </a:p>
        </p:txBody>
      </p:sp>
      <p:sp>
        <p:nvSpPr>
          <p:cNvPr id="12" name="Text 10"/>
          <p:cNvSpPr/>
          <p:nvPr/>
        </p:nvSpPr>
        <p:spPr>
          <a:xfrm>
            <a:off x="1389888" y="768096"/>
            <a:ext cx="4992624" cy="219456"/>
          </a:xfrm>
          <a:prstGeom prst="rect">
            <a:avLst/>
          </a:prstGeom>
          <a:noFill/>
          <a:ln/>
        </p:spPr>
        <p:txBody>
          <a:bodyPr wrap="square" rtlCol="0" anchor="ctr"/>
          <a:lstStyle/>
          <a:p>
            <a:pPr marL="0" indent="0">
              <a:buNone/>
            </a:pPr>
            <a:endParaRPr lang="en-US" sz="900" dirty="0"/>
          </a:p>
        </p:txBody>
      </p:sp>
      <p:sp>
        <p:nvSpPr>
          <p:cNvPr id="13" name="Shape 11"/>
          <p:cNvSpPr/>
          <p:nvPr/>
        </p:nvSpPr>
        <p:spPr>
          <a:xfrm>
            <a:off x="3749040" y="1828800"/>
            <a:ext cx="1645920" cy="1645920"/>
          </a:xfrm>
          <a:prstGeom prst="ellipse">
            <a:avLst/>
          </a:prstGeom>
          <a:solidFill>
            <a:srgbClr val="1B3A8A">
              <a:alpha val="80000"/>
            </a:srgbClr>
          </a:solidFill>
          <a:ln/>
        </p:spPr>
        <p:txBody>
          <a:bodyPr/>
          <a:lstStyle/>
          <a:p>
            <a:endParaRPr lang="en-IN" dirty="0"/>
          </a:p>
        </p:txBody>
      </p:sp>
      <p:sp>
        <p:nvSpPr>
          <p:cNvPr id="14" name="Text 12"/>
          <p:cNvSpPr/>
          <p:nvPr/>
        </p:nvSpPr>
        <p:spPr>
          <a:xfrm>
            <a:off x="3749040" y="1828800"/>
            <a:ext cx="1645920" cy="1645920"/>
          </a:xfrm>
          <a:prstGeom prst="rect">
            <a:avLst/>
          </a:prstGeom>
          <a:noFill/>
          <a:ln/>
        </p:spPr>
        <p:txBody>
          <a:bodyPr wrap="square" rtlCol="0" anchor="ctr"/>
          <a:lstStyle/>
          <a:p>
            <a:pPr marL="0" indent="0" algn="ctr">
              <a:buNone/>
            </a:pPr>
            <a:r>
              <a:rPr lang="en-US" sz="4800" dirty="0">
                <a:solidFill>
                  <a:srgbClr val="FFFFFF"/>
                </a:solidFill>
              </a:rPr>
              <a:t>▶</a:t>
            </a:r>
            <a:endParaRPr lang="en-US" sz="4800" dirty="0"/>
          </a:p>
        </p:txBody>
      </p:sp>
      <p:sp>
        <p:nvSpPr>
          <p:cNvPr id="15" name="Text 13"/>
          <p:cNvSpPr/>
          <p:nvPr/>
        </p:nvSpPr>
        <p:spPr>
          <a:xfrm>
            <a:off x="914400" y="3794760"/>
            <a:ext cx="7315200" cy="594360"/>
          </a:xfrm>
          <a:prstGeom prst="rect">
            <a:avLst/>
          </a:prstGeom>
          <a:noFill/>
          <a:ln/>
        </p:spPr>
        <p:txBody>
          <a:bodyPr wrap="square" rtlCol="0" anchor="ctr"/>
          <a:lstStyle/>
          <a:p>
            <a:pPr marL="0" indent="0" algn="ctr">
              <a:buNone/>
            </a:pPr>
            <a:r>
              <a:rPr lang="en-US" sz="1100" i="1" dirty="0">
                <a:solidFill>
                  <a:srgbClr val="607D8B"/>
                </a:solidFill>
                <a:latin typeface="Calibri" pitchFamily="34" charset="0"/>
                <a:ea typeface="Calibri" pitchFamily="34" charset="-122"/>
                <a:cs typeface="Calibri" pitchFamily="34" charset="-120"/>
              </a:rPr>
              <a:t>[Insert your project demo video.</a:t>
            </a:r>
            <a:endParaRPr lang="en-US" sz="1100" dirty="0"/>
          </a:p>
          <a:p>
            <a:pPr marL="0" indent="0" algn="ctr">
              <a:buNone/>
            </a:pPr>
            <a:r>
              <a:rPr lang="en-US" sz="1100" i="1" dirty="0">
                <a:solidFill>
                  <a:srgbClr val="607D8B"/>
                </a:solidFill>
                <a:latin typeface="Calibri" pitchFamily="34" charset="0"/>
                <a:ea typeface="Calibri" pitchFamily="34" charset="-122"/>
                <a:cs typeface="Calibri" pitchFamily="34" charset="-120"/>
              </a:rPr>
              <a:t>You can embed a video your live project.]</a:t>
            </a:r>
            <a:endParaRPr lang="en-US" sz="1100" dirty="0"/>
          </a:p>
        </p:txBody>
      </p:sp>
    </p:spTree>
    <p:custDataLst>
      <p:tags r:id="rId1"/>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1" y="612064"/>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Conclusion</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5486" y="1084927"/>
            <a:ext cx="4446513" cy="3474720"/>
          </a:xfrm>
          <a:prstGeom prst="rect">
            <a:avLst/>
          </a:prstGeom>
          <a:noFill/>
          <a:ln/>
        </p:spPr>
        <p:txBody>
          <a:bodyPr wrap="square" rtlCol="0" anchor="t"/>
          <a:lstStyle/>
          <a:p>
            <a:pPr marL="0" indent="0">
              <a:buNone/>
            </a:pPr>
            <a:endParaRPr lang="en-US" dirty="0">
              <a:latin typeface="Lato" panose="020F0502020204030203" pitchFamily="34" charset="0"/>
              <a:cs typeface="Arial" panose="020B0604020202020204" pitchFamily="34" charset="0"/>
            </a:endParaRPr>
          </a:p>
        </p:txBody>
      </p:sp>
      <p:sp>
        <p:nvSpPr>
          <p:cNvPr id="19" name="Text 17"/>
          <p:cNvSpPr/>
          <p:nvPr/>
        </p:nvSpPr>
        <p:spPr>
          <a:xfrm>
            <a:off x="5303520" y="3474720"/>
            <a:ext cx="3017520" cy="502920"/>
          </a:xfrm>
          <a:prstGeom prst="rect">
            <a:avLst/>
          </a:prstGeom>
          <a:noFill/>
          <a:ln/>
        </p:spPr>
        <p:txBody>
          <a:bodyPr wrap="square" rtlCol="0" anchor="ctr"/>
          <a:lstStyle/>
          <a:p>
            <a:pPr marL="0" indent="0" algn="ctr">
              <a:buNone/>
            </a:pPr>
            <a:r>
              <a:rPr lang="en-US" sz="1600" b="1" kern="0" spc="200" dirty="0">
                <a:solidFill>
                  <a:srgbClr val="FFFFFF"/>
                </a:solidFill>
                <a:latin typeface="Lato" panose="020F0502020204030203" pitchFamily="34" charset="0"/>
                <a:ea typeface="Calibri" pitchFamily="34" charset="-122"/>
                <a:cs typeface="Calibri" pitchFamily="34" charset="-120"/>
              </a:rPr>
              <a:t>CONCLUSION</a:t>
            </a:r>
            <a:endParaRPr lang="en-US" sz="1600" dirty="0">
              <a:latin typeface="Lato" panose="020F0502020204030203" pitchFamily="34" charset="0"/>
            </a:endParaRPr>
          </a:p>
        </p:txBody>
      </p:sp>
      <p:pic>
        <p:nvPicPr>
          <p:cNvPr id="20" name="Picture 19" descr="A blue circle with a pencil and paper with a star on it&#10;&#10;AI-generated content may be incorrect.">
            <a:extLst>
              <a:ext uri="{FF2B5EF4-FFF2-40B4-BE49-F238E27FC236}">
                <a16:creationId xmlns:a16="http://schemas.microsoft.com/office/drawing/2014/main" id="{BAE68F53-65EE-1751-E92D-7025D978B68E}"/>
              </a:ext>
            </a:extLst>
          </p:cNvPr>
          <p:cNvPicPr>
            <a:picLocks noChangeAspect="1"/>
          </p:cNvPicPr>
          <p:nvPr/>
        </p:nvPicPr>
        <p:blipFill>
          <a:blip r:embed="rId4">
            <a:duotone>
              <a:schemeClr val="accent1">
                <a:shade val="45000"/>
                <a:satMod val="135000"/>
              </a:schemeClr>
              <a:prstClr val="white"/>
            </a:duotone>
          </a:blip>
          <a:srcRect l="25397" t="26296" r="26825" b="29752"/>
          <a:stretch>
            <a:fillRect/>
          </a:stretch>
        </p:blipFill>
        <p:spPr>
          <a:xfrm>
            <a:off x="4898406" y="971550"/>
            <a:ext cx="3597456" cy="3309355"/>
          </a:xfrm>
          <a:prstGeom prst="rect">
            <a:avLst/>
          </a:prstGeom>
        </p:spPr>
      </p:pic>
      <p:sp>
        <p:nvSpPr>
          <p:cNvPr id="3" name="TextBox 2">
            <a:extLst>
              <a:ext uri="{FF2B5EF4-FFF2-40B4-BE49-F238E27FC236}">
                <a16:creationId xmlns:a16="http://schemas.microsoft.com/office/drawing/2014/main" id="{343FD942-5C08-1FF4-0EED-8B55B1E2322C}"/>
              </a:ext>
            </a:extLst>
          </p:cNvPr>
          <p:cNvSpPr txBox="1"/>
          <p:nvPr/>
        </p:nvSpPr>
        <p:spPr>
          <a:xfrm>
            <a:off x="223520" y="1410462"/>
            <a:ext cx="4348479" cy="2308324"/>
          </a:xfrm>
          <a:prstGeom prst="rect">
            <a:avLst/>
          </a:prstGeom>
          <a:noFill/>
        </p:spPr>
        <p:txBody>
          <a:bodyPr wrap="square">
            <a:spAutoFit/>
          </a:bodyPr>
          <a:lstStyle/>
          <a:p>
            <a:pPr marL="285750" indent="-285750">
              <a:buFont typeface="Arial" panose="020B0604020202020204" pitchFamily="34" charset="0"/>
              <a:buChar char="•"/>
            </a:pPr>
            <a:r>
              <a:rPr lang="en-IN" dirty="0"/>
              <a:t>Data cleaning improved payroll accuracy and compliance.</a:t>
            </a:r>
          </a:p>
          <a:p>
            <a:pPr marL="285750" indent="-285750">
              <a:buFont typeface="Arial" panose="020B0604020202020204" pitchFamily="34" charset="0"/>
              <a:buChar char="•"/>
            </a:pPr>
            <a:r>
              <a:rPr lang="en-IN" dirty="0"/>
              <a:t>Dashboards provided transparency into workforce costs.</a:t>
            </a:r>
          </a:p>
          <a:p>
            <a:pPr marL="285750" indent="-285750">
              <a:buFont typeface="Arial" panose="020B0604020202020204" pitchFamily="34" charset="0"/>
              <a:buChar char="•"/>
            </a:pPr>
            <a:r>
              <a:rPr lang="en-IN" dirty="0"/>
              <a:t>AI-assisted workflows saved time and ensured reproducibility.</a:t>
            </a:r>
          </a:p>
          <a:p>
            <a:pPr marL="285750" indent="-285750">
              <a:buFont typeface="Arial" panose="020B0604020202020204" pitchFamily="34" charset="0"/>
              <a:buChar char="•"/>
            </a:pPr>
            <a:r>
              <a:rPr lang="en-IN" dirty="0"/>
              <a:t>Objectives achieved: validated dataset, KPI framework, actionable insights.</a:t>
            </a:r>
          </a:p>
        </p:txBody>
      </p:sp>
    </p:spTree>
    <p:custDataLst>
      <p:tags r:id="rId1"/>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Future Scope</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3247" y="1082104"/>
            <a:ext cx="4114800" cy="3474720"/>
          </a:xfrm>
          <a:prstGeom prst="rect">
            <a:avLst/>
          </a:prstGeom>
          <a:noFill/>
          <a:ln/>
        </p:spPr>
        <p:txBody>
          <a:bodyPr wrap="square" rtlCol="0" anchor="t"/>
          <a:lstStyle/>
          <a:p>
            <a:pPr marL="0" indent="0">
              <a:buNone/>
            </a:pPr>
            <a:endParaRPr lang="en-US" dirty="0">
              <a:latin typeface="Lato" panose="020F0502020204030203" pitchFamily="34" charset="0"/>
              <a:cs typeface="Arial" panose="020B0604020202020204" pitchFamily="34" charset="0"/>
            </a:endParaRP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1635" y="879613"/>
            <a:ext cx="4512365" cy="3384274"/>
          </a:xfrm>
          <a:prstGeom prst="rect">
            <a:avLst/>
          </a:prstGeom>
        </p:spPr>
      </p:pic>
      <p:sp>
        <p:nvSpPr>
          <p:cNvPr id="5" name="TextBox 4">
            <a:extLst>
              <a:ext uri="{FF2B5EF4-FFF2-40B4-BE49-F238E27FC236}">
                <a16:creationId xmlns:a16="http://schemas.microsoft.com/office/drawing/2014/main" id="{98F6B9D9-CB3E-8311-9116-FD9370EE89B0}"/>
              </a:ext>
            </a:extLst>
          </p:cNvPr>
          <p:cNvSpPr txBox="1"/>
          <p:nvPr/>
        </p:nvSpPr>
        <p:spPr>
          <a:xfrm>
            <a:off x="123248" y="1082104"/>
            <a:ext cx="4204912" cy="2308324"/>
          </a:xfrm>
          <a:prstGeom prst="rect">
            <a:avLst/>
          </a:prstGeom>
          <a:noFill/>
        </p:spPr>
        <p:txBody>
          <a:bodyPr wrap="square">
            <a:spAutoFit/>
          </a:bodyPr>
          <a:lstStyle/>
          <a:p>
            <a:pPr marL="285750" indent="-285750">
              <a:buFont typeface="Arial" panose="020B0604020202020204" pitchFamily="34" charset="0"/>
              <a:buChar char="•"/>
            </a:pPr>
            <a:r>
              <a:rPr lang="en-US" dirty="0"/>
              <a:t>Integration with real-time payroll systems.</a:t>
            </a:r>
          </a:p>
          <a:p>
            <a:pPr marL="285750" indent="-285750">
              <a:buFont typeface="Arial" panose="020B0604020202020204" pitchFamily="34" charset="0"/>
              <a:buChar char="•"/>
            </a:pPr>
            <a:r>
              <a:rPr lang="en-US" dirty="0"/>
              <a:t>Expansion into predictive analytics (spending demand, churn prediction).</a:t>
            </a:r>
          </a:p>
          <a:p>
            <a:pPr marL="285750" indent="-285750">
              <a:buFont typeface="Arial" panose="020B0604020202020204" pitchFamily="34" charset="0"/>
              <a:buChar char="•"/>
            </a:pPr>
            <a:r>
              <a:rPr lang="en-US" dirty="0"/>
              <a:t>Enhanced personalization via customer segmentation.</a:t>
            </a:r>
          </a:p>
          <a:p>
            <a:pPr marL="285750" indent="-285750">
              <a:buFont typeface="Arial" panose="020B0604020202020204" pitchFamily="34" charset="0"/>
              <a:buChar char="•"/>
            </a:pPr>
            <a:r>
              <a:rPr lang="en-US" dirty="0"/>
              <a:t>Scalability with Power BI and advanced AI models.</a:t>
            </a:r>
            <a:endParaRPr lang="en-IN" dirty="0"/>
          </a:p>
        </p:txBody>
      </p:sp>
    </p:spTree>
    <p:custDataLst>
      <p:tags r:id="rId1"/>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5" name="Text 3"/>
          <p:cNvSpPr/>
          <p:nvPr/>
        </p:nvSpPr>
        <p:spPr>
          <a:xfrm>
            <a:off x="914400" y="3017520"/>
            <a:ext cx="7315200" cy="411480"/>
          </a:xfrm>
          <a:prstGeom prst="rect">
            <a:avLst/>
          </a:prstGeom>
          <a:noFill/>
          <a:ln/>
        </p:spPr>
        <p:txBody>
          <a:bodyPr wrap="square" rtlCol="0" anchor="ctr"/>
          <a:lstStyle/>
          <a:p>
            <a:pPr marL="0" indent="0" algn="ctr">
              <a:buNone/>
            </a:pPr>
            <a:r>
              <a:rPr lang="en-US" sz="1400" kern="0" spc="200" dirty="0">
                <a:latin typeface="Lato" panose="020F0502020204030203" pitchFamily="34" charset="0"/>
                <a:ea typeface="Calibri" pitchFamily="34" charset="-122"/>
                <a:cs typeface="Arial" panose="020B0604020202020204" pitchFamily="34" charset="0"/>
              </a:rPr>
              <a:t>AICW Fellowship  |  Student Project Presentation 2026</a:t>
            </a:r>
            <a:endParaRPr lang="en-US" sz="1400" dirty="0">
              <a:latin typeface="Lato" panose="020F0502020204030203" pitchFamily="34" charset="0"/>
              <a:cs typeface="Arial" panose="020B0604020202020204" pitchFamily="34" charset="0"/>
            </a:endParaRPr>
          </a:p>
        </p:txBody>
      </p:sp>
      <p:sp>
        <p:nvSpPr>
          <p:cNvPr id="6" name="Text 4"/>
          <p:cNvSpPr/>
          <p:nvPr/>
        </p:nvSpPr>
        <p:spPr>
          <a:xfrm>
            <a:off x="914400" y="3566160"/>
            <a:ext cx="7315200" cy="320040"/>
          </a:xfrm>
          <a:prstGeom prst="rect">
            <a:avLst/>
          </a:prstGeom>
          <a:noFill/>
          <a:ln/>
        </p:spPr>
        <p:txBody>
          <a:bodyPr wrap="square" lIns="91440" tIns="45720" rIns="91440" bIns="45720" rtlCol="0" anchor="ctr"/>
          <a:lstStyle/>
          <a:p>
            <a:pPr marL="0" indent="0" algn="ctr">
              <a:buNone/>
            </a:pPr>
            <a:r>
              <a:rPr lang="en-US" sz="1100" dirty="0">
                <a:latin typeface="Lato" panose="020F0502020204030203" pitchFamily="34" charset="0"/>
                <a:ea typeface="Calibri"/>
                <a:cs typeface="Arial" panose="020B0604020202020204" pitchFamily="34" charset="0"/>
              </a:rPr>
              <a:t>  LinkedIn  |   </a:t>
            </a:r>
            <a:r>
              <a:rPr lang="en-US" sz="1100" dirty="0" err="1">
                <a:latin typeface="Lato" panose="020F0502020204030203" pitchFamily="34" charset="0"/>
                <a:ea typeface="Calibri"/>
                <a:cs typeface="Arial" panose="020B0604020202020204" pitchFamily="34" charset="0"/>
              </a:rPr>
              <a:t>Edunet</a:t>
            </a:r>
            <a:r>
              <a:rPr lang="en-US" sz="1100" dirty="0">
                <a:latin typeface="Lato" panose="020F0502020204030203" pitchFamily="34" charset="0"/>
                <a:ea typeface="Calibri"/>
                <a:cs typeface="Arial" panose="020B0604020202020204" pitchFamily="34" charset="0"/>
              </a:rPr>
              <a:t> Foundation</a:t>
            </a:r>
            <a:endParaRPr lang="en-US" sz="1100" dirty="0">
              <a:latin typeface="Lato" panose="020F0502020204030203" pitchFamily="34" charset="0"/>
              <a:cs typeface="Arial" panose="020B0604020202020204" pitchFamily="34" charset="0"/>
            </a:endParaRPr>
          </a:p>
        </p:txBody>
      </p:sp>
      <p:sp>
        <p:nvSpPr>
          <p:cNvPr id="9" name="TextBox 4">
            <a:extLst>
              <a:ext uri="{FF2B5EF4-FFF2-40B4-BE49-F238E27FC236}">
                <a16:creationId xmlns:a16="http://schemas.microsoft.com/office/drawing/2014/main" id="{F7A740B1-0782-B37E-5F62-503024E32BC9}"/>
              </a:ext>
            </a:extLst>
          </p:cNvPr>
          <p:cNvSpPr txBox="1"/>
          <p:nvPr/>
        </p:nvSpPr>
        <p:spPr>
          <a:xfrm>
            <a:off x="2632982" y="1705295"/>
            <a:ext cx="3878036" cy="1175065"/>
          </a:xfrm>
          <a:prstGeom prst="rect">
            <a:avLst/>
          </a:prstGeom>
        </p:spPr>
        <p:txBody>
          <a:bodyPr wrap="square" lIns="0" tIns="0" rIns="0" bIns="0" rtlCol="0" anchor="t">
            <a:spAutoFit/>
          </a:bodyPr>
          <a:lstStyle/>
          <a:p>
            <a:pPr algn="ctr">
              <a:lnSpc>
                <a:spcPts val="10686"/>
              </a:lnSpc>
            </a:pPr>
            <a:r>
              <a:rPr lang="en-US" sz="5000" b="1" dirty="0">
                <a:solidFill>
                  <a:srgbClr val="0D358D"/>
                </a:solidFill>
                <a:latin typeface="Lato" panose="020F0502020204030203" pitchFamily="34" charset="0"/>
                <a:ea typeface="Aileron Ultra-Bold"/>
                <a:cs typeface="Arial" panose="020B0604020202020204" pitchFamily="34" charset="0"/>
                <a:sym typeface="Aileron Ultra-Bold"/>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OFFICE THEME" val="ROGxgyxs"/>
  <p:tag name="ARTICULATE_PROJECT_OPEN" val="0"/>
  <p:tag name="ARTICULATE_SLIDE_COUNT" val="1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968</TotalTime>
  <Words>1055</Words>
  <Application>Microsoft Office PowerPoint</Application>
  <PresentationFormat>On-screen Show (16:9)</PresentationFormat>
  <Paragraphs>112</Paragraphs>
  <Slides>15</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Courier New</vt:lpstr>
      <vt:lpstr>Lato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AICW Student Project Presentation Template 2026</dc:title>
  <dc:subject>PptxGenJS Presentation</dc:subject>
  <dc:creator>PptxGenJS</dc:creator>
  <cp:lastModifiedBy>Srijoni Gupta</cp:lastModifiedBy>
  <cp:revision>52</cp:revision>
  <dcterms:created xsi:type="dcterms:W3CDTF">2026-02-18T09:17:23Z</dcterms:created>
  <dcterms:modified xsi:type="dcterms:W3CDTF">2026-04-14T12:42:29Z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1F7F540C-1CAD-4091-84DE-558331FD12BA</vt:lpwstr>
  </property>
  <property fmtid="{D5CDD505-2E9C-101B-9397-08002B2CF9AE}" pid="3" name="ArticulatePath">
    <vt:lpwstr>https://edunetfoundationorg-my.sharepoint.com/personal/kaisar_edunetfoundation_org/Documents/Task/AICW/Student project/AI Fellowship Project Template2026 (1)</vt:lpwstr>
  </property>
</Properties>
</file>